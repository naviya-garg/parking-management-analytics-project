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66371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66371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DC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27866" y="313264"/>
            <a:ext cx="5385435" cy="648335"/>
          </a:xfrm>
          <a:custGeom>
            <a:avLst/>
            <a:gdLst/>
            <a:ahLst/>
            <a:cxnLst/>
            <a:rect l="l" t="t" r="r" b="b"/>
            <a:pathLst>
              <a:path w="5385435" h="648335">
                <a:moveTo>
                  <a:pt x="5061157" y="648195"/>
                </a:moveTo>
                <a:lnTo>
                  <a:pt x="324097" y="648195"/>
                </a:lnTo>
                <a:lnTo>
                  <a:pt x="276205" y="644681"/>
                </a:lnTo>
                <a:lnTo>
                  <a:pt x="230494" y="634473"/>
                </a:lnTo>
                <a:lnTo>
                  <a:pt x="187466" y="618073"/>
                </a:lnTo>
                <a:lnTo>
                  <a:pt x="147623" y="595981"/>
                </a:lnTo>
                <a:lnTo>
                  <a:pt x="111465" y="568699"/>
                </a:lnTo>
                <a:lnTo>
                  <a:pt x="79495" y="536729"/>
                </a:lnTo>
                <a:lnTo>
                  <a:pt x="52214" y="500572"/>
                </a:lnTo>
                <a:lnTo>
                  <a:pt x="30122" y="460729"/>
                </a:lnTo>
                <a:lnTo>
                  <a:pt x="13721" y="417701"/>
                </a:lnTo>
                <a:lnTo>
                  <a:pt x="3514" y="371990"/>
                </a:lnTo>
                <a:lnTo>
                  <a:pt x="0" y="324097"/>
                </a:lnTo>
                <a:lnTo>
                  <a:pt x="3514" y="276205"/>
                </a:lnTo>
                <a:lnTo>
                  <a:pt x="13721" y="230494"/>
                </a:lnTo>
                <a:lnTo>
                  <a:pt x="30122" y="187466"/>
                </a:lnTo>
                <a:lnTo>
                  <a:pt x="52214" y="147623"/>
                </a:lnTo>
                <a:lnTo>
                  <a:pt x="79495" y="111465"/>
                </a:lnTo>
                <a:lnTo>
                  <a:pt x="111465" y="79495"/>
                </a:lnTo>
                <a:lnTo>
                  <a:pt x="147623" y="52214"/>
                </a:lnTo>
                <a:lnTo>
                  <a:pt x="187466" y="30122"/>
                </a:lnTo>
                <a:lnTo>
                  <a:pt x="230494" y="13721"/>
                </a:lnTo>
                <a:lnTo>
                  <a:pt x="276205" y="3514"/>
                </a:lnTo>
                <a:lnTo>
                  <a:pt x="324097" y="0"/>
                </a:lnTo>
                <a:lnTo>
                  <a:pt x="5061157" y="0"/>
                </a:lnTo>
                <a:lnTo>
                  <a:pt x="5109049" y="3514"/>
                </a:lnTo>
                <a:lnTo>
                  <a:pt x="5154760" y="13721"/>
                </a:lnTo>
                <a:lnTo>
                  <a:pt x="5197788" y="30122"/>
                </a:lnTo>
                <a:lnTo>
                  <a:pt x="5237631" y="52214"/>
                </a:lnTo>
                <a:lnTo>
                  <a:pt x="5273789" y="79495"/>
                </a:lnTo>
                <a:lnTo>
                  <a:pt x="5305759" y="111465"/>
                </a:lnTo>
                <a:lnTo>
                  <a:pt x="5333040" y="147623"/>
                </a:lnTo>
                <a:lnTo>
                  <a:pt x="5355132" y="187466"/>
                </a:lnTo>
                <a:lnTo>
                  <a:pt x="5371532" y="230494"/>
                </a:lnTo>
                <a:lnTo>
                  <a:pt x="5381740" y="276205"/>
                </a:lnTo>
                <a:lnTo>
                  <a:pt x="5385254" y="324097"/>
                </a:lnTo>
                <a:lnTo>
                  <a:pt x="5381740" y="371990"/>
                </a:lnTo>
                <a:lnTo>
                  <a:pt x="5371532" y="417701"/>
                </a:lnTo>
                <a:lnTo>
                  <a:pt x="5355132" y="460729"/>
                </a:lnTo>
                <a:lnTo>
                  <a:pt x="5333040" y="500572"/>
                </a:lnTo>
                <a:lnTo>
                  <a:pt x="5305759" y="536729"/>
                </a:lnTo>
                <a:lnTo>
                  <a:pt x="5273789" y="568699"/>
                </a:lnTo>
                <a:lnTo>
                  <a:pt x="5237631" y="595981"/>
                </a:lnTo>
                <a:lnTo>
                  <a:pt x="5197788" y="618073"/>
                </a:lnTo>
                <a:lnTo>
                  <a:pt x="5154760" y="634473"/>
                </a:lnTo>
                <a:lnTo>
                  <a:pt x="5109049" y="644681"/>
                </a:lnTo>
                <a:lnTo>
                  <a:pt x="5061157" y="648195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4272347" y="8334204"/>
            <a:ext cx="3092450" cy="1283335"/>
          </a:xfrm>
          <a:custGeom>
            <a:avLst/>
            <a:gdLst/>
            <a:ahLst/>
            <a:cxnLst/>
            <a:rect l="l" t="t" r="r" b="b"/>
            <a:pathLst>
              <a:path w="3092450" h="1283334">
                <a:moveTo>
                  <a:pt x="2450648" y="1282954"/>
                </a:moveTo>
                <a:lnTo>
                  <a:pt x="641477" y="1282954"/>
                </a:lnTo>
                <a:lnTo>
                  <a:pt x="590683" y="1280942"/>
                </a:lnTo>
                <a:lnTo>
                  <a:pt x="540522" y="1274963"/>
                </a:lnTo>
                <a:lnTo>
                  <a:pt x="491210" y="1265108"/>
                </a:lnTo>
                <a:lnTo>
                  <a:pt x="442963" y="1251466"/>
                </a:lnTo>
                <a:lnTo>
                  <a:pt x="395994" y="1234125"/>
                </a:lnTo>
                <a:lnTo>
                  <a:pt x="350521" y="1213175"/>
                </a:lnTo>
                <a:lnTo>
                  <a:pt x="306758" y="1188705"/>
                </a:lnTo>
                <a:lnTo>
                  <a:pt x="264921" y="1160805"/>
                </a:lnTo>
                <a:lnTo>
                  <a:pt x="225224" y="1129564"/>
                </a:lnTo>
                <a:lnTo>
                  <a:pt x="187885" y="1095070"/>
                </a:lnTo>
                <a:lnTo>
                  <a:pt x="153391" y="1057730"/>
                </a:lnTo>
                <a:lnTo>
                  <a:pt x="122149" y="1018033"/>
                </a:lnTo>
                <a:lnTo>
                  <a:pt x="94249" y="976196"/>
                </a:lnTo>
                <a:lnTo>
                  <a:pt x="69779" y="932433"/>
                </a:lnTo>
                <a:lnTo>
                  <a:pt x="48829" y="886960"/>
                </a:lnTo>
                <a:lnTo>
                  <a:pt x="31488" y="839992"/>
                </a:lnTo>
                <a:lnTo>
                  <a:pt x="17846" y="791744"/>
                </a:lnTo>
                <a:lnTo>
                  <a:pt x="7991" y="742432"/>
                </a:lnTo>
                <a:lnTo>
                  <a:pt x="2012" y="692271"/>
                </a:lnTo>
                <a:lnTo>
                  <a:pt x="0" y="641477"/>
                </a:lnTo>
                <a:lnTo>
                  <a:pt x="2012" y="590683"/>
                </a:lnTo>
                <a:lnTo>
                  <a:pt x="7991" y="540522"/>
                </a:lnTo>
                <a:lnTo>
                  <a:pt x="17846" y="491210"/>
                </a:lnTo>
                <a:lnTo>
                  <a:pt x="31488" y="442962"/>
                </a:lnTo>
                <a:lnTo>
                  <a:pt x="48829" y="395994"/>
                </a:lnTo>
                <a:lnTo>
                  <a:pt x="69779" y="350520"/>
                </a:lnTo>
                <a:lnTo>
                  <a:pt x="94249" y="306757"/>
                </a:lnTo>
                <a:lnTo>
                  <a:pt x="122149" y="264920"/>
                </a:lnTo>
                <a:lnTo>
                  <a:pt x="153391" y="225224"/>
                </a:lnTo>
                <a:lnTo>
                  <a:pt x="187885" y="187884"/>
                </a:lnTo>
                <a:lnTo>
                  <a:pt x="225224" y="153390"/>
                </a:lnTo>
                <a:lnTo>
                  <a:pt x="264921" y="122149"/>
                </a:lnTo>
                <a:lnTo>
                  <a:pt x="306758" y="94248"/>
                </a:lnTo>
                <a:lnTo>
                  <a:pt x="350521" y="69779"/>
                </a:lnTo>
                <a:lnTo>
                  <a:pt x="395994" y="48829"/>
                </a:lnTo>
                <a:lnTo>
                  <a:pt x="442963" y="31488"/>
                </a:lnTo>
                <a:lnTo>
                  <a:pt x="491210" y="17846"/>
                </a:lnTo>
                <a:lnTo>
                  <a:pt x="540522" y="7991"/>
                </a:lnTo>
                <a:lnTo>
                  <a:pt x="590683" y="2012"/>
                </a:lnTo>
                <a:lnTo>
                  <a:pt x="641477" y="0"/>
                </a:lnTo>
                <a:lnTo>
                  <a:pt x="2450648" y="0"/>
                </a:lnTo>
                <a:lnTo>
                  <a:pt x="2501442" y="2012"/>
                </a:lnTo>
                <a:lnTo>
                  <a:pt x="2551603" y="7991"/>
                </a:lnTo>
                <a:lnTo>
                  <a:pt x="2600914" y="17846"/>
                </a:lnTo>
                <a:lnTo>
                  <a:pt x="2649162" y="31488"/>
                </a:lnTo>
                <a:lnTo>
                  <a:pt x="2696130" y="48829"/>
                </a:lnTo>
                <a:lnTo>
                  <a:pt x="2741603" y="69779"/>
                </a:lnTo>
                <a:lnTo>
                  <a:pt x="2785366" y="94248"/>
                </a:lnTo>
                <a:lnTo>
                  <a:pt x="2827204" y="122149"/>
                </a:lnTo>
                <a:lnTo>
                  <a:pt x="2866900" y="153390"/>
                </a:lnTo>
                <a:lnTo>
                  <a:pt x="2904240" y="187884"/>
                </a:lnTo>
                <a:lnTo>
                  <a:pt x="2938734" y="225224"/>
                </a:lnTo>
                <a:lnTo>
                  <a:pt x="2969976" y="264920"/>
                </a:lnTo>
                <a:lnTo>
                  <a:pt x="2997876" y="306757"/>
                </a:lnTo>
                <a:lnTo>
                  <a:pt x="3022346" y="350520"/>
                </a:lnTo>
                <a:lnTo>
                  <a:pt x="3043296" y="395994"/>
                </a:lnTo>
                <a:lnTo>
                  <a:pt x="3060637" y="442962"/>
                </a:lnTo>
                <a:lnTo>
                  <a:pt x="3074279" y="491210"/>
                </a:lnTo>
                <a:lnTo>
                  <a:pt x="3084134" y="540522"/>
                </a:lnTo>
                <a:lnTo>
                  <a:pt x="3090113" y="590683"/>
                </a:lnTo>
                <a:lnTo>
                  <a:pt x="3092126" y="641477"/>
                </a:lnTo>
                <a:lnTo>
                  <a:pt x="3090113" y="692271"/>
                </a:lnTo>
                <a:lnTo>
                  <a:pt x="3084134" y="742432"/>
                </a:lnTo>
                <a:lnTo>
                  <a:pt x="3074279" y="791744"/>
                </a:lnTo>
                <a:lnTo>
                  <a:pt x="3060637" y="839992"/>
                </a:lnTo>
                <a:lnTo>
                  <a:pt x="3043296" y="886960"/>
                </a:lnTo>
                <a:lnTo>
                  <a:pt x="3022346" y="932433"/>
                </a:lnTo>
                <a:lnTo>
                  <a:pt x="2997876" y="976196"/>
                </a:lnTo>
                <a:lnTo>
                  <a:pt x="2969976" y="1018033"/>
                </a:lnTo>
                <a:lnTo>
                  <a:pt x="2938734" y="1057730"/>
                </a:lnTo>
                <a:lnTo>
                  <a:pt x="2904240" y="1095070"/>
                </a:lnTo>
                <a:lnTo>
                  <a:pt x="2866900" y="1129564"/>
                </a:lnTo>
                <a:lnTo>
                  <a:pt x="2827204" y="1160805"/>
                </a:lnTo>
                <a:lnTo>
                  <a:pt x="2785366" y="1188705"/>
                </a:lnTo>
                <a:lnTo>
                  <a:pt x="2741603" y="1213175"/>
                </a:lnTo>
                <a:lnTo>
                  <a:pt x="2696130" y="1234125"/>
                </a:lnTo>
                <a:lnTo>
                  <a:pt x="2649162" y="1251466"/>
                </a:lnTo>
                <a:lnTo>
                  <a:pt x="2600914" y="1265108"/>
                </a:lnTo>
                <a:lnTo>
                  <a:pt x="2551603" y="1274963"/>
                </a:lnTo>
                <a:lnTo>
                  <a:pt x="2501442" y="1280942"/>
                </a:lnTo>
                <a:lnTo>
                  <a:pt x="2450648" y="128295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CDCD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32645" y="361554"/>
            <a:ext cx="12436690" cy="112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8700" y="2745796"/>
            <a:ext cx="8069580" cy="2134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66371B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3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43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70047" y="8775561"/>
            <a:ext cx="189674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5">
                <a:solidFill>
                  <a:srgbClr val="CDCDCB"/>
                </a:solidFill>
                <a:latin typeface="Microsoft Sans Serif"/>
                <a:cs typeface="Microsoft Sans Serif"/>
              </a:rPr>
              <a:t>NAVIYA</a:t>
            </a:r>
            <a:r>
              <a:rPr dirty="0" sz="2200" spc="-95">
                <a:solidFill>
                  <a:srgbClr val="CDCDCB"/>
                </a:solidFill>
                <a:latin typeface="Microsoft Sans Serif"/>
                <a:cs typeface="Microsoft Sans Serif"/>
              </a:rPr>
              <a:t> </a:t>
            </a:r>
            <a:r>
              <a:rPr dirty="0" sz="2200" spc="-20">
                <a:solidFill>
                  <a:srgbClr val="CDCDCB"/>
                </a:solidFill>
                <a:latin typeface="Microsoft Sans Serif"/>
                <a:cs typeface="Microsoft Sans Serif"/>
              </a:rPr>
              <a:t>GARG</a:t>
            </a:r>
            <a:endParaRPr sz="2200">
              <a:latin typeface="Microsoft Sans Serif"/>
              <a:cs typeface="Microsoft Sans Serif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1639" y="2041180"/>
            <a:ext cx="6734174" cy="44481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30738" y="353479"/>
            <a:ext cx="330644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solidFill>
                  <a:srgbClr val="E4E1E2"/>
                </a:solidFill>
                <a:latin typeface="Microsoft Sans Serif"/>
                <a:cs typeface="Microsoft Sans Serif"/>
              </a:rPr>
              <a:t>Capstone</a:t>
            </a:r>
            <a:r>
              <a:rPr dirty="0" sz="3400" spc="-20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3400" spc="-10">
                <a:solidFill>
                  <a:srgbClr val="E4E1E2"/>
                </a:solidFill>
                <a:latin typeface="Microsoft Sans Serif"/>
                <a:cs typeface="Microsoft Sans Serif"/>
              </a:rPr>
              <a:t>Project</a:t>
            </a:r>
            <a:endParaRPr sz="340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63971" y="474160"/>
            <a:ext cx="10814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A7A59E"/>
                </a:solidFill>
                <a:latin typeface="Microsoft Sans Serif"/>
                <a:cs typeface="Microsoft Sans Serif"/>
              </a:rPr>
              <a:t>Feb</a:t>
            </a:r>
            <a:r>
              <a:rPr dirty="0" sz="2000" spc="-120">
                <a:solidFill>
                  <a:srgbClr val="A7A59E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A7A59E"/>
                </a:solidFill>
                <a:latin typeface="Microsoft Sans Serif"/>
                <a:cs typeface="Microsoft Sans Serif"/>
              </a:rPr>
              <a:t>2026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53713" y="8069991"/>
            <a:ext cx="11522710" cy="17075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00" spc="-480">
                <a:solidFill>
                  <a:srgbClr val="66371B"/>
                </a:solidFill>
                <a:latin typeface="Arial Black"/>
                <a:cs typeface="Arial Black"/>
              </a:rPr>
              <a:t>Parking</a:t>
            </a:r>
            <a:r>
              <a:rPr dirty="0" sz="6100" spc="-385">
                <a:solidFill>
                  <a:srgbClr val="66371B"/>
                </a:solidFill>
                <a:latin typeface="Arial Black"/>
                <a:cs typeface="Arial Black"/>
              </a:rPr>
              <a:t> </a:t>
            </a:r>
            <a:r>
              <a:rPr dirty="0" sz="6100" spc="-545">
                <a:solidFill>
                  <a:srgbClr val="66371B"/>
                </a:solidFill>
                <a:latin typeface="Arial Black"/>
                <a:cs typeface="Arial Black"/>
              </a:rPr>
              <a:t>Management</a:t>
            </a:r>
            <a:r>
              <a:rPr dirty="0" sz="6100" spc="-385">
                <a:solidFill>
                  <a:srgbClr val="66371B"/>
                </a:solidFill>
                <a:latin typeface="Arial Black"/>
                <a:cs typeface="Arial Black"/>
              </a:rPr>
              <a:t> </a:t>
            </a:r>
            <a:r>
              <a:rPr dirty="0" sz="6100" spc="-480">
                <a:solidFill>
                  <a:srgbClr val="66371B"/>
                </a:solidFill>
                <a:latin typeface="Arial Black"/>
                <a:cs typeface="Arial Black"/>
              </a:rPr>
              <a:t>Analytics</a:t>
            </a:r>
            <a:endParaRPr sz="6100">
              <a:latin typeface="Arial Black"/>
              <a:cs typeface="Arial Black"/>
            </a:endParaRPr>
          </a:p>
          <a:p>
            <a:pPr algn="ctr" marR="95250">
              <a:lnSpc>
                <a:spcPct val="100000"/>
              </a:lnSpc>
              <a:spcBef>
                <a:spcPts val="3404"/>
              </a:spcBef>
            </a:pPr>
            <a:r>
              <a:rPr dirty="0" sz="2100" spc="-195">
                <a:solidFill>
                  <a:srgbClr val="182333"/>
                </a:solidFill>
                <a:latin typeface="Arial Black"/>
                <a:cs typeface="Arial Black"/>
              </a:rPr>
              <a:t>Tools</a:t>
            </a:r>
            <a:r>
              <a:rPr dirty="0" sz="2100" spc="-130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165">
                <a:solidFill>
                  <a:srgbClr val="182333"/>
                </a:solidFill>
                <a:latin typeface="Arial Black"/>
                <a:cs typeface="Arial Black"/>
              </a:rPr>
              <a:t>Used:</a:t>
            </a:r>
            <a:r>
              <a:rPr dirty="0" sz="2100" spc="-23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215">
                <a:solidFill>
                  <a:srgbClr val="182333"/>
                </a:solidFill>
                <a:latin typeface="Arial Black"/>
                <a:cs typeface="Arial Black"/>
              </a:rPr>
              <a:t>Power</a:t>
            </a:r>
            <a:r>
              <a:rPr dirty="0" sz="2100" spc="-12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190">
                <a:solidFill>
                  <a:srgbClr val="182333"/>
                </a:solidFill>
                <a:latin typeface="Arial Black"/>
                <a:cs typeface="Arial Black"/>
              </a:rPr>
              <a:t>BI</a:t>
            </a:r>
            <a:r>
              <a:rPr dirty="0" sz="2100" spc="-12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240">
                <a:solidFill>
                  <a:srgbClr val="182333"/>
                </a:solidFill>
                <a:latin typeface="Arial Black"/>
                <a:cs typeface="Arial Black"/>
              </a:rPr>
              <a:t>•</a:t>
            </a:r>
            <a:r>
              <a:rPr dirty="0" sz="2100" spc="-130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145">
                <a:solidFill>
                  <a:srgbClr val="182333"/>
                </a:solidFill>
                <a:latin typeface="Arial Black"/>
                <a:cs typeface="Arial Black"/>
              </a:rPr>
              <a:t>MySQL</a:t>
            </a:r>
            <a:r>
              <a:rPr dirty="0" sz="2100" spc="-12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240">
                <a:solidFill>
                  <a:srgbClr val="182333"/>
                </a:solidFill>
                <a:latin typeface="Arial Black"/>
                <a:cs typeface="Arial Black"/>
              </a:rPr>
              <a:t>•</a:t>
            </a:r>
            <a:r>
              <a:rPr dirty="0" sz="2100" spc="-12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100" spc="-25">
                <a:solidFill>
                  <a:srgbClr val="182333"/>
                </a:solidFill>
                <a:latin typeface="Arial Black"/>
                <a:cs typeface="Arial Black"/>
              </a:rPr>
              <a:t>DAX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0738" y="1861658"/>
            <a:ext cx="9171940" cy="4776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0"/>
              </a:spcBef>
            </a:pPr>
            <a:r>
              <a:rPr dirty="0" sz="4950" spc="-280">
                <a:solidFill>
                  <a:srgbClr val="182333"/>
                </a:solidFill>
                <a:latin typeface="Arial Black"/>
                <a:cs typeface="Arial Black"/>
              </a:rPr>
              <a:t>Building</a:t>
            </a:r>
            <a:r>
              <a:rPr dirty="0" sz="4950" spc="-30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465">
                <a:solidFill>
                  <a:srgbClr val="182333"/>
                </a:solidFill>
                <a:latin typeface="Arial Black"/>
                <a:cs typeface="Arial Black"/>
              </a:rPr>
              <a:t>a</a:t>
            </a:r>
            <a:r>
              <a:rPr dirty="0" sz="4950" spc="-29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340">
                <a:solidFill>
                  <a:srgbClr val="182333"/>
                </a:solidFill>
                <a:latin typeface="Arial Black"/>
                <a:cs typeface="Arial Black"/>
              </a:rPr>
              <a:t>data-</a:t>
            </a:r>
            <a:r>
              <a:rPr dirty="0" sz="4950" spc="-320">
                <a:solidFill>
                  <a:srgbClr val="182333"/>
                </a:solidFill>
                <a:latin typeface="Arial Black"/>
                <a:cs typeface="Arial Black"/>
              </a:rPr>
              <a:t>driven</a:t>
            </a:r>
            <a:r>
              <a:rPr dirty="0" sz="4950" spc="-30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340">
                <a:solidFill>
                  <a:srgbClr val="182333"/>
                </a:solidFill>
                <a:latin typeface="Arial Black"/>
                <a:cs typeface="Arial Black"/>
              </a:rPr>
              <a:t>parking </a:t>
            </a:r>
            <a:r>
              <a:rPr dirty="0" sz="4950" spc="-434">
                <a:solidFill>
                  <a:srgbClr val="182333"/>
                </a:solidFill>
                <a:latin typeface="Arial Black"/>
                <a:cs typeface="Arial Black"/>
              </a:rPr>
              <a:t>management</a:t>
            </a:r>
            <a:r>
              <a:rPr dirty="0" sz="4950" spc="-27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425">
                <a:solidFill>
                  <a:srgbClr val="182333"/>
                </a:solidFill>
                <a:latin typeface="Arial Black"/>
                <a:cs typeface="Arial Black"/>
              </a:rPr>
              <a:t>system</a:t>
            </a:r>
            <a:r>
              <a:rPr dirty="0" sz="4950" spc="-280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425">
                <a:solidFill>
                  <a:srgbClr val="182333"/>
                </a:solidFill>
                <a:latin typeface="Arial Black"/>
                <a:cs typeface="Arial Black"/>
              </a:rPr>
              <a:t>to </a:t>
            </a:r>
            <a:r>
              <a:rPr dirty="0" sz="4950" spc="-370">
                <a:solidFill>
                  <a:srgbClr val="182333"/>
                </a:solidFill>
                <a:latin typeface="Arial Black"/>
                <a:cs typeface="Arial Black"/>
              </a:rPr>
              <a:t>optimize</a:t>
            </a:r>
            <a:r>
              <a:rPr dirty="0" sz="4950" spc="-300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340">
                <a:solidFill>
                  <a:srgbClr val="182333"/>
                </a:solidFill>
                <a:latin typeface="Arial Black"/>
                <a:cs typeface="Arial Black"/>
              </a:rPr>
              <a:t>utilization,</a:t>
            </a:r>
            <a:r>
              <a:rPr dirty="0" sz="4950" spc="-30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380">
                <a:solidFill>
                  <a:srgbClr val="182333"/>
                </a:solidFill>
                <a:latin typeface="Arial Black"/>
                <a:cs typeface="Arial Black"/>
              </a:rPr>
              <a:t>improve </a:t>
            </a:r>
            <a:r>
              <a:rPr dirty="0" sz="4950" spc="-390">
                <a:solidFill>
                  <a:srgbClr val="182333"/>
                </a:solidFill>
                <a:latin typeface="Arial Black"/>
                <a:cs typeface="Arial Black"/>
              </a:rPr>
              <a:t>compliance,</a:t>
            </a:r>
            <a:r>
              <a:rPr dirty="0" sz="4950" spc="-29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325">
                <a:solidFill>
                  <a:srgbClr val="182333"/>
                </a:solidFill>
                <a:latin typeface="Arial Black"/>
                <a:cs typeface="Arial Black"/>
              </a:rPr>
              <a:t>and</a:t>
            </a:r>
            <a:r>
              <a:rPr dirty="0" sz="4950" spc="-28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4950" spc="-450">
                <a:solidFill>
                  <a:srgbClr val="182333"/>
                </a:solidFill>
                <a:latin typeface="Arial Black"/>
                <a:cs typeface="Arial Black"/>
              </a:rPr>
              <a:t>maximize </a:t>
            </a:r>
            <a:r>
              <a:rPr dirty="0" sz="4950" spc="-400">
                <a:solidFill>
                  <a:srgbClr val="182333"/>
                </a:solidFill>
                <a:latin typeface="Arial Black"/>
                <a:cs typeface="Arial Black"/>
              </a:rPr>
              <a:t>revenue.</a:t>
            </a:r>
            <a:endParaRPr sz="4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9" y="346948"/>
            <a:ext cx="16229330" cy="1363980"/>
          </a:xfrm>
          <a:custGeom>
            <a:avLst/>
            <a:gdLst/>
            <a:ahLst/>
            <a:cxnLst/>
            <a:rect l="l" t="t" r="r" b="b"/>
            <a:pathLst>
              <a:path w="16229330" h="1363980">
                <a:moveTo>
                  <a:pt x="15548849" y="1363503"/>
                </a:moveTo>
                <a:lnTo>
                  <a:pt x="681751" y="1363503"/>
                </a:lnTo>
                <a:lnTo>
                  <a:pt x="632651" y="1361733"/>
                </a:lnTo>
                <a:lnTo>
                  <a:pt x="584090" y="1356474"/>
                </a:lnTo>
                <a:lnTo>
                  <a:pt x="536240" y="1347795"/>
                </a:lnTo>
                <a:lnTo>
                  <a:pt x="489274" y="1335769"/>
                </a:lnTo>
                <a:lnTo>
                  <a:pt x="443362" y="1320465"/>
                </a:lnTo>
                <a:lnTo>
                  <a:pt x="398678" y="1301957"/>
                </a:lnTo>
                <a:lnTo>
                  <a:pt x="355392" y="1280313"/>
                </a:lnTo>
                <a:lnTo>
                  <a:pt x="313678" y="1255607"/>
                </a:lnTo>
                <a:lnTo>
                  <a:pt x="273706" y="1227909"/>
                </a:lnTo>
                <a:lnTo>
                  <a:pt x="235650" y="1197290"/>
                </a:lnTo>
                <a:lnTo>
                  <a:pt x="199680" y="1163822"/>
                </a:lnTo>
                <a:lnTo>
                  <a:pt x="166212" y="1127852"/>
                </a:lnTo>
                <a:lnTo>
                  <a:pt x="135593" y="1089796"/>
                </a:lnTo>
                <a:lnTo>
                  <a:pt x="107895" y="1049824"/>
                </a:lnTo>
                <a:lnTo>
                  <a:pt x="83189" y="1008110"/>
                </a:lnTo>
                <a:lnTo>
                  <a:pt x="61545" y="964824"/>
                </a:lnTo>
                <a:lnTo>
                  <a:pt x="43037" y="920140"/>
                </a:lnTo>
                <a:lnTo>
                  <a:pt x="27733" y="874228"/>
                </a:lnTo>
                <a:lnTo>
                  <a:pt x="15707" y="827262"/>
                </a:lnTo>
                <a:lnTo>
                  <a:pt x="7028" y="779412"/>
                </a:lnTo>
                <a:lnTo>
                  <a:pt x="1768" y="730851"/>
                </a:lnTo>
                <a:lnTo>
                  <a:pt x="0" y="681751"/>
                </a:lnTo>
                <a:lnTo>
                  <a:pt x="1768" y="632651"/>
                </a:lnTo>
                <a:lnTo>
                  <a:pt x="7028" y="584090"/>
                </a:lnTo>
                <a:lnTo>
                  <a:pt x="15707" y="536240"/>
                </a:lnTo>
                <a:lnTo>
                  <a:pt x="27733" y="489274"/>
                </a:lnTo>
                <a:lnTo>
                  <a:pt x="43037" y="443362"/>
                </a:lnTo>
                <a:lnTo>
                  <a:pt x="61545" y="398678"/>
                </a:lnTo>
                <a:lnTo>
                  <a:pt x="83189" y="355392"/>
                </a:lnTo>
                <a:lnTo>
                  <a:pt x="107895" y="313678"/>
                </a:lnTo>
                <a:lnTo>
                  <a:pt x="135593" y="273706"/>
                </a:lnTo>
                <a:lnTo>
                  <a:pt x="166212" y="235650"/>
                </a:lnTo>
                <a:lnTo>
                  <a:pt x="199680" y="199680"/>
                </a:lnTo>
                <a:lnTo>
                  <a:pt x="235650" y="166212"/>
                </a:lnTo>
                <a:lnTo>
                  <a:pt x="273706" y="135593"/>
                </a:lnTo>
                <a:lnTo>
                  <a:pt x="313678" y="107895"/>
                </a:lnTo>
                <a:lnTo>
                  <a:pt x="355392" y="83189"/>
                </a:lnTo>
                <a:lnTo>
                  <a:pt x="398678" y="61545"/>
                </a:lnTo>
                <a:lnTo>
                  <a:pt x="443362" y="43037"/>
                </a:lnTo>
                <a:lnTo>
                  <a:pt x="489274" y="27733"/>
                </a:lnTo>
                <a:lnTo>
                  <a:pt x="536240" y="15707"/>
                </a:lnTo>
                <a:lnTo>
                  <a:pt x="584090" y="7028"/>
                </a:lnTo>
                <a:lnTo>
                  <a:pt x="632651" y="1768"/>
                </a:lnTo>
                <a:lnTo>
                  <a:pt x="681751" y="0"/>
                </a:lnTo>
                <a:lnTo>
                  <a:pt x="15548849" y="0"/>
                </a:lnTo>
                <a:lnTo>
                  <a:pt x="15597949" y="1768"/>
                </a:lnTo>
                <a:lnTo>
                  <a:pt x="15646509" y="7028"/>
                </a:lnTo>
                <a:lnTo>
                  <a:pt x="15694359" y="15707"/>
                </a:lnTo>
                <a:lnTo>
                  <a:pt x="15741326" y="27733"/>
                </a:lnTo>
                <a:lnTo>
                  <a:pt x="15787237" y="43037"/>
                </a:lnTo>
                <a:lnTo>
                  <a:pt x="15831922" y="61545"/>
                </a:lnTo>
                <a:lnTo>
                  <a:pt x="15875207" y="83189"/>
                </a:lnTo>
                <a:lnTo>
                  <a:pt x="15916922" y="107895"/>
                </a:lnTo>
                <a:lnTo>
                  <a:pt x="15956893" y="135593"/>
                </a:lnTo>
                <a:lnTo>
                  <a:pt x="15994950" y="166212"/>
                </a:lnTo>
                <a:lnTo>
                  <a:pt x="16030919" y="199680"/>
                </a:lnTo>
                <a:lnTo>
                  <a:pt x="16064388" y="235650"/>
                </a:lnTo>
                <a:lnTo>
                  <a:pt x="16095006" y="273706"/>
                </a:lnTo>
                <a:lnTo>
                  <a:pt x="16122705" y="313678"/>
                </a:lnTo>
                <a:lnTo>
                  <a:pt x="16147411" y="355392"/>
                </a:lnTo>
                <a:lnTo>
                  <a:pt x="16169054" y="398678"/>
                </a:lnTo>
                <a:lnTo>
                  <a:pt x="16187563" y="443362"/>
                </a:lnTo>
                <a:lnTo>
                  <a:pt x="16202866" y="489274"/>
                </a:lnTo>
                <a:lnTo>
                  <a:pt x="16214892" y="536240"/>
                </a:lnTo>
                <a:lnTo>
                  <a:pt x="16223571" y="584090"/>
                </a:lnTo>
                <a:lnTo>
                  <a:pt x="16228881" y="632651"/>
                </a:lnTo>
                <a:lnTo>
                  <a:pt x="16228881" y="730851"/>
                </a:lnTo>
                <a:lnTo>
                  <a:pt x="16223571" y="779412"/>
                </a:lnTo>
                <a:lnTo>
                  <a:pt x="16214892" y="827262"/>
                </a:lnTo>
                <a:lnTo>
                  <a:pt x="16202866" y="874228"/>
                </a:lnTo>
                <a:lnTo>
                  <a:pt x="16187563" y="920140"/>
                </a:lnTo>
                <a:lnTo>
                  <a:pt x="16169054" y="964824"/>
                </a:lnTo>
                <a:lnTo>
                  <a:pt x="16147411" y="1008110"/>
                </a:lnTo>
                <a:lnTo>
                  <a:pt x="16122705" y="1049824"/>
                </a:lnTo>
                <a:lnTo>
                  <a:pt x="16095006" y="1089796"/>
                </a:lnTo>
                <a:lnTo>
                  <a:pt x="16064388" y="1127852"/>
                </a:lnTo>
                <a:lnTo>
                  <a:pt x="16030919" y="1163822"/>
                </a:lnTo>
                <a:lnTo>
                  <a:pt x="15994950" y="1197290"/>
                </a:lnTo>
                <a:lnTo>
                  <a:pt x="15956893" y="1227909"/>
                </a:lnTo>
                <a:lnTo>
                  <a:pt x="15916922" y="1255607"/>
                </a:lnTo>
                <a:lnTo>
                  <a:pt x="15875207" y="1280313"/>
                </a:lnTo>
                <a:lnTo>
                  <a:pt x="15831922" y="1301957"/>
                </a:lnTo>
                <a:lnTo>
                  <a:pt x="15787237" y="1320465"/>
                </a:lnTo>
                <a:lnTo>
                  <a:pt x="15741326" y="1335769"/>
                </a:lnTo>
                <a:lnTo>
                  <a:pt x="15694359" y="1347795"/>
                </a:lnTo>
                <a:lnTo>
                  <a:pt x="15646509" y="1356474"/>
                </a:lnTo>
                <a:lnTo>
                  <a:pt x="15597949" y="1361733"/>
                </a:lnTo>
                <a:lnTo>
                  <a:pt x="15548849" y="1363503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64101" y="3358233"/>
            <a:ext cx="15760065" cy="415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95"/>
              </a:spcBef>
            </a:pP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Urban</a:t>
            </a:r>
            <a:r>
              <a:rPr dirty="0" sz="3350" spc="26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35">
                <a:solidFill>
                  <a:srgbClr val="66371B"/>
                </a:solidFill>
                <a:latin typeface="Verdana"/>
                <a:cs typeface="Verdana"/>
              </a:rPr>
              <a:t>parking</a:t>
            </a:r>
            <a:r>
              <a:rPr dirty="0" sz="3350" spc="27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systems</a:t>
            </a:r>
            <a:r>
              <a:rPr dirty="0" sz="3350" spc="27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face</a:t>
            </a:r>
            <a:r>
              <a:rPr dirty="0" sz="3350" spc="27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operational</a:t>
            </a:r>
            <a:r>
              <a:rPr dirty="0" sz="3350" spc="27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inefficiencies</a:t>
            </a:r>
            <a:r>
              <a:rPr dirty="0" sz="3350" spc="27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due</a:t>
            </a:r>
            <a:r>
              <a:rPr dirty="0" sz="3350" spc="27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to</a:t>
            </a:r>
            <a:r>
              <a:rPr dirty="0" sz="3350" spc="27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the</a:t>
            </a:r>
            <a:r>
              <a:rPr dirty="0" sz="3350" spc="27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lack</a:t>
            </a:r>
            <a:r>
              <a:rPr dirty="0" sz="3350" spc="27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45">
                <a:solidFill>
                  <a:srgbClr val="66371B"/>
                </a:solidFill>
                <a:latin typeface="Verdana"/>
                <a:cs typeface="Verdana"/>
              </a:rPr>
              <a:t>of </a:t>
            </a:r>
            <a:r>
              <a:rPr dirty="0" sz="3350" spc="-45">
                <a:solidFill>
                  <a:srgbClr val="66371B"/>
                </a:solidFill>
                <a:latin typeface="Verdana"/>
                <a:cs typeface="Verdana"/>
              </a:rPr>
              <a:t>centralized</a:t>
            </a:r>
            <a:r>
              <a:rPr dirty="0" sz="3350" spc="-29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45">
                <a:solidFill>
                  <a:srgbClr val="66371B"/>
                </a:solidFill>
                <a:latin typeface="Verdana"/>
                <a:cs typeface="Verdana"/>
              </a:rPr>
              <a:t>analytics</a:t>
            </a:r>
            <a:r>
              <a:rPr dirty="0" sz="3350" spc="-29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50">
                <a:solidFill>
                  <a:srgbClr val="66371B"/>
                </a:solidFill>
                <a:latin typeface="Verdana"/>
                <a:cs typeface="Verdana"/>
              </a:rPr>
              <a:t>and</a:t>
            </a:r>
            <a:r>
              <a:rPr dirty="0" sz="3350" spc="-29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20">
                <a:solidFill>
                  <a:srgbClr val="66371B"/>
                </a:solidFill>
                <a:latin typeface="Verdana"/>
                <a:cs typeface="Verdana"/>
              </a:rPr>
              <a:t>real-</a:t>
            </a:r>
            <a:r>
              <a:rPr dirty="0" sz="3350" spc="-75">
                <a:solidFill>
                  <a:srgbClr val="66371B"/>
                </a:solidFill>
                <a:latin typeface="Verdana"/>
                <a:cs typeface="Verdana"/>
              </a:rPr>
              <a:t>time</a:t>
            </a:r>
            <a:r>
              <a:rPr dirty="0" sz="3350" spc="-29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visibility.</a:t>
            </a:r>
            <a:endParaRPr sz="3350">
              <a:latin typeface="Verdana"/>
              <a:cs typeface="Verdana"/>
            </a:endParaRPr>
          </a:p>
          <a:p>
            <a:pPr marL="374015" indent="-257175">
              <a:lnSpc>
                <a:spcPct val="100000"/>
              </a:lnSpc>
              <a:spcBef>
                <a:spcPts val="630"/>
              </a:spcBef>
              <a:buChar char="•"/>
              <a:tabLst>
                <a:tab pos="374015" algn="l"/>
              </a:tabLst>
            </a:pPr>
            <a:r>
              <a:rPr dirty="0" sz="3350" spc="-65">
                <a:solidFill>
                  <a:srgbClr val="66371B"/>
                </a:solidFill>
                <a:latin typeface="Verdana"/>
                <a:cs typeface="Verdana"/>
              </a:rPr>
              <a:t>Uneven</a:t>
            </a:r>
            <a:r>
              <a:rPr dirty="0" sz="3350" spc="-30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20">
                <a:solidFill>
                  <a:srgbClr val="66371B"/>
                </a:solidFill>
                <a:latin typeface="Verdana"/>
                <a:cs typeface="Verdana"/>
              </a:rPr>
              <a:t>parking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45">
                <a:solidFill>
                  <a:srgbClr val="66371B"/>
                </a:solidFill>
                <a:latin typeface="Verdana"/>
                <a:cs typeface="Verdana"/>
              </a:rPr>
              <a:t>utilization</a:t>
            </a:r>
            <a:r>
              <a:rPr dirty="0" sz="3350" spc="-30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50">
                <a:solidFill>
                  <a:srgbClr val="66371B"/>
                </a:solidFill>
                <a:latin typeface="Verdana"/>
                <a:cs typeface="Verdana"/>
              </a:rPr>
              <a:t>across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20">
                <a:solidFill>
                  <a:srgbClr val="66371B"/>
                </a:solidFill>
                <a:latin typeface="Verdana"/>
                <a:cs typeface="Verdana"/>
              </a:rPr>
              <a:t>lots</a:t>
            </a:r>
            <a:endParaRPr sz="3350">
              <a:latin typeface="Verdana"/>
              <a:cs typeface="Verdana"/>
            </a:endParaRPr>
          </a:p>
          <a:p>
            <a:pPr marL="374015" indent="-257175">
              <a:lnSpc>
                <a:spcPct val="100000"/>
              </a:lnSpc>
              <a:spcBef>
                <a:spcPts val="630"/>
              </a:spcBef>
              <a:buChar char="•"/>
              <a:tabLst>
                <a:tab pos="374015" algn="l"/>
              </a:tabLst>
            </a:pPr>
            <a:r>
              <a:rPr dirty="0" sz="3350" spc="-185">
                <a:solidFill>
                  <a:srgbClr val="66371B"/>
                </a:solidFill>
                <a:latin typeface="Verdana"/>
                <a:cs typeface="Verdana"/>
              </a:rPr>
              <a:t>Peak-</a:t>
            </a:r>
            <a:r>
              <a:rPr dirty="0" sz="3350" spc="-40">
                <a:solidFill>
                  <a:srgbClr val="66371B"/>
                </a:solidFill>
                <a:latin typeface="Verdana"/>
                <a:cs typeface="Verdana"/>
              </a:rPr>
              <a:t>hour</a:t>
            </a:r>
            <a:r>
              <a:rPr dirty="0" sz="3350" spc="-29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45">
                <a:solidFill>
                  <a:srgbClr val="66371B"/>
                </a:solidFill>
                <a:latin typeface="Verdana"/>
                <a:cs typeface="Verdana"/>
              </a:rPr>
              <a:t>congestion</a:t>
            </a:r>
            <a:r>
              <a:rPr dirty="0" sz="3350" spc="-29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70">
                <a:solidFill>
                  <a:srgbClr val="66371B"/>
                </a:solidFill>
                <a:latin typeface="Verdana"/>
                <a:cs typeface="Verdana"/>
              </a:rPr>
              <a:t>leading</a:t>
            </a:r>
            <a:r>
              <a:rPr dirty="0" sz="3350" spc="-28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to</a:t>
            </a:r>
            <a:r>
              <a:rPr dirty="0" sz="3350" spc="-29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delays</a:t>
            </a:r>
            <a:endParaRPr sz="3350">
              <a:latin typeface="Verdana"/>
              <a:cs typeface="Verdana"/>
            </a:endParaRPr>
          </a:p>
          <a:p>
            <a:pPr marL="374015" indent="-257175">
              <a:lnSpc>
                <a:spcPct val="100000"/>
              </a:lnSpc>
              <a:spcBef>
                <a:spcPts val="630"/>
              </a:spcBef>
              <a:buChar char="•"/>
              <a:tabLst>
                <a:tab pos="374015" algn="l"/>
              </a:tabLst>
            </a:pPr>
            <a:r>
              <a:rPr dirty="0" sz="3350" spc="-105">
                <a:solidFill>
                  <a:srgbClr val="66371B"/>
                </a:solidFill>
                <a:latin typeface="Verdana"/>
                <a:cs typeface="Verdana"/>
              </a:rPr>
              <a:t>Revenue</a:t>
            </a:r>
            <a:r>
              <a:rPr dirty="0" sz="3350" spc="-30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50">
                <a:solidFill>
                  <a:srgbClr val="66371B"/>
                </a:solidFill>
                <a:latin typeface="Verdana"/>
                <a:cs typeface="Verdana"/>
              </a:rPr>
              <a:t>leakage</a:t>
            </a:r>
            <a:r>
              <a:rPr dirty="0" sz="3350" spc="-30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40">
                <a:solidFill>
                  <a:srgbClr val="66371B"/>
                </a:solidFill>
                <a:latin typeface="Verdana"/>
                <a:cs typeface="Verdana"/>
              </a:rPr>
              <a:t>from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35">
                <a:solidFill>
                  <a:srgbClr val="66371B"/>
                </a:solidFill>
                <a:latin typeface="Verdana"/>
                <a:cs typeface="Verdana"/>
              </a:rPr>
              <a:t>violations</a:t>
            </a:r>
            <a:r>
              <a:rPr dirty="0" sz="3350" spc="-30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50">
                <a:solidFill>
                  <a:srgbClr val="66371B"/>
                </a:solidFill>
                <a:latin typeface="Verdana"/>
                <a:cs typeface="Verdana"/>
              </a:rPr>
              <a:t>and</a:t>
            </a:r>
            <a:r>
              <a:rPr dirty="0" sz="3350" spc="-30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40">
                <a:solidFill>
                  <a:srgbClr val="66371B"/>
                </a:solidFill>
                <a:latin typeface="Verdana"/>
                <a:cs typeface="Verdana"/>
              </a:rPr>
              <a:t>suboptimal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pricing</a:t>
            </a:r>
            <a:endParaRPr sz="3350">
              <a:latin typeface="Verdana"/>
              <a:cs typeface="Verdana"/>
            </a:endParaRPr>
          </a:p>
          <a:p>
            <a:pPr marL="374015" indent="-257175">
              <a:lnSpc>
                <a:spcPct val="100000"/>
              </a:lnSpc>
              <a:spcBef>
                <a:spcPts val="630"/>
              </a:spcBef>
              <a:buChar char="•"/>
              <a:tabLst>
                <a:tab pos="374015" algn="l"/>
              </a:tabLst>
            </a:pPr>
            <a:r>
              <a:rPr dirty="0" sz="3350" spc="-40">
                <a:solidFill>
                  <a:srgbClr val="66371B"/>
                </a:solidFill>
                <a:latin typeface="Verdana"/>
                <a:cs typeface="Verdana"/>
              </a:rPr>
              <a:t>Limited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30">
                <a:solidFill>
                  <a:srgbClr val="66371B"/>
                </a:solidFill>
                <a:latin typeface="Verdana"/>
                <a:cs typeface="Verdana"/>
              </a:rPr>
              <a:t>visibility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into</a:t>
            </a:r>
            <a:r>
              <a:rPr dirty="0" sz="3350" spc="-30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25">
                <a:solidFill>
                  <a:srgbClr val="66371B"/>
                </a:solidFill>
                <a:latin typeface="Verdana"/>
                <a:cs typeface="Verdana"/>
              </a:rPr>
              <a:t>compliance</a:t>
            </a:r>
            <a:r>
              <a:rPr dirty="0" sz="3350" spc="-295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patterns</a:t>
            </a:r>
            <a:endParaRPr sz="3350">
              <a:latin typeface="Verdana"/>
              <a:cs typeface="Verdana"/>
            </a:endParaRPr>
          </a:p>
          <a:p>
            <a:pPr marL="374015" indent="-257175">
              <a:lnSpc>
                <a:spcPct val="100000"/>
              </a:lnSpc>
              <a:spcBef>
                <a:spcPts val="630"/>
              </a:spcBef>
              <a:buChar char="•"/>
              <a:tabLst>
                <a:tab pos="374015" algn="l"/>
              </a:tabLst>
            </a:pPr>
            <a:r>
              <a:rPr dirty="0" sz="3350" spc="-35">
                <a:solidFill>
                  <a:srgbClr val="66371B"/>
                </a:solidFill>
                <a:latin typeface="Verdana"/>
                <a:cs typeface="Verdana"/>
              </a:rPr>
              <a:t>Absence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70">
                <a:solidFill>
                  <a:srgbClr val="66371B"/>
                </a:solidFill>
                <a:latin typeface="Verdana"/>
                <a:cs typeface="Verdana"/>
              </a:rPr>
              <a:t>of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25">
                <a:solidFill>
                  <a:srgbClr val="66371B"/>
                </a:solidFill>
                <a:latin typeface="Verdana"/>
                <a:cs typeface="Verdana"/>
              </a:rPr>
              <a:t>predictive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75">
                <a:solidFill>
                  <a:srgbClr val="66371B"/>
                </a:solidFill>
                <a:latin typeface="Verdana"/>
                <a:cs typeface="Verdana"/>
              </a:rPr>
              <a:t>insights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>
                <a:solidFill>
                  <a:srgbClr val="66371B"/>
                </a:solidFill>
                <a:latin typeface="Verdana"/>
                <a:cs typeface="Verdana"/>
              </a:rPr>
              <a:t>for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65">
                <a:solidFill>
                  <a:srgbClr val="66371B"/>
                </a:solidFill>
                <a:latin typeface="Verdana"/>
                <a:cs typeface="Verdana"/>
              </a:rPr>
              <a:t>demand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50">
                <a:solidFill>
                  <a:srgbClr val="66371B"/>
                </a:solidFill>
                <a:latin typeface="Verdana"/>
                <a:cs typeface="Verdana"/>
              </a:rPr>
              <a:t>and</a:t>
            </a:r>
            <a:r>
              <a:rPr dirty="0" sz="3350" spc="-310">
                <a:solidFill>
                  <a:srgbClr val="66371B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66371B"/>
                </a:solidFill>
                <a:latin typeface="Verdana"/>
                <a:cs typeface="Verdana"/>
              </a:rPr>
              <a:t>pricing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8425" rIns="0" bIns="0" rtlCol="0" vert="horz">
            <a:spAutoFit/>
          </a:bodyPr>
          <a:lstStyle/>
          <a:p>
            <a:pPr marL="1871345">
              <a:lnSpc>
                <a:spcPct val="100000"/>
              </a:lnSpc>
              <a:spcBef>
                <a:spcPts val="130"/>
              </a:spcBef>
            </a:pPr>
            <a:r>
              <a:rPr dirty="0" sz="5700" spc="-409"/>
              <a:t>PROBLEM</a:t>
            </a:r>
            <a:r>
              <a:rPr dirty="0" sz="5700" spc="-345"/>
              <a:t> </a:t>
            </a:r>
            <a:r>
              <a:rPr dirty="0" sz="5700" spc="-640"/>
              <a:t>S</a:t>
            </a:r>
            <a:r>
              <a:rPr dirty="0" sz="5700" spc="-1135"/>
              <a:t>T</a:t>
            </a:r>
            <a:r>
              <a:rPr dirty="0" sz="5700" spc="-1095"/>
              <a:t>A</a:t>
            </a:r>
            <a:r>
              <a:rPr dirty="0" sz="5700" spc="-480"/>
              <a:t>TEMEN</a:t>
            </a:r>
            <a:r>
              <a:rPr dirty="0" sz="5700" spc="-470"/>
              <a:t>T</a:t>
            </a:r>
            <a:endParaRPr sz="5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5060" y="239299"/>
            <a:ext cx="18018125" cy="1488440"/>
          </a:xfrm>
          <a:custGeom>
            <a:avLst/>
            <a:gdLst/>
            <a:ahLst/>
            <a:cxnLst/>
            <a:rect l="l" t="t" r="r" b="b"/>
            <a:pathLst>
              <a:path w="18018125" h="1488439">
                <a:moveTo>
                  <a:pt x="17273687" y="1488384"/>
                </a:moveTo>
                <a:lnTo>
                  <a:pt x="744192" y="1488384"/>
                </a:lnTo>
                <a:lnTo>
                  <a:pt x="695041" y="1486761"/>
                </a:lnTo>
                <a:lnTo>
                  <a:pt x="646372" y="1481930"/>
                </a:lnTo>
                <a:lnTo>
                  <a:pt x="598329" y="1473953"/>
                </a:lnTo>
                <a:lnTo>
                  <a:pt x="551057" y="1462888"/>
                </a:lnTo>
                <a:lnTo>
                  <a:pt x="504699" y="1448796"/>
                </a:lnTo>
                <a:lnTo>
                  <a:pt x="459402" y="1431736"/>
                </a:lnTo>
                <a:lnTo>
                  <a:pt x="415309" y="1411769"/>
                </a:lnTo>
                <a:lnTo>
                  <a:pt x="372564" y="1388954"/>
                </a:lnTo>
                <a:lnTo>
                  <a:pt x="331314" y="1363351"/>
                </a:lnTo>
                <a:lnTo>
                  <a:pt x="291701" y="1335021"/>
                </a:lnTo>
                <a:lnTo>
                  <a:pt x="253871" y="1304022"/>
                </a:lnTo>
                <a:lnTo>
                  <a:pt x="217968" y="1270415"/>
                </a:lnTo>
                <a:lnTo>
                  <a:pt x="184362" y="1234513"/>
                </a:lnTo>
                <a:lnTo>
                  <a:pt x="153363" y="1196683"/>
                </a:lnTo>
                <a:lnTo>
                  <a:pt x="125033" y="1157070"/>
                </a:lnTo>
                <a:lnTo>
                  <a:pt x="99430" y="1115820"/>
                </a:lnTo>
                <a:lnTo>
                  <a:pt x="76615" y="1073075"/>
                </a:lnTo>
                <a:lnTo>
                  <a:pt x="56648" y="1028982"/>
                </a:lnTo>
                <a:lnTo>
                  <a:pt x="39588" y="983684"/>
                </a:lnTo>
                <a:lnTo>
                  <a:pt x="25496" y="937327"/>
                </a:lnTo>
                <a:lnTo>
                  <a:pt x="14431" y="890055"/>
                </a:lnTo>
                <a:lnTo>
                  <a:pt x="6453" y="842012"/>
                </a:lnTo>
                <a:lnTo>
                  <a:pt x="1623" y="793342"/>
                </a:lnTo>
                <a:lnTo>
                  <a:pt x="0" y="744192"/>
                </a:lnTo>
                <a:lnTo>
                  <a:pt x="1623" y="695041"/>
                </a:lnTo>
                <a:lnTo>
                  <a:pt x="6453" y="646372"/>
                </a:lnTo>
                <a:lnTo>
                  <a:pt x="14431" y="598329"/>
                </a:lnTo>
                <a:lnTo>
                  <a:pt x="25496" y="551057"/>
                </a:lnTo>
                <a:lnTo>
                  <a:pt x="39588" y="504699"/>
                </a:lnTo>
                <a:lnTo>
                  <a:pt x="56648" y="459402"/>
                </a:lnTo>
                <a:lnTo>
                  <a:pt x="76615" y="415309"/>
                </a:lnTo>
                <a:lnTo>
                  <a:pt x="99430" y="372564"/>
                </a:lnTo>
                <a:lnTo>
                  <a:pt x="125033" y="331314"/>
                </a:lnTo>
                <a:lnTo>
                  <a:pt x="153363" y="291701"/>
                </a:lnTo>
                <a:lnTo>
                  <a:pt x="184362" y="253871"/>
                </a:lnTo>
                <a:lnTo>
                  <a:pt x="217968" y="217968"/>
                </a:lnTo>
                <a:lnTo>
                  <a:pt x="253871" y="184362"/>
                </a:lnTo>
                <a:lnTo>
                  <a:pt x="291701" y="153363"/>
                </a:lnTo>
                <a:lnTo>
                  <a:pt x="331314" y="125033"/>
                </a:lnTo>
                <a:lnTo>
                  <a:pt x="372564" y="99430"/>
                </a:lnTo>
                <a:lnTo>
                  <a:pt x="415309" y="76615"/>
                </a:lnTo>
                <a:lnTo>
                  <a:pt x="459402" y="56648"/>
                </a:lnTo>
                <a:lnTo>
                  <a:pt x="504699" y="39588"/>
                </a:lnTo>
                <a:lnTo>
                  <a:pt x="551057" y="25496"/>
                </a:lnTo>
                <a:lnTo>
                  <a:pt x="598329" y="14431"/>
                </a:lnTo>
                <a:lnTo>
                  <a:pt x="646372" y="6453"/>
                </a:lnTo>
                <a:lnTo>
                  <a:pt x="695041" y="1623"/>
                </a:lnTo>
                <a:lnTo>
                  <a:pt x="744192" y="0"/>
                </a:lnTo>
                <a:lnTo>
                  <a:pt x="17273687" y="0"/>
                </a:lnTo>
                <a:lnTo>
                  <a:pt x="17322837" y="1623"/>
                </a:lnTo>
                <a:lnTo>
                  <a:pt x="17371506" y="6453"/>
                </a:lnTo>
                <a:lnTo>
                  <a:pt x="17419549" y="14431"/>
                </a:lnTo>
                <a:lnTo>
                  <a:pt x="17466821" y="25496"/>
                </a:lnTo>
                <a:lnTo>
                  <a:pt x="17513179" y="39588"/>
                </a:lnTo>
                <a:lnTo>
                  <a:pt x="17558476" y="56648"/>
                </a:lnTo>
                <a:lnTo>
                  <a:pt x="17602569" y="76615"/>
                </a:lnTo>
                <a:lnTo>
                  <a:pt x="17645313" y="99430"/>
                </a:lnTo>
                <a:lnTo>
                  <a:pt x="17686564" y="125033"/>
                </a:lnTo>
                <a:lnTo>
                  <a:pt x="17726176" y="153363"/>
                </a:lnTo>
                <a:lnTo>
                  <a:pt x="17764006" y="184362"/>
                </a:lnTo>
                <a:lnTo>
                  <a:pt x="17799909" y="217968"/>
                </a:lnTo>
                <a:lnTo>
                  <a:pt x="17833516" y="253871"/>
                </a:lnTo>
                <a:lnTo>
                  <a:pt x="17864515" y="291701"/>
                </a:lnTo>
                <a:lnTo>
                  <a:pt x="17892845" y="331314"/>
                </a:lnTo>
                <a:lnTo>
                  <a:pt x="17918448" y="372564"/>
                </a:lnTo>
                <a:lnTo>
                  <a:pt x="17941263" y="415309"/>
                </a:lnTo>
                <a:lnTo>
                  <a:pt x="17961230" y="459402"/>
                </a:lnTo>
                <a:lnTo>
                  <a:pt x="17978290" y="504699"/>
                </a:lnTo>
                <a:lnTo>
                  <a:pt x="17992382" y="551057"/>
                </a:lnTo>
                <a:lnTo>
                  <a:pt x="18003447" y="598329"/>
                </a:lnTo>
                <a:lnTo>
                  <a:pt x="18011424" y="646372"/>
                </a:lnTo>
                <a:lnTo>
                  <a:pt x="18016255" y="695041"/>
                </a:lnTo>
                <a:lnTo>
                  <a:pt x="18017596" y="735658"/>
                </a:lnTo>
                <a:lnTo>
                  <a:pt x="18017596" y="752726"/>
                </a:lnTo>
                <a:lnTo>
                  <a:pt x="18016255" y="793342"/>
                </a:lnTo>
                <a:lnTo>
                  <a:pt x="18011424" y="842012"/>
                </a:lnTo>
                <a:lnTo>
                  <a:pt x="18003447" y="890055"/>
                </a:lnTo>
                <a:lnTo>
                  <a:pt x="17992382" y="937327"/>
                </a:lnTo>
                <a:lnTo>
                  <a:pt x="17978290" y="983684"/>
                </a:lnTo>
                <a:lnTo>
                  <a:pt x="17961230" y="1028982"/>
                </a:lnTo>
                <a:lnTo>
                  <a:pt x="17941263" y="1073075"/>
                </a:lnTo>
                <a:lnTo>
                  <a:pt x="17918448" y="1115820"/>
                </a:lnTo>
                <a:lnTo>
                  <a:pt x="17892845" y="1157070"/>
                </a:lnTo>
                <a:lnTo>
                  <a:pt x="17864515" y="1196683"/>
                </a:lnTo>
                <a:lnTo>
                  <a:pt x="17833516" y="1234513"/>
                </a:lnTo>
                <a:lnTo>
                  <a:pt x="17799909" y="1270415"/>
                </a:lnTo>
                <a:lnTo>
                  <a:pt x="17764006" y="1304022"/>
                </a:lnTo>
                <a:lnTo>
                  <a:pt x="17726176" y="1335021"/>
                </a:lnTo>
                <a:lnTo>
                  <a:pt x="17686564" y="1363351"/>
                </a:lnTo>
                <a:lnTo>
                  <a:pt x="17645313" y="1388954"/>
                </a:lnTo>
                <a:lnTo>
                  <a:pt x="17602569" y="1411769"/>
                </a:lnTo>
                <a:lnTo>
                  <a:pt x="17558476" y="1431736"/>
                </a:lnTo>
                <a:lnTo>
                  <a:pt x="17513179" y="1448796"/>
                </a:lnTo>
                <a:lnTo>
                  <a:pt x="17466821" y="1462888"/>
                </a:lnTo>
                <a:lnTo>
                  <a:pt x="17419549" y="1473953"/>
                </a:lnTo>
                <a:lnTo>
                  <a:pt x="17371506" y="1481930"/>
                </a:lnTo>
                <a:lnTo>
                  <a:pt x="17322837" y="1486761"/>
                </a:lnTo>
                <a:lnTo>
                  <a:pt x="17273687" y="148838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4619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dirty="0" sz="5000" spc="-445"/>
              <a:t>OBJECTIVES</a:t>
            </a:r>
            <a:r>
              <a:rPr dirty="0" sz="5000" spc="-315"/>
              <a:t> </a:t>
            </a:r>
            <a:r>
              <a:rPr dirty="0" sz="5000" spc="-890"/>
              <a:t>&amp;</a:t>
            </a:r>
            <a:r>
              <a:rPr dirty="0" sz="5000" spc="-310"/>
              <a:t> </a:t>
            </a:r>
            <a:r>
              <a:rPr dirty="0" sz="5000" spc="-455"/>
              <a:t>SOLUTION</a:t>
            </a:r>
            <a:r>
              <a:rPr dirty="0" sz="5000" spc="-310"/>
              <a:t> </a:t>
            </a:r>
            <a:r>
              <a:rPr dirty="0" sz="5000" spc="-430"/>
              <a:t>APPROACH</a:t>
            </a:r>
            <a:endParaRPr sz="5000"/>
          </a:p>
        </p:txBody>
      </p:sp>
      <p:sp>
        <p:nvSpPr>
          <p:cNvPr id="4" name="object 4" descr=""/>
          <p:cNvSpPr/>
          <p:nvPr/>
        </p:nvSpPr>
        <p:spPr>
          <a:xfrm>
            <a:off x="4393694" y="6702149"/>
            <a:ext cx="139700" cy="47625"/>
          </a:xfrm>
          <a:custGeom>
            <a:avLst/>
            <a:gdLst/>
            <a:ahLst/>
            <a:cxnLst/>
            <a:rect l="l" t="t" r="r" b="b"/>
            <a:pathLst>
              <a:path w="139700" h="47625">
                <a:moveTo>
                  <a:pt x="139505" y="47624"/>
                </a:moveTo>
                <a:lnTo>
                  <a:pt x="0" y="47624"/>
                </a:lnTo>
                <a:lnTo>
                  <a:pt x="0" y="0"/>
                </a:lnTo>
                <a:lnTo>
                  <a:pt x="139505" y="0"/>
                </a:lnTo>
                <a:lnTo>
                  <a:pt x="139505" y="47624"/>
                </a:lnTo>
                <a:close/>
              </a:path>
            </a:pathLst>
          </a:custGeom>
          <a:solidFill>
            <a:srgbClr val="6637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740935" y="6702149"/>
            <a:ext cx="1779905" cy="47625"/>
          </a:xfrm>
          <a:custGeom>
            <a:avLst/>
            <a:gdLst/>
            <a:ahLst/>
            <a:cxnLst/>
            <a:rect l="l" t="t" r="r" b="b"/>
            <a:pathLst>
              <a:path w="1779904" h="47625">
                <a:moveTo>
                  <a:pt x="1779482" y="47624"/>
                </a:moveTo>
                <a:lnTo>
                  <a:pt x="0" y="47624"/>
                </a:lnTo>
                <a:lnTo>
                  <a:pt x="0" y="0"/>
                </a:lnTo>
                <a:lnTo>
                  <a:pt x="1779482" y="0"/>
                </a:lnTo>
                <a:lnTo>
                  <a:pt x="1779482" y="47624"/>
                </a:lnTo>
                <a:close/>
              </a:path>
            </a:pathLst>
          </a:custGeom>
          <a:solidFill>
            <a:srgbClr val="6637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263610" y="2173735"/>
            <a:ext cx="10090785" cy="7774940"/>
          </a:xfrm>
          <a:prstGeom prst="rect">
            <a:avLst/>
          </a:prstGeom>
        </p:spPr>
        <p:txBody>
          <a:bodyPr wrap="square" lIns="0" tIns="212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dirty="0" u="heavy" sz="4100" spc="484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Pro</a:t>
            </a:r>
            <a:r>
              <a:rPr dirty="0" sz="4100" spc="484">
                <a:solidFill>
                  <a:srgbClr val="66371B"/>
                </a:solidFill>
                <a:latin typeface="Arial MT"/>
                <a:cs typeface="Arial MT"/>
              </a:rPr>
              <a:t>j</a:t>
            </a:r>
            <a:r>
              <a:rPr dirty="0" u="heavy" sz="4100" spc="484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ect</a:t>
            </a:r>
            <a:r>
              <a:rPr dirty="0" u="heavy" sz="4100" spc="250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4100" spc="425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Ob</a:t>
            </a:r>
            <a:r>
              <a:rPr dirty="0" sz="4100" spc="425">
                <a:solidFill>
                  <a:srgbClr val="66371B"/>
                </a:solidFill>
                <a:latin typeface="Arial MT"/>
                <a:cs typeface="Arial MT"/>
              </a:rPr>
              <a:t>j</a:t>
            </a:r>
            <a:r>
              <a:rPr dirty="0" u="heavy" sz="4100" spc="425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ectives</a:t>
            </a:r>
            <a:r>
              <a:rPr dirty="0" sz="4100" spc="425">
                <a:solidFill>
                  <a:srgbClr val="66371B"/>
                </a:solidFill>
                <a:latin typeface="Arial MT"/>
                <a:cs typeface="Arial MT"/>
              </a:rPr>
              <a:t>:</a:t>
            </a:r>
            <a:endParaRPr sz="4100">
              <a:latin typeface="Arial MT"/>
              <a:cs typeface="Arial MT"/>
            </a:endParaRPr>
          </a:p>
          <a:p>
            <a:pPr marL="876300" indent="-238125">
              <a:lnSpc>
                <a:spcPct val="100000"/>
              </a:lnSpc>
              <a:spcBef>
                <a:spcPts val="1125"/>
              </a:spcBef>
              <a:buChar char="•"/>
              <a:tabLst>
                <a:tab pos="876300" algn="l"/>
              </a:tabLst>
            </a:pPr>
            <a:r>
              <a:rPr dirty="0" sz="2950" spc="-20">
                <a:solidFill>
                  <a:srgbClr val="705C4E"/>
                </a:solidFill>
                <a:latin typeface="Microsoft Sans Serif"/>
                <a:cs typeface="Microsoft Sans Serif"/>
              </a:rPr>
              <a:t>Analyze</a:t>
            </a:r>
            <a:r>
              <a:rPr dirty="0" sz="2950" spc="-114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parking</a:t>
            </a:r>
            <a:r>
              <a:rPr dirty="0" sz="2950" spc="-114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demand</a:t>
            </a:r>
            <a:r>
              <a:rPr dirty="0" sz="2950" spc="-11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and</a:t>
            </a:r>
            <a:r>
              <a:rPr dirty="0" sz="2950" spc="-114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30">
                <a:solidFill>
                  <a:srgbClr val="705C4E"/>
                </a:solidFill>
                <a:latin typeface="Microsoft Sans Serif"/>
                <a:cs typeface="Microsoft Sans Serif"/>
              </a:rPr>
              <a:t>utilization</a:t>
            </a:r>
            <a:r>
              <a:rPr dirty="0" sz="2950" spc="-11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patterns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Identify</a:t>
            </a:r>
            <a:r>
              <a:rPr dirty="0" sz="2950" spc="-15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35">
                <a:solidFill>
                  <a:srgbClr val="705C4E"/>
                </a:solidFill>
                <a:latin typeface="Microsoft Sans Serif"/>
                <a:cs typeface="Microsoft Sans Serif"/>
              </a:rPr>
              <a:t>revenue</a:t>
            </a:r>
            <a:r>
              <a:rPr dirty="0" sz="2950" spc="-15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drivers</a:t>
            </a:r>
            <a:r>
              <a:rPr dirty="0" sz="2950" spc="-15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and</a:t>
            </a:r>
            <a:r>
              <a:rPr dirty="0" sz="2950" spc="-15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950" spc="-15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hotspots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Monitor</a:t>
            </a:r>
            <a:r>
              <a:rPr dirty="0" sz="2950" spc="-17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compliance</a:t>
            </a:r>
            <a:r>
              <a:rPr dirty="0" sz="2950" spc="-17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performance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 spc="-25">
                <a:solidFill>
                  <a:srgbClr val="705C4E"/>
                </a:solidFill>
                <a:latin typeface="Microsoft Sans Serif"/>
                <a:cs typeface="Microsoft Sans Serif"/>
              </a:rPr>
              <a:t>Forecast</a:t>
            </a:r>
            <a:r>
              <a:rPr dirty="0" sz="2950" spc="-13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demand</a:t>
            </a:r>
            <a:r>
              <a:rPr dirty="0" sz="2950" spc="-12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and</a:t>
            </a:r>
            <a:r>
              <a:rPr dirty="0" sz="2950" spc="-12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0">
                <a:solidFill>
                  <a:srgbClr val="705C4E"/>
                </a:solidFill>
                <a:latin typeface="Microsoft Sans Serif"/>
                <a:cs typeface="Microsoft Sans Serif"/>
              </a:rPr>
              <a:t>simulate</a:t>
            </a:r>
            <a:r>
              <a:rPr dirty="0" sz="2950" spc="-13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pricing</a:t>
            </a:r>
            <a:r>
              <a:rPr dirty="0" sz="2950" spc="-12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scenarios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 spc="-25">
                <a:solidFill>
                  <a:srgbClr val="705C4E"/>
                </a:solidFill>
                <a:latin typeface="Microsoft Sans Serif"/>
                <a:cs typeface="Microsoft Sans Serif"/>
              </a:rPr>
              <a:t>Deliver</a:t>
            </a:r>
            <a:r>
              <a:rPr dirty="0" sz="2950" spc="-12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5">
                <a:solidFill>
                  <a:srgbClr val="705C4E"/>
                </a:solidFill>
                <a:latin typeface="Microsoft Sans Serif"/>
                <a:cs typeface="Microsoft Sans Serif"/>
              </a:rPr>
              <a:t>data-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driven</a:t>
            </a:r>
            <a:r>
              <a:rPr dirty="0" sz="2950" spc="-12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0">
                <a:solidFill>
                  <a:srgbClr val="705C4E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2950" spc="-12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recommendations</a:t>
            </a:r>
            <a:endParaRPr sz="2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Clr>
                <a:srgbClr val="705C4E"/>
              </a:buClr>
              <a:buFont typeface="Microsoft Sans Serif"/>
              <a:buChar char="•"/>
            </a:pPr>
            <a:endParaRPr sz="2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heavy" sz="4100" spc="445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Solution</a:t>
            </a:r>
            <a:r>
              <a:rPr dirty="0" u="heavy" sz="4100" spc="245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4100" spc="445">
                <a:solidFill>
                  <a:srgbClr val="66371B"/>
                </a:solidFill>
                <a:uFill>
                  <a:solidFill>
                    <a:srgbClr val="66371B"/>
                  </a:solidFill>
                </a:uFill>
                <a:latin typeface="Arial MT"/>
                <a:cs typeface="Arial MT"/>
              </a:rPr>
              <a:t>A</a:t>
            </a:r>
            <a:r>
              <a:rPr dirty="0" sz="4100" spc="445">
                <a:solidFill>
                  <a:srgbClr val="66371B"/>
                </a:solidFill>
                <a:latin typeface="Arial MT"/>
                <a:cs typeface="Arial MT"/>
              </a:rPr>
              <a:t>pproach:</a:t>
            </a:r>
            <a:endParaRPr sz="4100">
              <a:latin typeface="Arial MT"/>
              <a:cs typeface="Arial MT"/>
            </a:endParaRPr>
          </a:p>
          <a:p>
            <a:pPr marL="876300" indent="-238125">
              <a:lnSpc>
                <a:spcPct val="100000"/>
              </a:lnSpc>
              <a:spcBef>
                <a:spcPts val="880"/>
              </a:spcBef>
              <a:buChar char="•"/>
              <a:tabLst>
                <a:tab pos="876300" algn="l"/>
              </a:tabLst>
            </a:pP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Raw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parking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data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imported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into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55">
                <a:solidFill>
                  <a:srgbClr val="705C4E"/>
                </a:solidFill>
                <a:latin typeface="Microsoft Sans Serif"/>
                <a:cs typeface="Microsoft Sans Serif"/>
              </a:rPr>
              <a:t>Power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5">
                <a:solidFill>
                  <a:srgbClr val="705C4E"/>
                </a:solidFill>
                <a:latin typeface="Microsoft Sans Serif"/>
                <a:cs typeface="Microsoft Sans Serif"/>
              </a:rPr>
              <a:t>BI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Data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cleaned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and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0">
                <a:solidFill>
                  <a:srgbClr val="705C4E"/>
                </a:solidFill>
                <a:latin typeface="Microsoft Sans Serif"/>
                <a:cs typeface="Microsoft Sans Serif"/>
              </a:rPr>
              <a:t>transformed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using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55">
                <a:solidFill>
                  <a:srgbClr val="705C4E"/>
                </a:solidFill>
                <a:latin typeface="Microsoft Sans Serif"/>
                <a:cs typeface="Microsoft Sans Serif"/>
              </a:rPr>
              <a:t>Power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Query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data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model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built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using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fact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&amp;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dimension</a:t>
            </a:r>
            <a:r>
              <a:rPr dirty="0" sz="2950" spc="-14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tables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 spc="-20">
                <a:solidFill>
                  <a:srgbClr val="705C4E"/>
                </a:solidFill>
                <a:latin typeface="Microsoft Sans Serif"/>
                <a:cs typeface="Microsoft Sans Serif"/>
              </a:rPr>
              <a:t>Relationships</a:t>
            </a:r>
            <a:r>
              <a:rPr dirty="0" sz="2950" spc="-16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created</a:t>
            </a:r>
            <a:r>
              <a:rPr dirty="0" sz="2950" spc="-15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for</a:t>
            </a:r>
            <a:r>
              <a:rPr dirty="0" sz="2950" spc="-15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structured</a:t>
            </a:r>
            <a:r>
              <a:rPr dirty="0" sz="2950" spc="-16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reporting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SQL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used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for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advanced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querying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and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validation</a:t>
            </a:r>
            <a:endParaRPr sz="2950">
              <a:latin typeface="Microsoft Sans Serif"/>
              <a:cs typeface="Microsoft Sans Serif"/>
            </a:endParaRPr>
          </a:p>
          <a:p>
            <a:pPr marL="876300" indent="-238125">
              <a:lnSpc>
                <a:spcPct val="100000"/>
              </a:lnSpc>
              <a:spcBef>
                <a:spcPts val="550"/>
              </a:spcBef>
              <a:buChar char="•"/>
              <a:tabLst>
                <a:tab pos="876300" algn="l"/>
              </a:tabLst>
            </a:pP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KPIs</a:t>
            </a:r>
            <a:r>
              <a:rPr dirty="0" sz="2950" spc="-140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and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0">
                <a:solidFill>
                  <a:srgbClr val="705C4E"/>
                </a:solidFill>
                <a:latin typeface="Microsoft Sans Serif"/>
                <a:cs typeface="Microsoft Sans Serif"/>
              </a:rPr>
              <a:t>forecasting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logic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10">
                <a:solidFill>
                  <a:srgbClr val="705C4E"/>
                </a:solidFill>
                <a:latin typeface="Microsoft Sans Serif"/>
                <a:cs typeface="Microsoft Sans Serif"/>
              </a:rPr>
              <a:t>implemented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>
                <a:solidFill>
                  <a:srgbClr val="705C4E"/>
                </a:solidFill>
                <a:latin typeface="Microsoft Sans Serif"/>
                <a:cs typeface="Microsoft Sans Serif"/>
              </a:rPr>
              <a:t>using</a:t>
            </a:r>
            <a:r>
              <a:rPr dirty="0" sz="2950" spc="-135">
                <a:solidFill>
                  <a:srgbClr val="705C4E"/>
                </a:solidFill>
                <a:latin typeface="Microsoft Sans Serif"/>
                <a:cs typeface="Microsoft Sans Serif"/>
              </a:rPr>
              <a:t> </a:t>
            </a:r>
            <a:r>
              <a:rPr dirty="0" sz="2950" spc="-25">
                <a:solidFill>
                  <a:srgbClr val="705C4E"/>
                </a:solidFill>
                <a:latin typeface="Microsoft Sans Serif"/>
                <a:cs typeface="Microsoft Sans Serif"/>
              </a:rPr>
              <a:t>DAX</a:t>
            </a:r>
            <a:endParaRPr sz="2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53398" y="290464"/>
            <a:ext cx="17367250" cy="1315720"/>
          </a:xfrm>
          <a:custGeom>
            <a:avLst/>
            <a:gdLst/>
            <a:ahLst/>
            <a:cxnLst/>
            <a:rect l="l" t="t" r="r" b="b"/>
            <a:pathLst>
              <a:path w="17367250" h="1315720">
                <a:moveTo>
                  <a:pt x="16708947" y="1315441"/>
                </a:moveTo>
                <a:lnTo>
                  <a:pt x="657720" y="1315441"/>
                </a:lnTo>
                <a:lnTo>
                  <a:pt x="605640" y="1313377"/>
                </a:lnTo>
                <a:lnTo>
                  <a:pt x="554209" y="1307247"/>
                </a:lnTo>
                <a:lnTo>
                  <a:pt x="503648" y="1297143"/>
                </a:lnTo>
                <a:lnTo>
                  <a:pt x="454179" y="1283155"/>
                </a:lnTo>
                <a:lnTo>
                  <a:pt x="406021" y="1265375"/>
                </a:lnTo>
                <a:lnTo>
                  <a:pt x="359397" y="1243895"/>
                </a:lnTo>
                <a:lnTo>
                  <a:pt x="314525" y="1218805"/>
                </a:lnTo>
                <a:lnTo>
                  <a:pt x="271629" y="1190199"/>
                </a:lnTo>
                <a:lnTo>
                  <a:pt x="230927" y="1158166"/>
                </a:lnTo>
                <a:lnTo>
                  <a:pt x="192641" y="1122799"/>
                </a:lnTo>
                <a:lnTo>
                  <a:pt x="157274" y="1084513"/>
                </a:lnTo>
                <a:lnTo>
                  <a:pt x="125242" y="1043812"/>
                </a:lnTo>
                <a:lnTo>
                  <a:pt x="96635" y="1000915"/>
                </a:lnTo>
                <a:lnTo>
                  <a:pt x="71546" y="956044"/>
                </a:lnTo>
                <a:lnTo>
                  <a:pt x="50066" y="909419"/>
                </a:lnTo>
                <a:lnTo>
                  <a:pt x="32286" y="861261"/>
                </a:lnTo>
                <a:lnTo>
                  <a:pt x="18298" y="811792"/>
                </a:lnTo>
                <a:lnTo>
                  <a:pt x="8193" y="761231"/>
                </a:lnTo>
                <a:lnTo>
                  <a:pt x="2063" y="709801"/>
                </a:lnTo>
                <a:lnTo>
                  <a:pt x="0" y="657720"/>
                </a:lnTo>
                <a:lnTo>
                  <a:pt x="2063" y="605640"/>
                </a:lnTo>
                <a:lnTo>
                  <a:pt x="8193" y="554209"/>
                </a:lnTo>
                <a:lnTo>
                  <a:pt x="18298" y="503648"/>
                </a:lnTo>
                <a:lnTo>
                  <a:pt x="32286" y="454179"/>
                </a:lnTo>
                <a:lnTo>
                  <a:pt x="50066" y="406021"/>
                </a:lnTo>
                <a:lnTo>
                  <a:pt x="71546" y="359397"/>
                </a:lnTo>
                <a:lnTo>
                  <a:pt x="96635" y="314525"/>
                </a:lnTo>
                <a:lnTo>
                  <a:pt x="125242" y="271629"/>
                </a:lnTo>
                <a:lnTo>
                  <a:pt x="157274" y="230927"/>
                </a:lnTo>
                <a:lnTo>
                  <a:pt x="192641" y="192641"/>
                </a:lnTo>
                <a:lnTo>
                  <a:pt x="230927" y="157274"/>
                </a:lnTo>
                <a:lnTo>
                  <a:pt x="271629" y="125242"/>
                </a:lnTo>
                <a:lnTo>
                  <a:pt x="314525" y="96635"/>
                </a:lnTo>
                <a:lnTo>
                  <a:pt x="359397" y="71546"/>
                </a:lnTo>
                <a:lnTo>
                  <a:pt x="406021" y="50066"/>
                </a:lnTo>
                <a:lnTo>
                  <a:pt x="454179" y="32286"/>
                </a:lnTo>
                <a:lnTo>
                  <a:pt x="503648" y="18298"/>
                </a:lnTo>
                <a:lnTo>
                  <a:pt x="554209" y="8193"/>
                </a:lnTo>
                <a:lnTo>
                  <a:pt x="605640" y="2063"/>
                </a:lnTo>
                <a:lnTo>
                  <a:pt x="657720" y="0"/>
                </a:lnTo>
                <a:lnTo>
                  <a:pt x="16708947" y="0"/>
                </a:lnTo>
                <a:lnTo>
                  <a:pt x="16761027" y="2063"/>
                </a:lnTo>
                <a:lnTo>
                  <a:pt x="16812458" y="8193"/>
                </a:lnTo>
                <a:lnTo>
                  <a:pt x="16863018" y="18298"/>
                </a:lnTo>
                <a:lnTo>
                  <a:pt x="16912487" y="32286"/>
                </a:lnTo>
                <a:lnTo>
                  <a:pt x="16960645" y="50066"/>
                </a:lnTo>
                <a:lnTo>
                  <a:pt x="17007270" y="71546"/>
                </a:lnTo>
                <a:lnTo>
                  <a:pt x="17052141" y="96635"/>
                </a:lnTo>
                <a:lnTo>
                  <a:pt x="17095038" y="125242"/>
                </a:lnTo>
                <a:lnTo>
                  <a:pt x="17135739" y="157274"/>
                </a:lnTo>
                <a:lnTo>
                  <a:pt x="17174025" y="192641"/>
                </a:lnTo>
                <a:lnTo>
                  <a:pt x="17209392" y="230927"/>
                </a:lnTo>
                <a:lnTo>
                  <a:pt x="17241425" y="271629"/>
                </a:lnTo>
                <a:lnTo>
                  <a:pt x="17270031" y="314525"/>
                </a:lnTo>
                <a:lnTo>
                  <a:pt x="17295121" y="359397"/>
                </a:lnTo>
                <a:lnTo>
                  <a:pt x="17316601" y="406021"/>
                </a:lnTo>
                <a:lnTo>
                  <a:pt x="17334381" y="454179"/>
                </a:lnTo>
                <a:lnTo>
                  <a:pt x="17348369" y="503648"/>
                </a:lnTo>
                <a:lnTo>
                  <a:pt x="17358474" y="554209"/>
                </a:lnTo>
                <a:lnTo>
                  <a:pt x="17364604" y="605640"/>
                </a:lnTo>
                <a:lnTo>
                  <a:pt x="17366668" y="657720"/>
                </a:lnTo>
                <a:lnTo>
                  <a:pt x="17364604" y="709801"/>
                </a:lnTo>
                <a:lnTo>
                  <a:pt x="17358474" y="761231"/>
                </a:lnTo>
                <a:lnTo>
                  <a:pt x="17348369" y="811792"/>
                </a:lnTo>
                <a:lnTo>
                  <a:pt x="17334381" y="861261"/>
                </a:lnTo>
                <a:lnTo>
                  <a:pt x="17316601" y="909419"/>
                </a:lnTo>
                <a:lnTo>
                  <a:pt x="17295121" y="956044"/>
                </a:lnTo>
                <a:lnTo>
                  <a:pt x="17270031" y="1000915"/>
                </a:lnTo>
                <a:lnTo>
                  <a:pt x="17241425" y="1043812"/>
                </a:lnTo>
                <a:lnTo>
                  <a:pt x="17209392" y="1084513"/>
                </a:lnTo>
                <a:lnTo>
                  <a:pt x="17174025" y="1122799"/>
                </a:lnTo>
                <a:lnTo>
                  <a:pt x="17135739" y="1158166"/>
                </a:lnTo>
                <a:lnTo>
                  <a:pt x="17095038" y="1190199"/>
                </a:lnTo>
                <a:lnTo>
                  <a:pt x="17052141" y="1218805"/>
                </a:lnTo>
                <a:lnTo>
                  <a:pt x="17007270" y="1243895"/>
                </a:lnTo>
                <a:lnTo>
                  <a:pt x="16960645" y="1265375"/>
                </a:lnTo>
                <a:lnTo>
                  <a:pt x="16912487" y="1283155"/>
                </a:lnTo>
                <a:lnTo>
                  <a:pt x="16863018" y="1297143"/>
                </a:lnTo>
                <a:lnTo>
                  <a:pt x="16812458" y="1307247"/>
                </a:lnTo>
                <a:lnTo>
                  <a:pt x="16761027" y="1313377"/>
                </a:lnTo>
                <a:lnTo>
                  <a:pt x="16708947" y="1315441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74442" y="2006626"/>
            <a:ext cx="4780915" cy="1350010"/>
            <a:chOff x="774442" y="2006626"/>
            <a:chExt cx="4780915" cy="1350010"/>
          </a:xfrm>
        </p:grpSpPr>
        <p:sp>
          <p:nvSpPr>
            <p:cNvPr id="4" name="object 4" descr=""/>
            <p:cNvSpPr/>
            <p:nvPr/>
          </p:nvSpPr>
          <p:spPr>
            <a:xfrm>
              <a:off x="821917" y="2054250"/>
              <a:ext cx="4685665" cy="1257300"/>
            </a:xfrm>
            <a:custGeom>
              <a:avLst/>
              <a:gdLst/>
              <a:ahLst/>
              <a:cxnLst/>
              <a:rect l="l" t="t" r="r" b="b"/>
              <a:pathLst>
                <a:path w="4685665" h="1257300">
                  <a:moveTo>
                    <a:pt x="4493417" y="1256987"/>
                  </a:moveTo>
                  <a:lnTo>
                    <a:pt x="190209" y="1250422"/>
                  </a:lnTo>
                  <a:lnTo>
                    <a:pt x="117330" y="1235810"/>
                  </a:lnTo>
                  <a:lnTo>
                    <a:pt x="55590" y="1194421"/>
                  </a:lnTo>
                  <a:lnTo>
                    <a:pt x="14389" y="1132555"/>
                  </a:lnTo>
                  <a:lnTo>
                    <a:pt x="0" y="1059632"/>
                  </a:lnTo>
                  <a:lnTo>
                    <a:pt x="1326" y="190209"/>
                  </a:lnTo>
                  <a:lnTo>
                    <a:pt x="15938" y="117330"/>
                  </a:lnTo>
                  <a:lnTo>
                    <a:pt x="57327" y="55590"/>
                  </a:lnTo>
                  <a:lnTo>
                    <a:pt x="119193" y="14389"/>
                  </a:lnTo>
                  <a:lnTo>
                    <a:pt x="192116" y="0"/>
                  </a:lnTo>
                  <a:lnTo>
                    <a:pt x="4495324" y="6564"/>
                  </a:lnTo>
                  <a:lnTo>
                    <a:pt x="4568203" y="21176"/>
                  </a:lnTo>
                  <a:lnTo>
                    <a:pt x="4629943" y="62566"/>
                  </a:lnTo>
                  <a:lnTo>
                    <a:pt x="4671144" y="124431"/>
                  </a:lnTo>
                  <a:lnTo>
                    <a:pt x="4685526" y="197354"/>
                  </a:lnTo>
                  <a:lnTo>
                    <a:pt x="4684200" y="1066777"/>
                  </a:lnTo>
                  <a:lnTo>
                    <a:pt x="4669595" y="1139656"/>
                  </a:lnTo>
                  <a:lnTo>
                    <a:pt x="4628206" y="1201396"/>
                  </a:lnTo>
                  <a:lnTo>
                    <a:pt x="4566340" y="1242597"/>
                  </a:lnTo>
                  <a:lnTo>
                    <a:pt x="4493417" y="1256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2067" y="2054251"/>
              <a:ext cx="4685665" cy="1254760"/>
            </a:xfrm>
            <a:custGeom>
              <a:avLst/>
              <a:gdLst/>
              <a:ahLst/>
              <a:cxnLst/>
              <a:rect l="l" t="t" r="r" b="b"/>
              <a:pathLst>
                <a:path w="4685665" h="1254760">
                  <a:moveTo>
                    <a:pt x="164622" y="1247734"/>
                  </a:moveTo>
                  <a:lnTo>
                    <a:pt x="117318" y="1235692"/>
                  </a:lnTo>
                  <a:lnTo>
                    <a:pt x="55585" y="1194307"/>
                  </a:lnTo>
                  <a:lnTo>
                    <a:pt x="14388" y="1132447"/>
                  </a:lnTo>
                  <a:lnTo>
                    <a:pt x="0" y="1059531"/>
                  </a:lnTo>
                  <a:lnTo>
                    <a:pt x="1326" y="190190"/>
                  </a:lnTo>
                  <a:lnTo>
                    <a:pt x="15936" y="117318"/>
                  </a:lnTo>
                  <a:lnTo>
                    <a:pt x="57322" y="55585"/>
                  </a:lnTo>
                  <a:lnTo>
                    <a:pt x="119182" y="14388"/>
                  </a:lnTo>
                  <a:lnTo>
                    <a:pt x="192098" y="0"/>
                  </a:lnTo>
                  <a:lnTo>
                    <a:pt x="4494896" y="6563"/>
                  </a:lnTo>
                  <a:lnTo>
                    <a:pt x="4567768" y="21174"/>
                  </a:lnTo>
                  <a:lnTo>
                    <a:pt x="4629502" y="62560"/>
                  </a:lnTo>
                  <a:lnTo>
                    <a:pt x="4670698" y="124419"/>
                  </a:lnTo>
                  <a:lnTo>
                    <a:pt x="4685087" y="197335"/>
                  </a:lnTo>
                  <a:lnTo>
                    <a:pt x="4683761" y="1066676"/>
                  </a:lnTo>
                  <a:lnTo>
                    <a:pt x="4669150" y="1139548"/>
                  </a:lnTo>
                  <a:lnTo>
                    <a:pt x="4627765" y="1201281"/>
                  </a:lnTo>
                  <a:lnTo>
                    <a:pt x="4565905" y="1242478"/>
                  </a:lnTo>
                  <a:lnTo>
                    <a:pt x="4530329" y="1253230"/>
                  </a:lnTo>
                  <a:lnTo>
                    <a:pt x="4518563" y="1254376"/>
                  </a:lnTo>
                </a:path>
              </a:pathLst>
            </a:custGeom>
            <a:ln w="9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50526" y="2328389"/>
            <a:ext cx="4227830" cy="65595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46990">
              <a:lnSpc>
                <a:spcPct val="100000"/>
              </a:lnSpc>
              <a:spcBef>
                <a:spcPts val="420"/>
              </a:spcBef>
            </a:pPr>
            <a:r>
              <a:rPr dirty="0" sz="1800" spc="-10">
                <a:latin typeface="Microsoft Sans Serif"/>
                <a:cs typeface="Microsoft Sans Serif"/>
              </a:rPr>
              <a:t>Excel</a:t>
            </a:r>
            <a:r>
              <a:rPr dirty="0" sz="1800" spc="-9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Source</a:t>
            </a:r>
            <a:r>
              <a:rPr dirty="0" sz="1800" spc="-9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Files</a:t>
            </a:r>
            <a:endParaRPr sz="18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baseline="1543" sz="2700" spc="-37">
                <a:latin typeface="Microsoft Sans Serif"/>
                <a:cs typeface="Microsoft Sans Serif"/>
              </a:rPr>
              <a:t>(Events,</a:t>
            </a:r>
            <a:r>
              <a:rPr dirty="0" baseline="1543" sz="2700" spc="-75">
                <a:latin typeface="Microsoft Sans Serif"/>
                <a:cs typeface="Microsoft Sans Serif"/>
              </a:rPr>
              <a:t> </a:t>
            </a:r>
            <a:r>
              <a:rPr dirty="0" baseline="1543" sz="2700">
                <a:latin typeface="Microsoft Sans Serif"/>
                <a:cs typeface="Microsoft Sans Serif"/>
              </a:rPr>
              <a:t>Lots</a:t>
            </a:r>
            <a:r>
              <a:rPr dirty="0" sz="1800">
                <a:latin typeface="Microsoft Sans Serif"/>
                <a:cs typeface="Microsoft Sans Serif"/>
              </a:rPr>
              <a:t>,</a:t>
            </a:r>
            <a:r>
              <a:rPr dirty="0" sz="1800" spc="-4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Slots,</a:t>
            </a:r>
            <a:r>
              <a:rPr dirty="0" sz="1800" spc="-50">
                <a:latin typeface="Microsoft Sans Serif"/>
                <a:cs typeface="Microsoft Sans Serif"/>
              </a:rPr>
              <a:t> </a:t>
            </a:r>
            <a:r>
              <a:rPr dirty="0" sz="1800" spc="-40">
                <a:latin typeface="Microsoft Sans Serif"/>
                <a:cs typeface="Microsoft Sans Serif"/>
              </a:rPr>
              <a:t>Payments,</a:t>
            </a:r>
            <a:r>
              <a:rPr dirty="0" sz="1800" spc="-13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Violations)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74168" y="4956453"/>
            <a:ext cx="4780915" cy="1343025"/>
            <a:chOff x="774168" y="4956453"/>
            <a:chExt cx="4780915" cy="1343025"/>
          </a:xfrm>
        </p:grpSpPr>
        <p:sp>
          <p:nvSpPr>
            <p:cNvPr id="8" name="object 8" descr=""/>
            <p:cNvSpPr/>
            <p:nvPr/>
          </p:nvSpPr>
          <p:spPr>
            <a:xfrm>
              <a:off x="821626" y="5004078"/>
              <a:ext cx="4684395" cy="1250950"/>
            </a:xfrm>
            <a:custGeom>
              <a:avLst/>
              <a:gdLst/>
              <a:ahLst/>
              <a:cxnLst/>
              <a:rect l="l" t="t" r="r" b="b"/>
              <a:pathLst>
                <a:path w="4684395" h="1250950">
                  <a:moveTo>
                    <a:pt x="4495615" y="1250424"/>
                  </a:moveTo>
                  <a:lnTo>
                    <a:pt x="190499" y="1250424"/>
                  </a:lnTo>
                  <a:lnTo>
                    <a:pt x="153161" y="1246730"/>
                  </a:lnTo>
                  <a:lnTo>
                    <a:pt x="84810" y="1218417"/>
                  </a:lnTo>
                  <a:lnTo>
                    <a:pt x="32006" y="1165613"/>
                  </a:lnTo>
                  <a:lnTo>
                    <a:pt x="3694" y="1097262"/>
                  </a:lnTo>
                  <a:lnTo>
                    <a:pt x="0" y="1059924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8" y="14501"/>
                  </a:lnTo>
                  <a:lnTo>
                    <a:pt x="190499" y="0"/>
                  </a:lnTo>
                  <a:lnTo>
                    <a:pt x="4495615" y="0"/>
                  </a:lnTo>
                  <a:lnTo>
                    <a:pt x="4568516" y="14501"/>
                  </a:lnTo>
                  <a:lnTo>
                    <a:pt x="4630319" y="55796"/>
                  </a:lnTo>
                  <a:lnTo>
                    <a:pt x="4671614" y="117598"/>
                  </a:lnTo>
                  <a:lnTo>
                    <a:pt x="4684205" y="171199"/>
                  </a:lnTo>
                  <a:lnTo>
                    <a:pt x="4684205" y="1079224"/>
                  </a:lnTo>
                  <a:lnTo>
                    <a:pt x="4671614" y="1132825"/>
                  </a:lnTo>
                  <a:lnTo>
                    <a:pt x="4630319" y="1194628"/>
                  </a:lnTo>
                  <a:lnTo>
                    <a:pt x="4568516" y="1235923"/>
                  </a:lnTo>
                  <a:lnTo>
                    <a:pt x="4495615" y="125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21793" y="5004078"/>
              <a:ext cx="4685665" cy="1247775"/>
            </a:xfrm>
            <a:custGeom>
              <a:avLst/>
              <a:gdLst/>
              <a:ahLst/>
              <a:cxnLst/>
              <a:rect l="l" t="t" r="r" b="b"/>
              <a:pathLst>
                <a:path w="4685665" h="1247775">
                  <a:moveTo>
                    <a:pt x="164909" y="1247775"/>
                  </a:moveTo>
                  <a:lnTo>
                    <a:pt x="117587" y="1235805"/>
                  </a:lnTo>
                  <a:lnTo>
                    <a:pt x="55790" y="1194514"/>
                  </a:lnTo>
                  <a:lnTo>
                    <a:pt x="14499" y="1132717"/>
                  </a:lnTo>
                  <a:lnTo>
                    <a:pt x="0" y="1059823"/>
                  </a:lnTo>
                  <a:lnTo>
                    <a:pt x="0" y="190481"/>
                  </a:lnTo>
                  <a:lnTo>
                    <a:pt x="3693" y="153147"/>
                  </a:lnTo>
                  <a:lnTo>
                    <a:pt x="32003" y="84802"/>
                  </a:lnTo>
                  <a:lnTo>
                    <a:pt x="84802" y="32003"/>
                  </a:lnTo>
                  <a:lnTo>
                    <a:pt x="153147" y="3693"/>
                  </a:lnTo>
                  <a:lnTo>
                    <a:pt x="190481" y="0"/>
                  </a:lnTo>
                  <a:lnTo>
                    <a:pt x="4495187" y="0"/>
                  </a:lnTo>
                  <a:lnTo>
                    <a:pt x="4568081" y="14499"/>
                  </a:lnTo>
                  <a:lnTo>
                    <a:pt x="4629878" y="55790"/>
                  </a:lnTo>
                  <a:lnTo>
                    <a:pt x="4671169" y="117587"/>
                  </a:lnTo>
                  <a:lnTo>
                    <a:pt x="4685669" y="190481"/>
                  </a:lnTo>
                  <a:lnTo>
                    <a:pt x="4685669" y="1059823"/>
                  </a:lnTo>
                  <a:lnTo>
                    <a:pt x="4681975" y="1097157"/>
                  </a:lnTo>
                  <a:lnTo>
                    <a:pt x="4653666" y="1165502"/>
                  </a:lnTo>
                  <a:lnTo>
                    <a:pt x="4600867" y="1218301"/>
                  </a:lnTo>
                  <a:lnTo>
                    <a:pt x="4532522" y="1246611"/>
                  </a:lnTo>
                  <a:lnTo>
                    <a:pt x="4520759" y="1247774"/>
                  </a:lnTo>
                </a:path>
              </a:pathLst>
            </a:custGeom>
            <a:ln w="95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515562" y="5275223"/>
            <a:ext cx="3354070" cy="6540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415"/>
              </a:spcBef>
            </a:pPr>
            <a:r>
              <a:rPr dirty="0" sz="1800" spc="-35">
                <a:latin typeface="Microsoft Sans Serif"/>
                <a:cs typeface="Microsoft Sans Serif"/>
              </a:rPr>
              <a:t>Power</a:t>
            </a:r>
            <a:r>
              <a:rPr dirty="0" sz="1800" spc="-7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BI</a:t>
            </a:r>
            <a:r>
              <a:rPr dirty="0" sz="1800" spc="-7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-</a:t>
            </a:r>
            <a:r>
              <a:rPr dirty="0" sz="1800" spc="-70">
                <a:latin typeface="Microsoft Sans Serif"/>
                <a:cs typeface="Microsoft Sans Serif"/>
              </a:rPr>
              <a:t> </a:t>
            </a:r>
            <a:r>
              <a:rPr dirty="0" sz="1800" spc="-35">
                <a:latin typeface="Microsoft Sans Serif"/>
                <a:cs typeface="Microsoft Sans Serif"/>
              </a:rPr>
              <a:t>Power</a:t>
            </a:r>
            <a:r>
              <a:rPr dirty="0" sz="1800" spc="-70">
                <a:latin typeface="Microsoft Sans Serif"/>
                <a:cs typeface="Microsoft Sans Serif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Query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latin typeface="Microsoft Sans Serif"/>
                <a:cs typeface="Microsoft Sans Serif"/>
              </a:rPr>
              <a:t>(Data</a:t>
            </a:r>
            <a:r>
              <a:rPr dirty="0" sz="1800" spc="-114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Cleaning</a:t>
            </a:r>
            <a:r>
              <a:rPr dirty="0" sz="1800" spc="-75">
                <a:latin typeface="Microsoft Sans Serif"/>
                <a:cs typeface="Microsoft Sans Serif"/>
              </a:rPr>
              <a:t> </a:t>
            </a:r>
            <a:r>
              <a:rPr dirty="0" sz="1800" spc="-30">
                <a:latin typeface="Microsoft Sans Serif"/>
                <a:cs typeface="Microsoft Sans Serif"/>
              </a:rPr>
              <a:t>&amp;</a:t>
            </a:r>
            <a:r>
              <a:rPr dirty="0" sz="1800" spc="-130">
                <a:latin typeface="Microsoft Sans Serif"/>
                <a:cs typeface="Microsoft Sans Serif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Transformation)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3487148" y="4965978"/>
            <a:ext cx="4780915" cy="1343025"/>
            <a:chOff x="13487148" y="4965978"/>
            <a:chExt cx="4780915" cy="1343025"/>
          </a:xfrm>
        </p:grpSpPr>
        <p:sp>
          <p:nvSpPr>
            <p:cNvPr id="12" name="object 12" descr=""/>
            <p:cNvSpPr/>
            <p:nvPr/>
          </p:nvSpPr>
          <p:spPr>
            <a:xfrm>
              <a:off x="13534606" y="5013603"/>
              <a:ext cx="4684395" cy="1250950"/>
            </a:xfrm>
            <a:custGeom>
              <a:avLst/>
              <a:gdLst/>
              <a:ahLst/>
              <a:cxnLst/>
              <a:rect l="l" t="t" r="r" b="b"/>
              <a:pathLst>
                <a:path w="4684394" h="1250950">
                  <a:moveTo>
                    <a:pt x="4495615" y="1250424"/>
                  </a:moveTo>
                  <a:lnTo>
                    <a:pt x="190500" y="1250424"/>
                  </a:lnTo>
                  <a:lnTo>
                    <a:pt x="153161" y="1246730"/>
                  </a:lnTo>
                  <a:lnTo>
                    <a:pt x="84810" y="1218417"/>
                  </a:lnTo>
                  <a:lnTo>
                    <a:pt x="32006" y="1165613"/>
                  </a:lnTo>
                  <a:lnTo>
                    <a:pt x="3694" y="1097262"/>
                  </a:lnTo>
                  <a:lnTo>
                    <a:pt x="0" y="1059924"/>
                  </a:lnTo>
                  <a:lnTo>
                    <a:pt x="0" y="190500"/>
                  </a:lnTo>
                  <a:lnTo>
                    <a:pt x="14501" y="117598"/>
                  </a:lnTo>
                  <a:lnTo>
                    <a:pt x="55796" y="55796"/>
                  </a:lnTo>
                  <a:lnTo>
                    <a:pt x="117598" y="14501"/>
                  </a:lnTo>
                  <a:lnTo>
                    <a:pt x="190500" y="0"/>
                  </a:lnTo>
                  <a:lnTo>
                    <a:pt x="4495615" y="0"/>
                  </a:lnTo>
                  <a:lnTo>
                    <a:pt x="4532953" y="3694"/>
                  </a:lnTo>
                  <a:lnTo>
                    <a:pt x="4601305" y="32006"/>
                  </a:lnTo>
                  <a:lnTo>
                    <a:pt x="4654109" y="84810"/>
                  </a:lnTo>
                  <a:lnTo>
                    <a:pt x="4682421" y="153161"/>
                  </a:lnTo>
                  <a:lnTo>
                    <a:pt x="4684205" y="171197"/>
                  </a:lnTo>
                  <a:lnTo>
                    <a:pt x="4684205" y="1079226"/>
                  </a:lnTo>
                  <a:lnTo>
                    <a:pt x="4671614" y="1132825"/>
                  </a:lnTo>
                  <a:lnTo>
                    <a:pt x="4630319" y="1194628"/>
                  </a:lnTo>
                  <a:lnTo>
                    <a:pt x="4568516" y="1235923"/>
                  </a:lnTo>
                  <a:lnTo>
                    <a:pt x="4495615" y="125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3534773" y="5013603"/>
              <a:ext cx="4685665" cy="1247775"/>
            </a:xfrm>
            <a:custGeom>
              <a:avLst/>
              <a:gdLst/>
              <a:ahLst/>
              <a:cxnLst/>
              <a:rect l="l" t="t" r="r" b="b"/>
              <a:pathLst>
                <a:path w="4685665" h="1247775">
                  <a:moveTo>
                    <a:pt x="164909" y="1247775"/>
                  </a:moveTo>
                  <a:lnTo>
                    <a:pt x="117587" y="1235805"/>
                  </a:lnTo>
                  <a:lnTo>
                    <a:pt x="55790" y="1194513"/>
                  </a:lnTo>
                  <a:lnTo>
                    <a:pt x="14499" y="1132717"/>
                  </a:lnTo>
                  <a:lnTo>
                    <a:pt x="0" y="1059823"/>
                  </a:lnTo>
                  <a:lnTo>
                    <a:pt x="0" y="190481"/>
                  </a:lnTo>
                  <a:lnTo>
                    <a:pt x="3693" y="153147"/>
                  </a:lnTo>
                  <a:lnTo>
                    <a:pt x="32003" y="84802"/>
                  </a:lnTo>
                  <a:lnTo>
                    <a:pt x="84802" y="32003"/>
                  </a:lnTo>
                  <a:lnTo>
                    <a:pt x="153146" y="3693"/>
                  </a:lnTo>
                  <a:lnTo>
                    <a:pt x="190481" y="0"/>
                  </a:lnTo>
                  <a:lnTo>
                    <a:pt x="4495187" y="0"/>
                  </a:lnTo>
                  <a:lnTo>
                    <a:pt x="4568081" y="14499"/>
                  </a:lnTo>
                  <a:lnTo>
                    <a:pt x="4629878" y="55790"/>
                  </a:lnTo>
                  <a:lnTo>
                    <a:pt x="4671170" y="117587"/>
                  </a:lnTo>
                  <a:lnTo>
                    <a:pt x="4685670" y="190481"/>
                  </a:lnTo>
                  <a:lnTo>
                    <a:pt x="4685670" y="1059823"/>
                  </a:lnTo>
                  <a:lnTo>
                    <a:pt x="4671170" y="1132717"/>
                  </a:lnTo>
                  <a:lnTo>
                    <a:pt x="4629878" y="1194514"/>
                  </a:lnTo>
                  <a:lnTo>
                    <a:pt x="4568081" y="1235805"/>
                  </a:lnTo>
                  <a:lnTo>
                    <a:pt x="4520760" y="1247774"/>
                  </a:lnTo>
                </a:path>
              </a:pathLst>
            </a:custGeom>
            <a:ln w="9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3886684" y="5477153"/>
            <a:ext cx="39820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Microsoft Sans Serif"/>
                <a:cs typeface="Microsoft Sans Serif"/>
              </a:rPr>
              <a:t>DAX</a:t>
            </a:r>
            <a:r>
              <a:rPr dirty="0" sz="1800" spc="-7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Measures</a:t>
            </a:r>
            <a:r>
              <a:rPr dirty="0" sz="1800" spc="-7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&amp;</a:t>
            </a:r>
            <a:r>
              <a:rPr dirty="0" sz="1800" spc="-75">
                <a:latin typeface="Microsoft Sans Serif"/>
                <a:cs typeface="Microsoft Sans Serif"/>
              </a:rPr>
              <a:t> </a:t>
            </a:r>
            <a:r>
              <a:rPr dirty="0" sz="1800" spc="-35">
                <a:latin typeface="Microsoft Sans Serif"/>
                <a:cs typeface="Microsoft Sans Serif"/>
              </a:rPr>
              <a:t>Power</a:t>
            </a:r>
            <a:r>
              <a:rPr dirty="0" sz="1800" spc="-7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BI</a:t>
            </a:r>
            <a:r>
              <a:rPr dirty="0" sz="1800" spc="-7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Dashboards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820502" y="6406900"/>
            <a:ext cx="152400" cy="1604010"/>
            <a:chOff x="15820502" y="6406900"/>
            <a:chExt cx="152400" cy="1604010"/>
          </a:xfrm>
        </p:grpSpPr>
        <p:sp>
          <p:nvSpPr>
            <p:cNvPr id="16" name="object 16" descr=""/>
            <p:cNvSpPr/>
            <p:nvPr/>
          </p:nvSpPr>
          <p:spPr>
            <a:xfrm>
              <a:off x="15896702" y="6406900"/>
              <a:ext cx="0" cy="1499235"/>
            </a:xfrm>
            <a:custGeom>
              <a:avLst/>
              <a:gdLst/>
              <a:ahLst/>
              <a:cxnLst/>
              <a:rect l="l" t="t" r="r" b="b"/>
              <a:pathLst>
                <a:path w="0" h="1499234">
                  <a:moveTo>
                    <a:pt x="0" y="0"/>
                  </a:moveTo>
                  <a:lnTo>
                    <a:pt x="0" y="1498871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20502" y="7896246"/>
              <a:ext cx="152399" cy="114299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3069403" y="3578125"/>
            <a:ext cx="152400" cy="1426210"/>
            <a:chOff x="3069403" y="3578125"/>
            <a:chExt cx="152400" cy="1426210"/>
          </a:xfrm>
        </p:grpSpPr>
        <p:sp>
          <p:nvSpPr>
            <p:cNvPr id="19" name="object 19" descr=""/>
            <p:cNvSpPr/>
            <p:nvPr/>
          </p:nvSpPr>
          <p:spPr>
            <a:xfrm>
              <a:off x="3145603" y="3578125"/>
              <a:ext cx="0" cy="1321435"/>
            </a:xfrm>
            <a:custGeom>
              <a:avLst/>
              <a:gdLst/>
              <a:ahLst/>
              <a:cxnLst/>
              <a:rect l="l" t="t" r="r" b="b"/>
              <a:pathLst>
                <a:path w="0" h="1321435">
                  <a:moveTo>
                    <a:pt x="0" y="0"/>
                  </a:moveTo>
                  <a:lnTo>
                    <a:pt x="0" y="132120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9403" y="4889809"/>
              <a:ext cx="152399" cy="114299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5787878" y="5561426"/>
            <a:ext cx="1538605" cy="152400"/>
            <a:chOff x="5787878" y="5561426"/>
            <a:chExt cx="1538605" cy="152400"/>
          </a:xfrm>
        </p:grpSpPr>
        <p:sp>
          <p:nvSpPr>
            <p:cNvPr id="22" name="object 22" descr=""/>
            <p:cNvSpPr/>
            <p:nvPr/>
          </p:nvSpPr>
          <p:spPr>
            <a:xfrm>
              <a:off x="5806928" y="5619766"/>
              <a:ext cx="1414780" cy="17780"/>
            </a:xfrm>
            <a:custGeom>
              <a:avLst/>
              <a:gdLst/>
              <a:ahLst/>
              <a:cxnLst/>
              <a:rect l="l" t="t" r="r" b="b"/>
              <a:pathLst>
                <a:path w="1414779" h="17779">
                  <a:moveTo>
                    <a:pt x="0" y="0"/>
                  </a:moveTo>
                  <a:lnTo>
                    <a:pt x="1414175" y="1773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0861" y="5561426"/>
              <a:ext cx="115010" cy="152391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292" rIns="0" bIns="0" rtlCol="0" vert="horz">
            <a:spAutoFit/>
          </a:bodyPr>
          <a:lstStyle/>
          <a:p>
            <a:pPr marL="1670685">
              <a:lnSpc>
                <a:spcPct val="100000"/>
              </a:lnSpc>
              <a:spcBef>
                <a:spcPts val="100"/>
              </a:spcBef>
            </a:pPr>
            <a:r>
              <a:rPr dirty="0" sz="6000" spc="-695"/>
              <a:t>D</a:t>
            </a:r>
            <a:r>
              <a:rPr dirty="0" sz="6000" spc="-1100"/>
              <a:t>A</a:t>
            </a:r>
            <a:r>
              <a:rPr dirty="0" sz="6000" spc="-1145"/>
              <a:t>T</a:t>
            </a:r>
            <a:r>
              <a:rPr dirty="0" sz="6000" spc="-440"/>
              <a:t>A</a:t>
            </a:r>
            <a:r>
              <a:rPr dirty="0" sz="6000" spc="-380"/>
              <a:t> </a:t>
            </a:r>
            <a:r>
              <a:rPr dirty="0" sz="6000" spc="-540"/>
              <a:t>ARCHITECTURE</a:t>
            </a:r>
            <a:endParaRPr sz="6000"/>
          </a:p>
        </p:txBody>
      </p:sp>
      <p:grpSp>
        <p:nvGrpSpPr>
          <p:cNvPr id="25" name="object 25" descr=""/>
          <p:cNvGrpSpPr/>
          <p:nvPr/>
        </p:nvGrpSpPr>
        <p:grpSpPr>
          <a:xfrm>
            <a:off x="7459432" y="4965978"/>
            <a:ext cx="4780915" cy="1343025"/>
            <a:chOff x="7459432" y="4965978"/>
            <a:chExt cx="4780915" cy="1343025"/>
          </a:xfrm>
        </p:grpSpPr>
        <p:sp>
          <p:nvSpPr>
            <p:cNvPr id="26" name="object 26" descr=""/>
            <p:cNvSpPr/>
            <p:nvPr/>
          </p:nvSpPr>
          <p:spPr>
            <a:xfrm>
              <a:off x="7506890" y="5013603"/>
              <a:ext cx="4684395" cy="1250950"/>
            </a:xfrm>
            <a:custGeom>
              <a:avLst/>
              <a:gdLst/>
              <a:ahLst/>
              <a:cxnLst/>
              <a:rect l="l" t="t" r="r" b="b"/>
              <a:pathLst>
                <a:path w="4684395" h="1250950">
                  <a:moveTo>
                    <a:pt x="4495615" y="1250424"/>
                  </a:moveTo>
                  <a:lnTo>
                    <a:pt x="190500" y="1250424"/>
                  </a:lnTo>
                  <a:lnTo>
                    <a:pt x="153161" y="1246730"/>
                  </a:lnTo>
                  <a:lnTo>
                    <a:pt x="84810" y="1218417"/>
                  </a:lnTo>
                  <a:lnTo>
                    <a:pt x="32006" y="1165613"/>
                  </a:lnTo>
                  <a:lnTo>
                    <a:pt x="3694" y="1097262"/>
                  </a:lnTo>
                  <a:lnTo>
                    <a:pt x="0" y="1059924"/>
                  </a:lnTo>
                  <a:lnTo>
                    <a:pt x="0" y="190500"/>
                  </a:lnTo>
                  <a:lnTo>
                    <a:pt x="14500" y="117598"/>
                  </a:lnTo>
                  <a:lnTo>
                    <a:pt x="55796" y="55796"/>
                  </a:lnTo>
                  <a:lnTo>
                    <a:pt x="117599" y="14501"/>
                  </a:lnTo>
                  <a:lnTo>
                    <a:pt x="190500" y="0"/>
                  </a:lnTo>
                  <a:lnTo>
                    <a:pt x="4495615" y="0"/>
                  </a:lnTo>
                  <a:lnTo>
                    <a:pt x="4532953" y="3694"/>
                  </a:lnTo>
                  <a:lnTo>
                    <a:pt x="4601305" y="32006"/>
                  </a:lnTo>
                  <a:lnTo>
                    <a:pt x="4654109" y="84810"/>
                  </a:lnTo>
                  <a:lnTo>
                    <a:pt x="4682421" y="153161"/>
                  </a:lnTo>
                  <a:lnTo>
                    <a:pt x="4684205" y="171197"/>
                  </a:lnTo>
                  <a:lnTo>
                    <a:pt x="4684205" y="1079227"/>
                  </a:lnTo>
                  <a:lnTo>
                    <a:pt x="4671614" y="1132825"/>
                  </a:lnTo>
                  <a:lnTo>
                    <a:pt x="4630319" y="1194628"/>
                  </a:lnTo>
                  <a:lnTo>
                    <a:pt x="4568516" y="1235923"/>
                  </a:lnTo>
                  <a:lnTo>
                    <a:pt x="4495615" y="125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507057" y="5013603"/>
              <a:ext cx="4685665" cy="1247775"/>
            </a:xfrm>
            <a:custGeom>
              <a:avLst/>
              <a:gdLst/>
              <a:ahLst/>
              <a:cxnLst/>
              <a:rect l="l" t="t" r="r" b="b"/>
              <a:pathLst>
                <a:path w="4685665" h="1247775">
                  <a:moveTo>
                    <a:pt x="164909" y="1247775"/>
                  </a:moveTo>
                  <a:lnTo>
                    <a:pt x="117587" y="1235805"/>
                  </a:lnTo>
                  <a:lnTo>
                    <a:pt x="55790" y="1194513"/>
                  </a:lnTo>
                  <a:lnTo>
                    <a:pt x="14499" y="1132717"/>
                  </a:lnTo>
                  <a:lnTo>
                    <a:pt x="0" y="1059823"/>
                  </a:lnTo>
                  <a:lnTo>
                    <a:pt x="0" y="190481"/>
                  </a:lnTo>
                  <a:lnTo>
                    <a:pt x="3693" y="153147"/>
                  </a:lnTo>
                  <a:lnTo>
                    <a:pt x="32003" y="84802"/>
                  </a:lnTo>
                  <a:lnTo>
                    <a:pt x="84802" y="32003"/>
                  </a:lnTo>
                  <a:lnTo>
                    <a:pt x="153147" y="3693"/>
                  </a:lnTo>
                  <a:lnTo>
                    <a:pt x="190481" y="0"/>
                  </a:lnTo>
                  <a:lnTo>
                    <a:pt x="4495187" y="0"/>
                  </a:lnTo>
                  <a:lnTo>
                    <a:pt x="4568081" y="14499"/>
                  </a:lnTo>
                  <a:lnTo>
                    <a:pt x="4629879" y="55790"/>
                  </a:lnTo>
                  <a:lnTo>
                    <a:pt x="4671170" y="117587"/>
                  </a:lnTo>
                  <a:lnTo>
                    <a:pt x="4685669" y="190481"/>
                  </a:lnTo>
                  <a:lnTo>
                    <a:pt x="4685669" y="1059823"/>
                  </a:lnTo>
                  <a:lnTo>
                    <a:pt x="4681975" y="1097157"/>
                  </a:lnTo>
                  <a:lnTo>
                    <a:pt x="4653666" y="1165502"/>
                  </a:lnTo>
                  <a:lnTo>
                    <a:pt x="4600867" y="1218302"/>
                  </a:lnTo>
                  <a:lnTo>
                    <a:pt x="4532522" y="1246611"/>
                  </a:lnTo>
                  <a:lnTo>
                    <a:pt x="4520760" y="1247774"/>
                  </a:lnTo>
                </a:path>
              </a:pathLst>
            </a:custGeom>
            <a:ln w="95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423026" y="5122823"/>
            <a:ext cx="2853690" cy="65405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15"/>
              </a:spcBef>
            </a:pPr>
            <a:r>
              <a:rPr dirty="0" sz="1800">
                <a:latin typeface="Microsoft Sans Serif"/>
                <a:cs typeface="Microsoft Sans Serif"/>
              </a:rPr>
              <a:t>Analytical</a:t>
            </a:r>
            <a:r>
              <a:rPr dirty="0" sz="1800" spc="-9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Data</a:t>
            </a:r>
            <a:r>
              <a:rPr dirty="0" sz="1800" spc="-90">
                <a:latin typeface="Microsoft Sans Serif"/>
                <a:cs typeface="Microsoft Sans Serif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Model</a:t>
            </a:r>
            <a:endParaRPr sz="18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1800" spc="-10">
                <a:latin typeface="Microsoft Sans Serif"/>
                <a:cs typeface="Microsoft Sans Serif"/>
              </a:rPr>
              <a:t>(Relationships</a:t>
            </a:r>
            <a:r>
              <a:rPr dirty="0" sz="1800" spc="-4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+</a:t>
            </a:r>
            <a:r>
              <a:rPr dirty="0" sz="1800" spc="-4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Date</a:t>
            </a:r>
            <a:r>
              <a:rPr dirty="0" sz="1800" spc="-13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Table)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2283395" y="5553090"/>
            <a:ext cx="1165860" cy="152400"/>
            <a:chOff x="12283395" y="5553090"/>
            <a:chExt cx="1165860" cy="152400"/>
          </a:xfrm>
        </p:grpSpPr>
        <p:sp>
          <p:nvSpPr>
            <p:cNvPr id="30" name="object 30" descr=""/>
            <p:cNvSpPr/>
            <p:nvPr/>
          </p:nvSpPr>
          <p:spPr>
            <a:xfrm>
              <a:off x="12283395" y="5629290"/>
              <a:ext cx="1061085" cy="0"/>
            </a:xfrm>
            <a:custGeom>
              <a:avLst/>
              <a:gdLst/>
              <a:ahLst/>
              <a:cxnLst/>
              <a:rect l="l" t="t" r="r" b="b"/>
              <a:pathLst>
                <a:path w="1061084" h="0">
                  <a:moveTo>
                    <a:pt x="0" y="0"/>
                  </a:moveTo>
                  <a:lnTo>
                    <a:pt x="106071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34580" y="5553090"/>
              <a:ext cx="114299" cy="152399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13487423" y="8106062"/>
            <a:ext cx="4780915" cy="1350010"/>
            <a:chOff x="13487423" y="8106062"/>
            <a:chExt cx="4780915" cy="1350010"/>
          </a:xfrm>
        </p:grpSpPr>
        <p:sp>
          <p:nvSpPr>
            <p:cNvPr id="33" name="object 33" descr=""/>
            <p:cNvSpPr/>
            <p:nvPr/>
          </p:nvSpPr>
          <p:spPr>
            <a:xfrm>
              <a:off x="13534896" y="8153687"/>
              <a:ext cx="4685665" cy="1257300"/>
            </a:xfrm>
            <a:custGeom>
              <a:avLst/>
              <a:gdLst/>
              <a:ahLst/>
              <a:cxnLst/>
              <a:rect l="l" t="t" r="r" b="b"/>
              <a:pathLst>
                <a:path w="4685665" h="1257300">
                  <a:moveTo>
                    <a:pt x="4493417" y="1256987"/>
                  </a:moveTo>
                  <a:lnTo>
                    <a:pt x="190209" y="1250422"/>
                  </a:lnTo>
                  <a:lnTo>
                    <a:pt x="117330" y="1235810"/>
                  </a:lnTo>
                  <a:lnTo>
                    <a:pt x="55591" y="1194421"/>
                  </a:lnTo>
                  <a:lnTo>
                    <a:pt x="14390" y="1132555"/>
                  </a:lnTo>
                  <a:lnTo>
                    <a:pt x="0" y="1059632"/>
                  </a:lnTo>
                  <a:lnTo>
                    <a:pt x="1326" y="190209"/>
                  </a:lnTo>
                  <a:lnTo>
                    <a:pt x="15938" y="117330"/>
                  </a:lnTo>
                  <a:lnTo>
                    <a:pt x="57327" y="55590"/>
                  </a:lnTo>
                  <a:lnTo>
                    <a:pt x="119193" y="14389"/>
                  </a:lnTo>
                  <a:lnTo>
                    <a:pt x="192117" y="0"/>
                  </a:lnTo>
                  <a:lnTo>
                    <a:pt x="4495325" y="6564"/>
                  </a:lnTo>
                  <a:lnTo>
                    <a:pt x="4568204" y="21176"/>
                  </a:lnTo>
                  <a:lnTo>
                    <a:pt x="4629943" y="62566"/>
                  </a:lnTo>
                  <a:lnTo>
                    <a:pt x="4671144" y="124431"/>
                  </a:lnTo>
                  <a:lnTo>
                    <a:pt x="4685526" y="197354"/>
                  </a:lnTo>
                  <a:lnTo>
                    <a:pt x="4684200" y="1066778"/>
                  </a:lnTo>
                  <a:lnTo>
                    <a:pt x="4669595" y="1139657"/>
                  </a:lnTo>
                  <a:lnTo>
                    <a:pt x="4628205" y="1201396"/>
                  </a:lnTo>
                  <a:lnTo>
                    <a:pt x="4566341" y="1242597"/>
                  </a:lnTo>
                  <a:lnTo>
                    <a:pt x="4493417" y="1256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535048" y="8153687"/>
              <a:ext cx="4685665" cy="1254760"/>
            </a:xfrm>
            <a:custGeom>
              <a:avLst/>
              <a:gdLst/>
              <a:ahLst/>
              <a:cxnLst/>
              <a:rect l="l" t="t" r="r" b="b"/>
              <a:pathLst>
                <a:path w="4685665" h="1254759">
                  <a:moveTo>
                    <a:pt x="164626" y="1247734"/>
                  </a:moveTo>
                  <a:lnTo>
                    <a:pt x="117318" y="1235692"/>
                  </a:lnTo>
                  <a:lnTo>
                    <a:pt x="55584" y="1194307"/>
                  </a:lnTo>
                  <a:lnTo>
                    <a:pt x="14388" y="1132447"/>
                  </a:lnTo>
                  <a:lnTo>
                    <a:pt x="0" y="1059530"/>
                  </a:lnTo>
                  <a:lnTo>
                    <a:pt x="1326" y="190190"/>
                  </a:lnTo>
                  <a:lnTo>
                    <a:pt x="15937" y="117318"/>
                  </a:lnTo>
                  <a:lnTo>
                    <a:pt x="57322" y="55585"/>
                  </a:lnTo>
                  <a:lnTo>
                    <a:pt x="119181" y="14388"/>
                  </a:lnTo>
                  <a:lnTo>
                    <a:pt x="192097" y="0"/>
                  </a:lnTo>
                  <a:lnTo>
                    <a:pt x="4494895" y="6563"/>
                  </a:lnTo>
                  <a:lnTo>
                    <a:pt x="4567768" y="21174"/>
                  </a:lnTo>
                  <a:lnTo>
                    <a:pt x="4629500" y="62560"/>
                  </a:lnTo>
                  <a:lnTo>
                    <a:pt x="4670698" y="124419"/>
                  </a:lnTo>
                  <a:lnTo>
                    <a:pt x="4685086" y="197335"/>
                  </a:lnTo>
                  <a:lnTo>
                    <a:pt x="4683760" y="1066675"/>
                  </a:lnTo>
                  <a:lnTo>
                    <a:pt x="4669149" y="1139547"/>
                  </a:lnTo>
                  <a:lnTo>
                    <a:pt x="4627764" y="1201282"/>
                  </a:lnTo>
                  <a:lnTo>
                    <a:pt x="4565905" y="1242478"/>
                  </a:lnTo>
                  <a:lnTo>
                    <a:pt x="4530329" y="1253230"/>
                  </a:lnTo>
                  <a:lnTo>
                    <a:pt x="4518560" y="1254376"/>
                  </a:lnTo>
                </a:path>
              </a:pathLst>
            </a:custGeom>
            <a:ln w="95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3814643" y="8598093"/>
            <a:ext cx="412622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Microsoft Sans Serif"/>
                <a:cs typeface="Microsoft Sans Serif"/>
              </a:rPr>
              <a:t>Data</a:t>
            </a:r>
            <a:r>
              <a:rPr dirty="0" baseline="1388" sz="3000" spc="-142">
                <a:latin typeface="Microsoft Sans Serif"/>
                <a:cs typeface="Microsoft Sans Serif"/>
              </a:rPr>
              <a:t> </a:t>
            </a:r>
            <a:r>
              <a:rPr dirty="0" baseline="1388" sz="3000" spc="-30">
                <a:latin typeface="Microsoft Sans Serif"/>
                <a:cs typeface="Microsoft Sans Serif"/>
              </a:rPr>
              <a:t>Preparation</a:t>
            </a:r>
            <a:r>
              <a:rPr dirty="0" baseline="1388" sz="3000" spc="-13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&amp;</a:t>
            </a:r>
            <a:r>
              <a:rPr dirty="0" sz="2000" spc="-95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Modelling</a:t>
            </a:r>
            <a:r>
              <a:rPr dirty="0" sz="2000" spc="-90">
                <a:latin typeface="Microsoft Sans Serif"/>
                <a:cs typeface="Microsoft Sans Serif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-95">
                <a:latin typeface="Microsoft Sans Serif"/>
                <a:cs typeface="Microsoft Sans Serif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SQL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0654" y="105460"/>
            <a:ext cx="17367250" cy="1315720"/>
          </a:xfrm>
          <a:custGeom>
            <a:avLst/>
            <a:gdLst/>
            <a:ahLst/>
            <a:cxnLst/>
            <a:rect l="l" t="t" r="r" b="b"/>
            <a:pathLst>
              <a:path w="17367250" h="1315720">
                <a:moveTo>
                  <a:pt x="17366679" y="657720"/>
                </a:moveTo>
                <a:lnTo>
                  <a:pt x="17364609" y="605637"/>
                </a:lnTo>
                <a:lnTo>
                  <a:pt x="17358475" y="554215"/>
                </a:lnTo>
                <a:lnTo>
                  <a:pt x="17348378" y="503643"/>
                </a:lnTo>
                <a:lnTo>
                  <a:pt x="17334383" y="454177"/>
                </a:lnTo>
                <a:lnTo>
                  <a:pt x="17316603" y="406019"/>
                </a:lnTo>
                <a:lnTo>
                  <a:pt x="17295127" y="359397"/>
                </a:lnTo>
                <a:lnTo>
                  <a:pt x="17270032" y="314528"/>
                </a:lnTo>
                <a:lnTo>
                  <a:pt x="17241431" y="271627"/>
                </a:lnTo>
                <a:lnTo>
                  <a:pt x="17209402" y="230924"/>
                </a:lnTo>
                <a:lnTo>
                  <a:pt x="17174033" y="192646"/>
                </a:lnTo>
                <a:lnTo>
                  <a:pt x="17135742" y="157276"/>
                </a:lnTo>
                <a:lnTo>
                  <a:pt x="17095039" y="125247"/>
                </a:lnTo>
                <a:lnTo>
                  <a:pt x="17052151" y="96634"/>
                </a:lnTo>
                <a:lnTo>
                  <a:pt x="17007282" y="71551"/>
                </a:lnTo>
                <a:lnTo>
                  <a:pt x="16960647" y="50063"/>
                </a:lnTo>
                <a:lnTo>
                  <a:pt x="16912489" y="32283"/>
                </a:lnTo>
                <a:lnTo>
                  <a:pt x="16863022" y="18300"/>
                </a:lnTo>
                <a:lnTo>
                  <a:pt x="16812463" y="8191"/>
                </a:lnTo>
                <a:lnTo>
                  <a:pt x="16761028" y="2070"/>
                </a:lnTo>
                <a:lnTo>
                  <a:pt x="16708958" y="0"/>
                </a:lnTo>
                <a:lnTo>
                  <a:pt x="657720" y="0"/>
                </a:lnTo>
                <a:lnTo>
                  <a:pt x="605650" y="2070"/>
                </a:lnTo>
                <a:lnTo>
                  <a:pt x="554215" y="8191"/>
                </a:lnTo>
                <a:lnTo>
                  <a:pt x="503656" y="18300"/>
                </a:lnTo>
                <a:lnTo>
                  <a:pt x="454190" y="32283"/>
                </a:lnTo>
                <a:lnTo>
                  <a:pt x="406031" y="50063"/>
                </a:lnTo>
                <a:lnTo>
                  <a:pt x="359397" y="71551"/>
                </a:lnTo>
                <a:lnTo>
                  <a:pt x="314528" y="96634"/>
                </a:lnTo>
                <a:lnTo>
                  <a:pt x="271640" y="125247"/>
                </a:lnTo>
                <a:lnTo>
                  <a:pt x="230936" y="157276"/>
                </a:lnTo>
                <a:lnTo>
                  <a:pt x="192646" y="192646"/>
                </a:lnTo>
                <a:lnTo>
                  <a:pt x="157276" y="230924"/>
                </a:lnTo>
                <a:lnTo>
                  <a:pt x="125247" y="271627"/>
                </a:lnTo>
                <a:lnTo>
                  <a:pt x="96647" y="314528"/>
                </a:lnTo>
                <a:lnTo>
                  <a:pt x="71551" y="359397"/>
                </a:lnTo>
                <a:lnTo>
                  <a:pt x="50076" y="406019"/>
                </a:lnTo>
                <a:lnTo>
                  <a:pt x="32296" y="454177"/>
                </a:lnTo>
                <a:lnTo>
                  <a:pt x="18300" y="503643"/>
                </a:lnTo>
                <a:lnTo>
                  <a:pt x="8204" y="554215"/>
                </a:lnTo>
                <a:lnTo>
                  <a:pt x="2070" y="605637"/>
                </a:lnTo>
                <a:lnTo>
                  <a:pt x="0" y="657720"/>
                </a:lnTo>
                <a:lnTo>
                  <a:pt x="2070" y="709803"/>
                </a:lnTo>
                <a:lnTo>
                  <a:pt x="8204" y="761238"/>
                </a:lnTo>
                <a:lnTo>
                  <a:pt x="18300" y="811796"/>
                </a:lnTo>
                <a:lnTo>
                  <a:pt x="32296" y="861263"/>
                </a:lnTo>
                <a:lnTo>
                  <a:pt x="50076" y="909421"/>
                </a:lnTo>
                <a:lnTo>
                  <a:pt x="71551" y="956043"/>
                </a:lnTo>
                <a:lnTo>
                  <a:pt x="96647" y="1000912"/>
                </a:lnTo>
                <a:lnTo>
                  <a:pt x="125247" y="1043813"/>
                </a:lnTo>
                <a:lnTo>
                  <a:pt x="157276" y="1084516"/>
                </a:lnTo>
                <a:lnTo>
                  <a:pt x="192646" y="1122794"/>
                </a:lnTo>
                <a:lnTo>
                  <a:pt x="230936" y="1158163"/>
                </a:lnTo>
                <a:lnTo>
                  <a:pt x="271640" y="1190205"/>
                </a:lnTo>
                <a:lnTo>
                  <a:pt x="314528" y="1218806"/>
                </a:lnTo>
                <a:lnTo>
                  <a:pt x="359397" y="1243901"/>
                </a:lnTo>
                <a:lnTo>
                  <a:pt x="406031" y="1265377"/>
                </a:lnTo>
                <a:lnTo>
                  <a:pt x="454190" y="1283157"/>
                </a:lnTo>
                <a:lnTo>
                  <a:pt x="503656" y="1297139"/>
                </a:lnTo>
                <a:lnTo>
                  <a:pt x="554215" y="1307249"/>
                </a:lnTo>
                <a:lnTo>
                  <a:pt x="605650" y="1313383"/>
                </a:lnTo>
                <a:lnTo>
                  <a:pt x="657720" y="1315440"/>
                </a:lnTo>
                <a:lnTo>
                  <a:pt x="16708958" y="1315440"/>
                </a:lnTo>
                <a:lnTo>
                  <a:pt x="16761028" y="1313383"/>
                </a:lnTo>
                <a:lnTo>
                  <a:pt x="16812463" y="1307249"/>
                </a:lnTo>
                <a:lnTo>
                  <a:pt x="16863022" y="1297139"/>
                </a:lnTo>
                <a:lnTo>
                  <a:pt x="16912489" y="1283157"/>
                </a:lnTo>
                <a:lnTo>
                  <a:pt x="16960647" y="1265377"/>
                </a:lnTo>
                <a:lnTo>
                  <a:pt x="17007282" y="1243901"/>
                </a:lnTo>
                <a:lnTo>
                  <a:pt x="17052151" y="1218806"/>
                </a:lnTo>
                <a:lnTo>
                  <a:pt x="17095039" y="1190205"/>
                </a:lnTo>
                <a:lnTo>
                  <a:pt x="17135742" y="1158163"/>
                </a:lnTo>
                <a:lnTo>
                  <a:pt x="17174033" y="1122794"/>
                </a:lnTo>
                <a:lnTo>
                  <a:pt x="17209402" y="1084516"/>
                </a:lnTo>
                <a:lnTo>
                  <a:pt x="17241431" y="1043813"/>
                </a:lnTo>
                <a:lnTo>
                  <a:pt x="17270032" y="1000912"/>
                </a:lnTo>
                <a:lnTo>
                  <a:pt x="17295127" y="956043"/>
                </a:lnTo>
                <a:lnTo>
                  <a:pt x="17316603" y="909421"/>
                </a:lnTo>
                <a:lnTo>
                  <a:pt x="17334383" y="861263"/>
                </a:lnTo>
                <a:lnTo>
                  <a:pt x="17348378" y="811796"/>
                </a:lnTo>
                <a:lnTo>
                  <a:pt x="17358475" y="761238"/>
                </a:lnTo>
                <a:lnTo>
                  <a:pt x="17364609" y="709803"/>
                </a:lnTo>
                <a:lnTo>
                  <a:pt x="17366679" y="657720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007208" y="2457378"/>
            <a:ext cx="993140" cy="618236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dirty="0" sz="1800" spc="-25">
                <a:solidFill>
                  <a:srgbClr val="13131B"/>
                </a:solidFill>
                <a:latin typeface="Arial Black"/>
                <a:cs typeface="Arial Black"/>
              </a:rPr>
              <a:t>Tables</a:t>
            </a:r>
            <a:endParaRPr sz="1800">
              <a:latin typeface="Arial Black"/>
              <a:cs typeface="Arial Black"/>
            </a:endParaRPr>
          </a:p>
          <a:p>
            <a:pPr algn="just" marL="154305" marR="146685" indent="127000">
              <a:lnSpc>
                <a:spcPts val="11550"/>
              </a:lnSpc>
              <a:spcBef>
                <a:spcPts val="1870"/>
              </a:spcBef>
            </a:pPr>
            <a:r>
              <a:rPr dirty="0" sz="1800" spc="-20">
                <a:latin typeface="Microsoft Sans Serif"/>
                <a:cs typeface="Microsoft Sans Serif"/>
              </a:rPr>
              <a:t>Lots </a:t>
            </a:r>
            <a:r>
              <a:rPr dirty="0" sz="1800" spc="-10">
                <a:latin typeface="Microsoft Sans Serif"/>
                <a:cs typeface="Microsoft Sans Serif"/>
              </a:rPr>
              <a:t>Slots </a:t>
            </a:r>
            <a:r>
              <a:rPr dirty="0" sz="1800" spc="-25">
                <a:latin typeface="Microsoft Sans Serif"/>
                <a:cs typeface="Microsoft Sans Serif"/>
              </a:rPr>
              <a:t>Events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dirty="0" sz="1800" spc="-35">
                <a:latin typeface="Microsoft Sans Serif"/>
                <a:cs typeface="Microsoft Sans Serif"/>
              </a:rPr>
              <a:t>Payments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25125" y="2457378"/>
            <a:ext cx="4590415" cy="617537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dirty="0" sz="1800" spc="-10">
                <a:latin typeface="Arial Black"/>
                <a:cs typeface="Arial Black"/>
              </a:rPr>
              <a:t>Purpose</a:t>
            </a: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1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600" spc="-45">
                <a:latin typeface="Verdana"/>
                <a:cs typeface="Verdana"/>
              </a:rPr>
              <a:t>Stores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-70">
                <a:latin typeface="Verdana"/>
                <a:cs typeface="Verdana"/>
              </a:rPr>
              <a:t>parking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lot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 spc="-55">
                <a:latin typeface="Verdana"/>
                <a:cs typeface="Verdana"/>
              </a:rPr>
              <a:t>master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information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600" spc="-10">
                <a:latin typeface="Microsoft Sans Serif"/>
                <a:cs typeface="Microsoft Sans Serif"/>
              </a:rPr>
              <a:t>Contains</a:t>
            </a:r>
            <a:r>
              <a:rPr dirty="0" sz="1600" spc="-55">
                <a:latin typeface="Microsoft Sans Serif"/>
                <a:cs typeface="Microsoft Sans Serif"/>
              </a:rPr>
              <a:t> </a:t>
            </a:r>
            <a:r>
              <a:rPr dirty="0" sz="1600" spc="-10">
                <a:latin typeface="Microsoft Sans Serif"/>
                <a:cs typeface="Microsoft Sans Serif"/>
              </a:rPr>
              <a:t>individual</a:t>
            </a:r>
            <a:r>
              <a:rPr dirty="0" sz="1600" spc="-50">
                <a:latin typeface="Microsoft Sans Serif"/>
                <a:cs typeface="Microsoft Sans Serif"/>
              </a:rPr>
              <a:t> </a:t>
            </a:r>
            <a:r>
              <a:rPr dirty="0" sz="1600">
                <a:latin typeface="Microsoft Sans Serif"/>
                <a:cs typeface="Microsoft Sans Serif"/>
              </a:rPr>
              <a:t>parking</a:t>
            </a:r>
            <a:r>
              <a:rPr dirty="0" sz="1600" spc="-50">
                <a:latin typeface="Microsoft Sans Serif"/>
                <a:cs typeface="Microsoft Sans Serif"/>
              </a:rPr>
              <a:t> </a:t>
            </a:r>
            <a:r>
              <a:rPr dirty="0" sz="1600">
                <a:latin typeface="Microsoft Sans Serif"/>
                <a:cs typeface="Microsoft Sans Serif"/>
              </a:rPr>
              <a:t>slot</a:t>
            </a:r>
            <a:r>
              <a:rPr dirty="0" sz="1600" spc="-50">
                <a:latin typeface="Microsoft Sans Serif"/>
                <a:cs typeface="Microsoft Sans Serif"/>
              </a:rPr>
              <a:t> </a:t>
            </a:r>
            <a:r>
              <a:rPr dirty="0" sz="1600" spc="-10">
                <a:latin typeface="Microsoft Sans Serif"/>
                <a:cs typeface="Microsoft Sans Serif"/>
              </a:rPr>
              <a:t>details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13300"/>
              </a:lnSpc>
              <a:tabLst>
                <a:tab pos="967740" algn="l"/>
                <a:tab pos="1598295" algn="l"/>
                <a:tab pos="2483485" algn="l"/>
                <a:tab pos="3371850" algn="l"/>
                <a:tab pos="4179570" algn="l"/>
              </a:tabLst>
            </a:pPr>
            <a:r>
              <a:rPr dirty="0" sz="1600" spc="-10">
                <a:latin typeface="Verdana"/>
                <a:cs typeface="Verdana"/>
              </a:rPr>
              <a:t>Records</a:t>
            </a:r>
            <a:r>
              <a:rPr dirty="0" sz="1600">
                <a:latin typeface="Verdana"/>
                <a:cs typeface="Verdana"/>
              </a:rPr>
              <a:t>	</a:t>
            </a:r>
            <a:r>
              <a:rPr dirty="0" sz="1600" spc="-20">
                <a:latin typeface="Verdana"/>
                <a:cs typeface="Verdana"/>
              </a:rPr>
              <a:t>each</a:t>
            </a:r>
            <a:r>
              <a:rPr dirty="0" sz="1600">
                <a:latin typeface="Verdana"/>
                <a:cs typeface="Verdana"/>
              </a:rPr>
              <a:t>	</a:t>
            </a:r>
            <a:r>
              <a:rPr dirty="0" sz="1600" spc="-10">
                <a:latin typeface="Verdana"/>
                <a:cs typeface="Verdana"/>
              </a:rPr>
              <a:t>parking</a:t>
            </a:r>
            <a:r>
              <a:rPr dirty="0" sz="1600">
                <a:latin typeface="Verdana"/>
                <a:cs typeface="Verdana"/>
              </a:rPr>
              <a:t>	</a:t>
            </a:r>
            <a:r>
              <a:rPr dirty="0" sz="1600" spc="-10">
                <a:latin typeface="Verdana"/>
                <a:cs typeface="Verdana"/>
              </a:rPr>
              <a:t>session</a:t>
            </a:r>
            <a:r>
              <a:rPr dirty="0" sz="1600">
                <a:latin typeface="Verdana"/>
                <a:cs typeface="Verdana"/>
              </a:rPr>
              <a:t>	</a:t>
            </a:r>
            <a:r>
              <a:rPr dirty="0" sz="1600" spc="-10">
                <a:latin typeface="Verdana"/>
                <a:cs typeface="Verdana"/>
              </a:rPr>
              <a:t>(entry,</a:t>
            </a:r>
            <a:r>
              <a:rPr dirty="0" sz="1600">
                <a:latin typeface="Verdana"/>
                <a:cs typeface="Verdana"/>
              </a:rPr>
              <a:t>	</a:t>
            </a:r>
            <a:r>
              <a:rPr dirty="0" sz="1600" spc="-80">
                <a:latin typeface="Verdana"/>
                <a:cs typeface="Verdana"/>
              </a:rPr>
              <a:t>exit, </a:t>
            </a:r>
            <a:r>
              <a:rPr dirty="0" sz="1600" spc="-10">
                <a:latin typeface="Verdana"/>
                <a:cs typeface="Verdana"/>
              </a:rPr>
              <a:t>duration)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dirty="0" sz="1600" spc="-35">
                <a:latin typeface="Verdana"/>
                <a:cs typeface="Verdana"/>
              </a:rPr>
              <a:t>Captures</a:t>
            </a:r>
            <a:r>
              <a:rPr dirty="0" sz="1600" spc="-120">
                <a:latin typeface="Verdana"/>
                <a:cs typeface="Verdana"/>
              </a:rPr>
              <a:t> </a:t>
            </a:r>
            <a:r>
              <a:rPr dirty="0" sz="1600" spc="-45">
                <a:latin typeface="Verdana"/>
                <a:cs typeface="Verdana"/>
              </a:rPr>
              <a:t>payment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 spc="-30">
                <a:latin typeface="Verdana"/>
                <a:cs typeface="Verdana"/>
              </a:rPr>
              <a:t>transactions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>
                <a:latin typeface="Verdana"/>
                <a:cs typeface="Verdana"/>
              </a:rPr>
              <a:t>for</a:t>
            </a:r>
            <a:r>
              <a:rPr dirty="0" sz="1600" spc="-114">
                <a:latin typeface="Verdana"/>
                <a:cs typeface="Verdana"/>
              </a:rPr>
              <a:t> </a:t>
            </a:r>
            <a:r>
              <a:rPr dirty="0" sz="1600" spc="-10">
                <a:latin typeface="Verdana"/>
                <a:cs typeface="Verdana"/>
              </a:rPr>
              <a:t>parking</a:t>
            </a:r>
            <a:endParaRPr sz="1600">
              <a:latin typeface="Verdana"/>
              <a:cs typeface="Verdana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72543" y="1887069"/>
          <a:ext cx="8347709" cy="733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23895"/>
                <a:gridCol w="5009514"/>
              </a:tblGrid>
              <a:tr h="146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46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46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46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46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66371B"/>
                      </a:solidFill>
                      <a:prstDash val="solid"/>
                    </a:lnL>
                    <a:lnR w="38100">
                      <a:solidFill>
                        <a:srgbClr val="66371B"/>
                      </a:solidFill>
                      <a:prstDash val="solid"/>
                    </a:lnR>
                    <a:lnT w="38100">
                      <a:solidFill>
                        <a:srgbClr val="66371B"/>
                      </a:solidFill>
                      <a:prstDash val="solid"/>
                    </a:lnT>
                    <a:lnB w="38100">
                      <a:solidFill>
                        <a:srgbClr val="66371B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0788087" y="2974934"/>
            <a:ext cx="6966584" cy="42240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3154045">
              <a:lnSpc>
                <a:spcPct val="100899"/>
              </a:lnSpc>
              <a:spcBef>
                <a:spcPts val="25"/>
              </a:spcBef>
            </a:pPr>
            <a:r>
              <a:rPr dirty="0" sz="7000" spc="-10">
                <a:solidFill>
                  <a:srgbClr val="66371B"/>
                </a:solidFill>
                <a:latin typeface="Microsoft Sans Serif"/>
                <a:cs typeface="Microsoft Sans Serif"/>
              </a:rPr>
              <a:t>Dataset </a:t>
            </a:r>
            <a:r>
              <a:rPr dirty="0" sz="7000" spc="-25">
                <a:solidFill>
                  <a:srgbClr val="66371B"/>
                </a:solidFill>
                <a:latin typeface="Microsoft Sans Serif"/>
                <a:cs typeface="Microsoft Sans Serif"/>
              </a:rPr>
              <a:t>Summary</a:t>
            </a:r>
            <a:endParaRPr sz="7000">
              <a:latin typeface="Microsoft Sans Serif"/>
              <a:cs typeface="Microsoft Sans Serif"/>
            </a:endParaRPr>
          </a:p>
          <a:p>
            <a:pPr marL="255270" indent="-175260">
              <a:lnSpc>
                <a:spcPct val="100000"/>
              </a:lnSpc>
              <a:spcBef>
                <a:spcPts val="4540"/>
              </a:spcBef>
              <a:buChar char="•"/>
              <a:tabLst>
                <a:tab pos="255270" algn="l"/>
              </a:tabLst>
            </a:pP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~49K</a:t>
            </a:r>
            <a:r>
              <a:rPr dirty="0" sz="2150" spc="-5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parking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182333"/>
                </a:solidFill>
                <a:latin typeface="Microsoft Sans Serif"/>
                <a:cs typeface="Microsoft Sans Serif"/>
              </a:rPr>
              <a:t>sessions</a:t>
            </a:r>
            <a:endParaRPr sz="2150">
              <a:latin typeface="Microsoft Sans Serif"/>
              <a:cs typeface="Microsoft Sans Serif"/>
            </a:endParaRPr>
          </a:p>
          <a:p>
            <a:pPr marL="255270" indent="-175260">
              <a:lnSpc>
                <a:spcPct val="100000"/>
              </a:lnSpc>
              <a:spcBef>
                <a:spcPts val="434"/>
              </a:spcBef>
              <a:buChar char="•"/>
              <a:tabLst>
                <a:tab pos="255270" algn="l"/>
              </a:tabLst>
            </a:pP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Multiple</a:t>
            </a:r>
            <a:r>
              <a:rPr dirty="0" sz="2150" spc="-5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parking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locations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182333"/>
                </a:solidFill>
                <a:latin typeface="Microsoft Sans Serif"/>
                <a:cs typeface="Microsoft Sans Serif"/>
              </a:rPr>
              <a:t>areas</a:t>
            </a:r>
            <a:endParaRPr sz="2150">
              <a:latin typeface="Microsoft Sans Serif"/>
              <a:cs typeface="Microsoft Sans Serif"/>
            </a:endParaRPr>
          </a:p>
          <a:p>
            <a:pPr marL="241935" indent="-161925">
              <a:lnSpc>
                <a:spcPct val="100000"/>
              </a:lnSpc>
              <a:spcBef>
                <a:spcPts val="440"/>
              </a:spcBef>
              <a:buChar char="•"/>
              <a:tabLst>
                <a:tab pos="241935" algn="l"/>
              </a:tabLst>
            </a:pP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Time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182333"/>
                </a:solidFill>
                <a:latin typeface="Microsoft Sans Serif"/>
                <a:cs typeface="Microsoft Sans Serif"/>
              </a:rPr>
              <a:t>range:</a:t>
            </a:r>
            <a:r>
              <a:rPr dirty="0" sz="2150" spc="-15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Jan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2022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459">
                <a:solidFill>
                  <a:srgbClr val="182333"/>
                </a:solidFill>
                <a:latin typeface="Microsoft Sans Serif"/>
                <a:cs typeface="Microsoft Sans Serif"/>
              </a:rPr>
              <a:t>–</a:t>
            </a:r>
            <a:r>
              <a:rPr dirty="0" sz="2150" spc="-4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Dec</a:t>
            </a:r>
            <a:r>
              <a:rPr dirty="0" sz="2150" spc="-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>
                <a:solidFill>
                  <a:srgbClr val="182333"/>
                </a:solidFill>
                <a:latin typeface="Microsoft Sans Serif"/>
                <a:cs typeface="Microsoft Sans Serif"/>
              </a:rPr>
              <a:t>2024</a:t>
            </a:r>
            <a:endParaRPr sz="2150">
              <a:latin typeface="Microsoft Sans Serif"/>
              <a:cs typeface="Microsoft Sans Serif"/>
            </a:endParaRPr>
          </a:p>
          <a:p>
            <a:pPr marL="255270" indent="-175260">
              <a:lnSpc>
                <a:spcPct val="100000"/>
              </a:lnSpc>
              <a:spcBef>
                <a:spcPts val="440"/>
              </a:spcBef>
              <a:buChar char="•"/>
              <a:tabLst>
                <a:tab pos="255270" algn="l"/>
              </a:tabLst>
            </a:pP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Contains</a:t>
            </a:r>
            <a:r>
              <a:rPr dirty="0" sz="2150" spc="-7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operational,</a:t>
            </a:r>
            <a:r>
              <a:rPr dirty="0" sz="2150" spc="-6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financial,</a:t>
            </a:r>
            <a:r>
              <a:rPr dirty="0" sz="2150" spc="-6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and</a:t>
            </a:r>
            <a:r>
              <a:rPr dirty="0" sz="2150" spc="-6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>
                <a:solidFill>
                  <a:srgbClr val="182333"/>
                </a:solidFill>
                <a:latin typeface="Microsoft Sans Serif"/>
                <a:cs typeface="Microsoft Sans Serif"/>
              </a:rPr>
              <a:t>compliance</a:t>
            </a:r>
            <a:r>
              <a:rPr dirty="0" sz="2150" spc="-7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>
                <a:solidFill>
                  <a:srgbClr val="182333"/>
                </a:solidFill>
                <a:latin typeface="Microsoft Sans Serif"/>
                <a:cs typeface="Microsoft Sans Serif"/>
              </a:rPr>
              <a:t>metrics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250" rIns="0" bIns="0" rtlCol="0" vert="horz">
            <a:spAutoFit/>
          </a:bodyPr>
          <a:lstStyle/>
          <a:p>
            <a:pPr marL="2341245">
              <a:lnSpc>
                <a:spcPct val="100000"/>
              </a:lnSpc>
              <a:spcBef>
                <a:spcPts val="105"/>
              </a:spcBef>
            </a:pPr>
            <a:r>
              <a:rPr dirty="0" sz="5500" spc="-650"/>
              <a:t>D</a:t>
            </a:r>
            <a:r>
              <a:rPr dirty="0" sz="5500" spc="-1010"/>
              <a:t>A</a:t>
            </a:r>
            <a:r>
              <a:rPr dirty="0" sz="5500" spc="-1060"/>
              <a:t>T</a:t>
            </a:r>
            <a:r>
              <a:rPr dirty="0" sz="5500" spc="-505"/>
              <a:t>A</a:t>
            </a:r>
            <a:r>
              <a:rPr dirty="0" sz="5500" spc="-420"/>
              <a:t>SE</a:t>
            </a:r>
            <a:r>
              <a:rPr dirty="0" sz="5500" spc="-409"/>
              <a:t>T</a:t>
            </a:r>
            <a:r>
              <a:rPr dirty="0" sz="5500" spc="-310"/>
              <a:t> </a:t>
            </a:r>
            <a:r>
              <a:rPr dirty="0" sz="5500" spc="-530"/>
              <a:t>OVERVIEW</a:t>
            </a:r>
            <a:endParaRPr sz="5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0666" y="105454"/>
            <a:ext cx="17367250" cy="1315720"/>
          </a:xfrm>
          <a:custGeom>
            <a:avLst/>
            <a:gdLst/>
            <a:ahLst/>
            <a:cxnLst/>
            <a:rect l="l" t="t" r="r" b="b"/>
            <a:pathLst>
              <a:path w="17367250" h="1315720">
                <a:moveTo>
                  <a:pt x="16708947" y="1315441"/>
                </a:moveTo>
                <a:lnTo>
                  <a:pt x="657720" y="1315441"/>
                </a:lnTo>
                <a:lnTo>
                  <a:pt x="605640" y="1313377"/>
                </a:lnTo>
                <a:lnTo>
                  <a:pt x="554209" y="1307247"/>
                </a:lnTo>
                <a:lnTo>
                  <a:pt x="503648" y="1297143"/>
                </a:lnTo>
                <a:lnTo>
                  <a:pt x="454179" y="1283155"/>
                </a:lnTo>
                <a:lnTo>
                  <a:pt x="406021" y="1265375"/>
                </a:lnTo>
                <a:lnTo>
                  <a:pt x="359397" y="1243895"/>
                </a:lnTo>
                <a:lnTo>
                  <a:pt x="314525" y="1218805"/>
                </a:lnTo>
                <a:lnTo>
                  <a:pt x="271629" y="1190199"/>
                </a:lnTo>
                <a:lnTo>
                  <a:pt x="230927" y="1158166"/>
                </a:lnTo>
                <a:lnTo>
                  <a:pt x="192641" y="1122799"/>
                </a:lnTo>
                <a:lnTo>
                  <a:pt x="157274" y="1084513"/>
                </a:lnTo>
                <a:lnTo>
                  <a:pt x="125242" y="1043812"/>
                </a:lnTo>
                <a:lnTo>
                  <a:pt x="96635" y="1000915"/>
                </a:lnTo>
                <a:lnTo>
                  <a:pt x="71546" y="956044"/>
                </a:lnTo>
                <a:lnTo>
                  <a:pt x="50066" y="909419"/>
                </a:lnTo>
                <a:lnTo>
                  <a:pt x="32286" y="861261"/>
                </a:lnTo>
                <a:lnTo>
                  <a:pt x="18298" y="811792"/>
                </a:lnTo>
                <a:lnTo>
                  <a:pt x="8193" y="761231"/>
                </a:lnTo>
                <a:lnTo>
                  <a:pt x="2063" y="709801"/>
                </a:lnTo>
                <a:lnTo>
                  <a:pt x="0" y="657720"/>
                </a:lnTo>
                <a:lnTo>
                  <a:pt x="2063" y="605640"/>
                </a:lnTo>
                <a:lnTo>
                  <a:pt x="8193" y="554209"/>
                </a:lnTo>
                <a:lnTo>
                  <a:pt x="18298" y="503648"/>
                </a:lnTo>
                <a:lnTo>
                  <a:pt x="32286" y="454179"/>
                </a:lnTo>
                <a:lnTo>
                  <a:pt x="50066" y="406021"/>
                </a:lnTo>
                <a:lnTo>
                  <a:pt x="71546" y="359397"/>
                </a:lnTo>
                <a:lnTo>
                  <a:pt x="96635" y="314525"/>
                </a:lnTo>
                <a:lnTo>
                  <a:pt x="125242" y="271629"/>
                </a:lnTo>
                <a:lnTo>
                  <a:pt x="157274" y="230927"/>
                </a:lnTo>
                <a:lnTo>
                  <a:pt x="192641" y="192641"/>
                </a:lnTo>
                <a:lnTo>
                  <a:pt x="230927" y="157274"/>
                </a:lnTo>
                <a:lnTo>
                  <a:pt x="271629" y="125242"/>
                </a:lnTo>
                <a:lnTo>
                  <a:pt x="314525" y="96635"/>
                </a:lnTo>
                <a:lnTo>
                  <a:pt x="359397" y="71546"/>
                </a:lnTo>
                <a:lnTo>
                  <a:pt x="406021" y="50066"/>
                </a:lnTo>
                <a:lnTo>
                  <a:pt x="454179" y="32286"/>
                </a:lnTo>
                <a:lnTo>
                  <a:pt x="503648" y="18298"/>
                </a:lnTo>
                <a:lnTo>
                  <a:pt x="554209" y="8193"/>
                </a:lnTo>
                <a:lnTo>
                  <a:pt x="605640" y="2063"/>
                </a:lnTo>
                <a:lnTo>
                  <a:pt x="657720" y="0"/>
                </a:lnTo>
                <a:lnTo>
                  <a:pt x="16708947" y="0"/>
                </a:lnTo>
                <a:lnTo>
                  <a:pt x="16761027" y="2063"/>
                </a:lnTo>
                <a:lnTo>
                  <a:pt x="16812458" y="8193"/>
                </a:lnTo>
                <a:lnTo>
                  <a:pt x="16863019" y="18298"/>
                </a:lnTo>
                <a:lnTo>
                  <a:pt x="16912488" y="32286"/>
                </a:lnTo>
                <a:lnTo>
                  <a:pt x="16960645" y="50066"/>
                </a:lnTo>
                <a:lnTo>
                  <a:pt x="17007270" y="71546"/>
                </a:lnTo>
                <a:lnTo>
                  <a:pt x="17052141" y="96635"/>
                </a:lnTo>
                <a:lnTo>
                  <a:pt x="17095038" y="125242"/>
                </a:lnTo>
                <a:lnTo>
                  <a:pt x="17135740" y="157274"/>
                </a:lnTo>
                <a:lnTo>
                  <a:pt x="17174025" y="192641"/>
                </a:lnTo>
                <a:lnTo>
                  <a:pt x="17209392" y="230927"/>
                </a:lnTo>
                <a:lnTo>
                  <a:pt x="17241425" y="271629"/>
                </a:lnTo>
                <a:lnTo>
                  <a:pt x="17270032" y="314525"/>
                </a:lnTo>
                <a:lnTo>
                  <a:pt x="17295121" y="359397"/>
                </a:lnTo>
                <a:lnTo>
                  <a:pt x="17316602" y="406021"/>
                </a:lnTo>
                <a:lnTo>
                  <a:pt x="17334382" y="454179"/>
                </a:lnTo>
                <a:lnTo>
                  <a:pt x="17348370" y="503648"/>
                </a:lnTo>
                <a:lnTo>
                  <a:pt x="17358474" y="554209"/>
                </a:lnTo>
                <a:lnTo>
                  <a:pt x="17364604" y="605640"/>
                </a:lnTo>
                <a:lnTo>
                  <a:pt x="17366668" y="657720"/>
                </a:lnTo>
                <a:lnTo>
                  <a:pt x="17364604" y="709801"/>
                </a:lnTo>
                <a:lnTo>
                  <a:pt x="17358474" y="761231"/>
                </a:lnTo>
                <a:lnTo>
                  <a:pt x="17348370" y="811792"/>
                </a:lnTo>
                <a:lnTo>
                  <a:pt x="17334382" y="861261"/>
                </a:lnTo>
                <a:lnTo>
                  <a:pt x="17316602" y="909419"/>
                </a:lnTo>
                <a:lnTo>
                  <a:pt x="17295121" y="956044"/>
                </a:lnTo>
                <a:lnTo>
                  <a:pt x="17270032" y="1000915"/>
                </a:lnTo>
                <a:lnTo>
                  <a:pt x="17241425" y="1043812"/>
                </a:lnTo>
                <a:lnTo>
                  <a:pt x="17209392" y="1084513"/>
                </a:lnTo>
                <a:lnTo>
                  <a:pt x="17174025" y="1122799"/>
                </a:lnTo>
                <a:lnTo>
                  <a:pt x="17135740" y="1158166"/>
                </a:lnTo>
                <a:lnTo>
                  <a:pt x="17095038" y="1190199"/>
                </a:lnTo>
                <a:lnTo>
                  <a:pt x="17052141" y="1218805"/>
                </a:lnTo>
                <a:lnTo>
                  <a:pt x="17007270" y="1243895"/>
                </a:lnTo>
                <a:lnTo>
                  <a:pt x="16960645" y="1265375"/>
                </a:lnTo>
                <a:lnTo>
                  <a:pt x="16912488" y="1283155"/>
                </a:lnTo>
                <a:lnTo>
                  <a:pt x="16863019" y="1297143"/>
                </a:lnTo>
                <a:lnTo>
                  <a:pt x="16812458" y="1307247"/>
                </a:lnTo>
                <a:lnTo>
                  <a:pt x="16761027" y="1313377"/>
                </a:lnTo>
                <a:lnTo>
                  <a:pt x="16708947" y="1315441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1308" y="1729795"/>
            <a:ext cx="6191249" cy="422909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10018" y="1729795"/>
            <a:ext cx="6286500" cy="7914640"/>
            <a:chOff x="310018" y="1729795"/>
            <a:chExt cx="6286500" cy="7914640"/>
          </a:xfrm>
        </p:grpSpPr>
        <p:sp>
          <p:nvSpPr>
            <p:cNvPr id="5" name="object 5" descr=""/>
            <p:cNvSpPr/>
            <p:nvPr/>
          </p:nvSpPr>
          <p:spPr>
            <a:xfrm>
              <a:off x="310018" y="1729795"/>
              <a:ext cx="6286500" cy="7907020"/>
            </a:xfrm>
            <a:custGeom>
              <a:avLst/>
              <a:gdLst/>
              <a:ahLst/>
              <a:cxnLst/>
              <a:rect l="l" t="t" r="r" b="b"/>
              <a:pathLst>
                <a:path w="6286500" h="7907020">
                  <a:moveTo>
                    <a:pt x="6052247" y="7906878"/>
                  </a:moveTo>
                  <a:lnTo>
                    <a:pt x="233966" y="7906878"/>
                  </a:lnTo>
                  <a:lnTo>
                    <a:pt x="203897" y="7899636"/>
                  </a:lnTo>
                  <a:lnTo>
                    <a:pt x="161346" y="7882011"/>
                  </a:lnTo>
                  <a:lnTo>
                    <a:pt x="121944" y="7857905"/>
                  </a:lnTo>
                  <a:lnTo>
                    <a:pt x="86484" y="7827647"/>
                  </a:lnTo>
                  <a:lnTo>
                    <a:pt x="56225" y="7792187"/>
                  </a:lnTo>
                  <a:lnTo>
                    <a:pt x="32119" y="7752785"/>
                  </a:lnTo>
                  <a:lnTo>
                    <a:pt x="14494" y="7710233"/>
                  </a:lnTo>
                  <a:lnTo>
                    <a:pt x="3678" y="7665326"/>
                  </a:lnTo>
                  <a:lnTo>
                    <a:pt x="0" y="7618856"/>
                  </a:lnTo>
                  <a:lnTo>
                    <a:pt x="0" y="295275"/>
                  </a:lnTo>
                  <a:lnTo>
                    <a:pt x="3678" y="248804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4" y="86484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4" y="0"/>
                  </a:lnTo>
                  <a:lnTo>
                    <a:pt x="5990939" y="0"/>
                  </a:lnTo>
                  <a:lnTo>
                    <a:pt x="6037409" y="3678"/>
                  </a:lnTo>
                  <a:lnTo>
                    <a:pt x="6082316" y="14494"/>
                  </a:lnTo>
                  <a:lnTo>
                    <a:pt x="6124867" y="32119"/>
                  </a:lnTo>
                  <a:lnTo>
                    <a:pt x="6164270" y="56225"/>
                  </a:lnTo>
                  <a:lnTo>
                    <a:pt x="6199730" y="86484"/>
                  </a:lnTo>
                  <a:lnTo>
                    <a:pt x="6229988" y="121944"/>
                  </a:lnTo>
                  <a:lnTo>
                    <a:pt x="6254094" y="161346"/>
                  </a:lnTo>
                  <a:lnTo>
                    <a:pt x="6271719" y="203897"/>
                  </a:lnTo>
                  <a:lnTo>
                    <a:pt x="6282535" y="248804"/>
                  </a:lnTo>
                  <a:lnTo>
                    <a:pt x="6286214" y="295275"/>
                  </a:lnTo>
                  <a:lnTo>
                    <a:pt x="6286214" y="7618856"/>
                  </a:lnTo>
                  <a:lnTo>
                    <a:pt x="6282535" y="7665326"/>
                  </a:lnTo>
                  <a:lnTo>
                    <a:pt x="6271719" y="7710233"/>
                  </a:lnTo>
                  <a:lnTo>
                    <a:pt x="6254094" y="7752785"/>
                  </a:lnTo>
                  <a:lnTo>
                    <a:pt x="6229988" y="7792187"/>
                  </a:lnTo>
                  <a:lnTo>
                    <a:pt x="6199730" y="7827647"/>
                  </a:lnTo>
                  <a:lnTo>
                    <a:pt x="6164270" y="7857905"/>
                  </a:lnTo>
                  <a:lnTo>
                    <a:pt x="6124867" y="7882011"/>
                  </a:lnTo>
                  <a:lnTo>
                    <a:pt x="6082316" y="7899636"/>
                  </a:lnTo>
                  <a:lnTo>
                    <a:pt x="6052247" y="7906878"/>
                  </a:lnTo>
                  <a:close/>
                </a:path>
              </a:pathLst>
            </a:custGeom>
            <a:solidFill>
              <a:srgbClr val="C4B4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10018" y="1729795"/>
              <a:ext cx="6286500" cy="7914640"/>
            </a:xfrm>
            <a:custGeom>
              <a:avLst/>
              <a:gdLst/>
              <a:ahLst/>
              <a:cxnLst/>
              <a:rect l="l" t="t" r="r" b="b"/>
              <a:pathLst>
                <a:path w="6286500" h="7914640">
                  <a:moveTo>
                    <a:pt x="790585" y="38099"/>
                  </a:moveTo>
                  <a:lnTo>
                    <a:pt x="561985" y="38099"/>
                  </a:lnTo>
                  <a:lnTo>
                    <a:pt x="561985" y="0"/>
                  </a:lnTo>
                  <a:lnTo>
                    <a:pt x="790585" y="0"/>
                  </a:lnTo>
                  <a:lnTo>
                    <a:pt x="790585" y="38099"/>
                  </a:lnTo>
                  <a:close/>
                </a:path>
                <a:path w="6286500" h="7914640">
                  <a:moveTo>
                    <a:pt x="1057285" y="38099"/>
                  </a:moveTo>
                  <a:lnTo>
                    <a:pt x="828685" y="38099"/>
                  </a:lnTo>
                  <a:lnTo>
                    <a:pt x="828685" y="0"/>
                  </a:lnTo>
                  <a:lnTo>
                    <a:pt x="1057285" y="0"/>
                  </a:lnTo>
                  <a:lnTo>
                    <a:pt x="1057285" y="38099"/>
                  </a:lnTo>
                  <a:close/>
                </a:path>
                <a:path w="6286500" h="7914640">
                  <a:moveTo>
                    <a:pt x="1323985" y="38099"/>
                  </a:moveTo>
                  <a:lnTo>
                    <a:pt x="1095385" y="38099"/>
                  </a:lnTo>
                  <a:lnTo>
                    <a:pt x="1095385" y="0"/>
                  </a:lnTo>
                  <a:lnTo>
                    <a:pt x="1323985" y="0"/>
                  </a:lnTo>
                  <a:lnTo>
                    <a:pt x="1323985" y="38099"/>
                  </a:lnTo>
                  <a:close/>
                </a:path>
                <a:path w="6286500" h="7914640">
                  <a:moveTo>
                    <a:pt x="1590685" y="38099"/>
                  </a:moveTo>
                  <a:lnTo>
                    <a:pt x="1362085" y="38099"/>
                  </a:lnTo>
                  <a:lnTo>
                    <a:pt x="1362085" y="0"/>
                  </a:lnTo>
                  <a:lnTo>
                    <a:pt x="1590685" y="0"/>
                  </a:lnTo>
                  <a:lnTo>
                    <a:pt x="1590685" y="38099"/>
                  </a:lnTo>
                  <a:close/>
                </a:path>
                <a:path w="6286500" h="7914640">
                  <a:moveTo>
                    <a:pt x="1857385" y="38099"/>
                  </a:moveTo>
                  <a:lnTo>
                    <a:pt x="1628785" y="38099"/>
                  </a:lnTo>
                  <a:lnTo>
                    <a:pt x="1628785" y="0"/>
                  </a:lnTo>
                  <a:lnTo>
                    <a:pt x="1857385" y="0"/>
                  </a:lnTo>
                  <a:lnTo>
                    <a:pt x="1857385" y="38099"/>
                  </a:lnTo>
                  <a:close/>
                </a:path>
                <a:path w="6286500" h="7914640">
                  <a:moveTo>
                    <a:pt x="2124085" y="38099"/>
                  </a:moveTo>
                  <a:lnTo>
                    <a:pt x="1895485" y="38099"/>
                  </a:lnTo>
                  <a:lnTo>
                    <a:pt x="1895485" y="0"/>
                  </a:lnTo>
                  <a:lnTo>
                    <a:pt x="2124085" y="0"/>
                  </a:lnTo>
                  <a:lnTo>
                    <a:pt x="2124085" y="38099"/>
                  </a:lnTo>
                  <a:close/>
                </a:path>
                <a:path w="6286500" h="7914640">
                  <a:moveTo>
                    <a:pt x="2390785" y="38099"/>
                  </a:moveTo>
                  <a:lnTo>
                    <a:pt x="2162185" y="38099"/>
                  </a:lnTo>
                  <a:lnTo>
                    <a:pt x="2162185" y="0"/>
                  </a:lnTo>
                  <a:lnTo>
                    <a:pt x="2390785" y="0"/>
                  </a:lnTo>
                  <a:lnTo>
                    <a:pt x="2390785" y="38099"/>
                  </a:lnTo>
                  <a:close/>
                </a:path>
                <a:path w="6286500" h="7914640">
                  <a:moveTo>
                    <a:pt x="2657485" y="38099"/>
                  </a:moveTo>
                  <a:lnTo>
                    <a:pt x="2428885" y="38099"/>
                  </a:lnTo>
                  <a:lnTo>
                    <a:pt x="2428885" y="0"/>
                  </a:lnTo>
                  <a:lnTo>
                    <a:pt x="2657485" y="0"/>
                  </a:lnTo>
                  <a:lnTo>
                    <a:pt x="2657485" y="38099"/>
                  </a:lnTo>
                  <a:close/>
                </a:path>
                <a:path w="6286500" h="7914640">
                  <a:moveTo>
                    <a:pt x="2924185" y="38099"/>
                  </a:moveTo>
                  <a:lnTo>
                    <a:pt x="2695585" y="38099"/>
                  </a:lnTo>
                  <a:lnTo>
                    <a:pt x="2695585" y="0"/>
                  </a:lnTo>
                  <a:lnTo>
                    <a:pt x="2924185" y="0"/>
                  </a:lnTo>
                  <a:lnTo>
                    <a:pt x="2924185" y="38099"/>
                  </a:lnTo>
                  <a:close/>
                </a:path>
                <a:path w="6286500" h="7914640">
                  <a:moveTo>
                    <a:pt x="3190885" y="38099"/>
                  </a:moveTo>
                  <a:lnTo>
                    <a:pt x="2962285" y="38099"/>
                  </a:lnTo>
                  <a:lnTo>
                    <a:pt x="2962285" y="0"/>
                  </a:lnTo>
                  <a:lnTo>
                    <a:pt x="3190885" y="0"/>
                  </a:lnTo>
                  <a:lnTo>
                    <a:pt x="3190885" y="38099"/>
                  </a:lnTo>
                  <a:close/>
                </a:path>
                <a:path w="6286500" h="7914640">
                  <a:moveTo>
                    <a:pt x="3457585" y="38099"/>
                  </a:moveTo>
                  <a:lnTo>
                    <a:pt x="3228985" y="38099"/>
                  </a:lnTo>
                  <a:lnTo>
                    <a:pt x="3228985" y="0"/>
                  </a:lnTo>
                  <a:lnTo>
                    <a:pt x="3457585" y="0"/>
                  </a:lnTo>
                  <a:lnTo>
                    <a:pt x="3457585" y="38099"/>
                  </a:lnTo>
                  <a:close/>
                </a:path>
                <a:path w="6286500" h="7914640">
                  <a:moveTo>
                    <a:pt x="3724285" y="38099"/>
                  </a:moveTo>
                  <a:lnTo>
                    <a:pt x="3495685" y="38099"/>
                  </a:lnTo>
                  <a:lnTo>
                    <a:pt x="3495685" y="0"/>
                  </a:lnTo>
                  <a:lnTo>
                    <a:pt x="3724285" y="0"/>
                  </a:lnTo>
                  <a:lnTo>
                    <a:pt x="3724285" y="38099"/>
                  </a:lnTo>
                  <a:close/>
                </a:path>
                <a:path w="6286500" h="7914640">
                  <a:moveTo>
                    <a:pt x="3990985" y="38099"/>
                  </a:moveTo>
                  <a:lnTo>
                    <a:pt x="3762385" y="38099"/>
                  </a:lnTo>
                  <a:lnTo>
                    <a:pt x="3762385" y="0"/>
                  </a:lnTo>
                  <a:lnTo>
                    <a:pt x="3990985" y="0"/>
                  </a:lnTo>
                  <a:lnTo>
                    <a:pt x="3990985" y="38099"/>
                  </a:lnTo>
                  <a:close/>
                </a:path>
                <a:path w="6286500" h="7914640">
                  <a:moveTo>
                    <a:pt x="4257685" y="38099"/>
                  </a:moveTo>
                  <a:lnTo>
                    <a:pt x="4029085" y="38099"/>
                  </a:lnTo>
                  <a:lnTo>
                    <a:pt x="4029085" y="0"/>
                  </a:lnTo>
                  <a:lnTo>
                    <a:pt x="4257685" y="0"/>
                  </a:lnTo>
                  <a:lnTo>
                    <a:pt x="4257685" y="38099"/>
                  </a:lnTo>
                  <a:close/>
                </a:path>
                <a:path w="6286500" h="7914640">
                  <a:moveTo>
                    <a:pt x="4524385" y="38099"/>
                  </a:moveTo>
                  <a:lnTo>
                    <a:pt x="4295785" y="38099"/>
                  </a:lnTo>
                  <a:lnTo>
                    <a:pt x="4295785" y="0"/>
                  </a:lnTo>
                  <a:lnTo>
                    <a:pt x="4524385" y="0"/>
                  </a:lnTo>
                  <a:lnTo>
                    <a:pt x="4524385" y="38099"/>
                  </a:lnTo>
                  <a:close/>
                </a:path>
                <a:path w="6286500" h="7914640">
                  <a:moveTo>
                    <a:pt x="4791085" y="38099"/>
                  </a:moveTo>
                  <a:lnTo>
                    <a:pt x="4562485" y="38099"/>
                  </a:lnTo>
                  <a:lnTo>
                    <a:pt x="4562485" y="0"/>
                  </a:lnTo>
                  <a:lnTo>
                    <a:pt x="4791085" y="0"/>
                  </a:lnTo>
                  <a:lnTo>
                    <a:pt x="4791085" y="38099"/>
                  </a:lnTo>
                  <a:close/>
                </a:path>
                <a:path w="6286500" h="7914640">
                  <a:moveTo>
                    <a:pt x="5057785" y="38099"/>
                  </a:moveTo>
                  <a:lnTo>
                    <a:pt x="4829185" y="38099"/>
                  </a:lnTo>
                  <a:lnTo>
                    <a:pt x="4829185" y="0"/>
                  </a:lnTo>
                  <a:lnTo>
                    <a:pt x="5057785" y="0"/>
                  </a:lnTo>
                  <a:lnTo>
                    <a:pt x="5057785" y="38099"/>
                  </a:lnTo>
                  <a:close/>
                </a:path>
                <a:path w="6286500" h="7914640">
                  <a:moveTo>
                    <a:pt x="5324485" y="38099"/>
                  </a:moveTo>
                  <a:lnTo>
                    <a:pt x="5095885" y="38099"/>
                  </a:lnTo>
                  <a:lnTo>
                    <a:pt x="5095885" y="0"/>
                  </a:lnTo>
                  <a:lnTo>
                    <a:pt x="5324485" y="0"/>
                  </a:lnTo>
                  <a:lnTo>
                    <a:pt x="5324485" y="38099"/>
                  </a:lnTo>
                  <a:close/>
                </a:path>
                <a:path w="6286500" h="7914640">
                  <a:moveTo>
                    <a:pt x="5591185" y="38099"/>
                  </a:moveTo>
                  <a:lnTo>
                    <a:pt x="5362585" y="38099"/>
                  </a:lnTo>
                  <a:lnTo>
                    <a:pt x="5362585" y="0"/>
                  </a:lnTo>
                  <a:lnTo>
                    <a:pt x="5591185" y="0"/>
                  </a:lnTo>
                  <a:lnTo>
                    <a:pt x="5591185" y="38099"/>
                  </a:lnTo>
                  <a:close/>
                </a:path>
                <a:path w="6286500" h="7914640">
                  <a:moveTo>
                    <a:pt x="5857885" y="38099"/>
                  </a:moveTo>
                  <a:lnTo>
                    <a:pt x="5629285" y="38099"/>
                  </a:lnTo>
                  <a:lnTo>
                    <a:pt x="5629285" y="0"/>
                  </a:lnTo>
                  <a:lnTo>
                    <a:pt x="5857885" y="0"/>
                  </a:lnTo>
                  <a:lnTo>
                    <a:pt x="5857885" y="38099"/>
                  </a:lnTo>
                  <a:close/>
                </a:path>
                <a:path w="6286500" h="7914640">
                  <a:moveTo>
                    <a:pt x="6103551" y="64077"/>
                  </a:moveTo>
                  <a:lnTo>
                    <a:pt x="6076514" y="52712"/>
                  </a:lnTo>
                  <a:lnTo>
                    <a:pt x="6048730" y="44594"/>
                  </a:lnTo>
                  <a:lnTo>
                    <a:pt x="6020197" y="39723"/>
                  </a:lnTo>
                  <a:lnTo>
                    <a:pt x="5990916" y="38099"/>
                  </a:lnTo>
                  <a:lnTo>
                    <a:pt x="5895985" y="38099"/>
                  </a:lnTo>
                  <a:lnTo>
                    <a:pt x="5895985" y="0"/>
                  </a:lnTo>
                  <a:lnTo>
                    <a:pt x="5990939" y="0"/>
                  </a:lnTo>
                  <a:lnTo>
                    <a:pt x="6037409" y="3678"/>
                  </a:lnTo>
                  <a:lnTo>
                    <a:pt x="6082316" y="14494"/>
                  </a:lnTo>
                  <a:lnTo>
                    <a:pt x="6120084" y="30138"/>
                  </a:lnTo>
                  <a:lnTo>
                    <a:pt x="6103551" y="64077"/>
                  </a:lnTo>
                  <a:close/>
                </a:path>
                <a:path w="6286500" h="7914640">
                  <a:moveTo>
                    <a:pt x="6242293" y="240975"/>
                  </a:moveTo>
                  <a:lnTo>
                    <a:pt x="6216916" y="172081"/>
                  </a:lnTo>
                  <a:lnTo>
                    <a:pt x="6172764" y="113424"/>
                  </a:lnTo>
                  <a:lnTo>
                    <a:pt x="6143132" y="87981"/>
                  </a:lnTo>
                  <a:lnTo>
                    <a:pt x="6132422" y="80530"/>
                  </a:lnTo>
                  <a:lnTo>
                    <a:pt x="6152986" y="49322"/>
                  </a:lnTo>
                  <a:lnTo>
                    <a:pt x="6199730" y="86484"/>
                  </a:lnTo>
                  <a:lnTo>
                    <a:pt x="6229988" y="121944"/>
                  </a:lnTo>
                  <a:lnTo>
                    <a:pt x="6254094" y="161346"/>
                  </a:lnTo>
                  <a:lnTo>
                    <a:pt x="6271720" y="203897"/>
                  </a:lnTo>
                  <a:lnTo>
                    <a:pt x="6278753" y="233098"/>
                  </a:lnTo>
                  <a:lnTo>
                    <a:pt x="6242293" y="240975"/>
                  </a:lnTo>
                  <a:close/>
                </a:path>
                <a:path w="6286500" h="7914640">
                  <a:moveTo>
                    <a:pt x="6286214" y="499271"/>
                  </a:moveTo>
                  <a:lnTo>
                    <a:pt x="6248089" y="499271"/>
                  </a:lnTo>
                  <a:lnTo>
                    <a:pt x="6248089" y="288078"/>
                  </a:lnTo>
                  <a:lnTo>
                    <a:pt x="6247788" y="280902"/>
                  </a:lnTo>
                  <a:lnTo>
                    <a:pt x="6247187" y="273745"/>
                  </a:lnTo>
                  <a:lnTo>
                    <a:pt x="6284263" y="270629"/>
                  </a:lnTo>
                  <a:lnTo>
                    <a:pt x="6286214" y="295274"/>
                  </a:lnTo>
                  <a:lnTo>
                    <a:pt x="6286214" y="499271"/>
                  </a:lnTo>
                  <a:close/>
                </a:path>
                <a:path w="6286500" h="7914640">
                  <a:moveTo>
                    <a:pt x="6286214" y="765971"/>
                  </a:moveTo>
                  <a:lnTo>
                    <a:pt x="6248089" y="765971"/>
                  </a:lnTo>
                  <a:lnTo>
                    <a:pt x="6248089" y="537371"/>
                  </a:lnTo>
                  <a:lnTo>
                    <a:pt x="6286214" y="537371"/>
                  </a:lnTo>
                  <a:lnTo>
                    <a:pt x="6286214" y="765971"/>
                  </a:lnTo>
                  <a:close/>
                </a:path>
                <a:path w="6286500" h="7914640">
                  <a:moveTo>
                    <a:pt x="6286214" y="1032671"/>
                  </a:moveTo>
                  <a:lnTo>
                    <a:pt x="6248089" y="1032671"/>
                  </a:lnTo>
                  <a:lnTo>
                    <a:pt x="6248089" y="804071"/>
                  </a:lnTo>
                  <a:lnTo>
                    <a:pt x="6286214" y="804071"/>
                  </a:lnTo>
                  <a:lnTo>
                    <a:pt x="6286214" y="1032671"/>
                  </a:lnTo>
                  <a:close/>
                </a:path>
                <a:path w="6286500" h="7914640">
                  <a:moveTo>
                    <a:pt x="6286214" y="1299371"/>
                  </a:moveTo>
                  <a:lnTo>
                    <a:pt x="6248089" y="1299371"/>
                  </a:lnTo>
                  <a:lnTo>
                    <a:pt x="6248089" y="1070771"/>
                  </a:lnTo>
                  <a:lnTo>
                    <a:pt x="6286214" y="1070771"/>
                  </a:lnTo>
                  <a:lnTo>
                    <a:pt x="6286214" y="1299371"/>
                  </a:lnTo>
                  <a:close/>
                </a:path>
                <a:path w="6286500" h="7914640">
                  <a:moveTo>
                    <a:pt x="6286214" y="1566071"/>
                  </a:moveTo>
                  <a:lnTo>
                    <a:pt x="6248089" y="1566071"/>
                  </a:lnTo>
                  <a:lnTo>
                    <a:pt x="6248089" y="1337471"/>
                  </a:lnTo>
                  <a:lnTo>
                    <a:pt x="6286214" y="1337471"/>
                  </a:lnTo>
                  <a:lnTo>
                    <a:pt x="6286214" y="1566071"/>
                  </a:lnTo>
                  <a:close/>
                </a:path>
                <a:path w="6286500" h="7914640">
                  <a:moveTo>
                    <a:pt x="6286214" y="1832771"/>
                  </a:moveTo>
                  <a:lnTo>
                    <a:pt x="6248089" y="1832771"/>
                  </a:lnTo>
                  <a:lnTo>
                    <a:pt x="6248089" y="1604171"/>
                  </a:lnTo>
                  <a:lnTo>
                    <a:pt x="6286214" y="1604171"/>
                  </a:lnTo>
                  <a:lnTo>
                    <a:pt x="6286214" y="1832771"/>
                  </a:lnTo>
                  <a:close/>
                </a:path>
                <a:path w="6286500" h="7914640">
                  <a:moveTo>
                    <a:pt x="6286214" y="2099471"/>
                  </a:moveTo>
                  <a:lnTo>
                    <a:pt x="6248089" y="2099471"/>
                  </a:lnTo>
                  <a:lnTo>
                    <a:pt x="6248089" y="1870871"/>
                  </a:lnTo>
                  <a:lnTo>
                    <a:pt x="6286214" y="1870871"/>
                  </a:lnTo>
                  <a:lnTo>
                    <a:pt x="6286214" y="2099471"/>
                  </a:lnTo>
                  <a:close/>
                </a:path>
                <a:path w="6286500" h="7914640">
                  <a:moveTo>
                    <a:pt x="6286214" y="2366171"/>
                  </a:moveTo>
                  <a:lnTo>
                    <a:pt x="6248089" y="2366171"/>
                  </a:lnTo>
                  <a:lnTo>
                    <a:pt x="6248089" y="2137571"/>
                  </a:lnTo>
                  <a:lnTo>
                    <a:pt x="6286214" y="2137571"/>
                  </a:lnTo>
                  <a:lnTo>
                    <a:pt x="6286214" y="2366171"/>
                  </a:lnTo>
                  <a:close/>
                </a:path>
                <a:path w="6286500" h="7914640">
                  <a:moveTo>
                    <a:pt x="6286214" y="2632871"/>
                  </a:moveTo>
                  <a:lnTo>
                    <a:pt x="6248089" y="2632871"/>
                  </a:lnTo>
                  <a:lnTo>
                    <a:pt x="6248089" y="2404271"/>
                  </a:lnTo>
                  <a:lnTo>
                    <a:pt x="6286214" y="2404271"/>
                  </a:lnTo>
                  <a:lnTo>
                    <a:pt x="6286214" y="2632871"/>
                  </a:lnTo>
                  <a:close/>
                </a:path>
                <a:path w="6286500" h="7914640">
                  <a:moveTo>
                    <a:pt x="6286214" y="2899571"/>
                  </a:moveTo>
                  <a:lnTo>
                    <a:pt x="6248089" y="2899571"/>
                  </a:lnTo>
                  <a:lnTo>
                    <a:pt x="6248089" y="2670971"/>
                  </a:lnTo>
                  <a:lnTo>
                    <a:pt x="6286214" y="2670971"/>
                  </a:lnTo>
                  <a:lnTo>
                    <a:pt x="6286214" y="2899571"/>
                  </a:lnTo>
                  <a:close/>
                </a:path>
                <a:path w="6286500" h="7914640">
                  <a:moveTo>
                    <a:pt x="6286214" y="3166271"/>
                  </a:moveTo>
                  <a:lnTo>
                    <a:pt x="6248089" y="3166271"/>
                  </a:lnTo>
                  <a:lnTo>
                    <a:pt x="6248089" y="2937671"/>
                  </a:lnTo>
                  <a:lnTo>
                    <a:pt x="6286214" y="2937671"/>
                  </a:lnTo>
                  <a:lnTo>
                    <a:pt x="6286214" y="3166271"/>
                  </a:lnTo>
                  <a:close/>
                </a:path>
                <a:path w="6286500" h="7914640">
                  <a:moveTo>
                    <a:pt x="6286214" y="3432971"/>
                  </a:moveTo>
                  <a:lnTo>
                    <a:pt x="6248089" y="3432971"/>
                  </a:lnTo>
                  <a:lnTo>
                    <a:pt x="6248089" y="3204371"/>
                  </a:lnTo>
                  <a:lnTo>
                    <a:pt x="6286214" y="3204371"/>
                  </a:lnTo>
                  <a:lnTo>
                    <a:pt x="6286214" y="3432971"/>
                  </a:lnTo>
                  <a:close/>
                </a:path>
                <a:path w="6286500" h="7914640">
                  <a:moveTo>
                    <a:pt x="6286214" y="3699671"/>
                  </a:moveTo>
                  <a:lnTo>
                    <a:pt x="6248089" y="3699671"/>
                  </a:lnTo>
                  <a:lnTo>
                    <a:pt x="6248089" y="3471071"/>
                  </a:lnTo>
                  <a:lnTo>
                    <a:pt x="6286214" y="3471071"/>
                  </a:lnTo>
                  <a:lnTo>
                    <a:pt x="6286214" y="3699671"/>
                  </a:lnTo>
                  <a:close/>
                </a:path>
                <a:path w="6286500" h="7914640">
                  <a:moveTo>
                    <a:pt x="6286214" y="3966371"/>
                  </a:moveTo>
                  <a:lnTo>
                    <a:pt x="6248089" y="3966371"/>
                  </a:lnTo>
                  <a:lnTo>
                    <a:pt x="6248089" y="3737771"/>
                  </a:lnTo>
                  <a:lnTo>
                    <a:pt x="6286214" y="3737771"/>
                  </a:lnTo>
                  <a:lnTo>
                    <a:pt x="6286214" y="3966371"/>
                  </a:lnTo>
                  <a:close/>
                </a:path>
                <a:path w="6286500" h="7914640">
                  <a:moveTo>
                    <a:pt x="6286214" y="4233071"/>
                  </a:moveTo>
                  <a:lnTo>
                    <a:pt x="6248089" y="4233071"/>
                  </a:lnTo>
                  <a:lnTo>
                    <a:pt x="6248089" y="4004471"/>
                  </a:lnTo>
                  <a:lnTo>
                    <a:pt x="6286214" y="4004471"/>
                  </a:lnTo>
                  <a:lnTo>
                    <a:pt x="6286214" y="4233071"/>
                  </a:lnTo>
                  <a:close/>
                </a:path>
                <a:path w="6286500" h="7914640">
                  <a:moveTo>
                    <a:pt x="6286214" y="4499771"/>
                  </a:moveTo>
                  <a:lnTo>
                    <a:pt x="6248089" y="4499771"/>
                  </a:lnTo>
                  <a:lnTo>
                    <a:pt x="6248089" y="4271171"/>
                  </a:lnTo>
                  <a:lnTo>
                    <a:pt x="6286214" y="4271171"/>
                  </a:lnTo>
                  <a:lnTo>
                    <a:pt x="6286214" y="4499771"/>
                  </a:lnTo>
                  <a:close/>
                </a:path>
                <a:path w="6286500" h="7914640">
                  <a:moveTo>
                    <a:pt x="6286214" y="4766471"/>
                  </a:moveTo>
                  <a:lnTo>
                    <a:pt x="6248089" y="4766471"/>
                  </a:lnTo>
                  <a:lnTo>
                    <a:pt x="6248089" y="4537871"/>
                  </a:lnTo>
                  <a:lnTo>
                    <a:pt x="6286214" y="4537871"/>
                  </a:lnTo>
                  <a:lnTo>
                    <a:pt x="6286214" y="4766471"/>
                  </a:lnTo>
                  <a:close/>
                </a:path>
                <a:path w="6286500" h="7914640">
                  <a:moveTo>
                    <a:pt x="6286214" y="5033171"/>
                  </a:moveTo>
                  <a:lnTo>
                    <a:pt x="6248089" y="5033171"/>
                  </a:lnTo>
                  <a:lnTo>
                    <a:pt x="6248089" y="4804571"/>
                  </a:lnTo>
                  <a:lnTo>
                    <a:pt x="6286214" y="4804571"/>
                  </a:lnTo>
                  <a:lnTo>
                    <a:pt x="6286214" y="5033171"/>
                  </a:lnTo>
                  <a:close/>
                </a:path>
                <a:path w="6286500" h="7914640">
                  <a:moveTo>
                    <a:pt x="6286214" y="5299871"/>
                  </a:moveTo>
                  <a:lnTo>
                    <a:pt x="6248089" y="5299871"/>
                  </a:lnTo>
                  <a:lnTo>
                    <a:pt x="6248089" y="5071271"/>
                  </a:lnTo>
                  <a:lnTo>
                    <a:pt x="6286214" y="5071271"/>
                  </a:lnTo>
                  <a:lnTo>
                    <a:pt x="6286214" y="5299871"/>
                  </a:lnTo>
                  <a:close/>
                </a:path>
                <a:path w="6286500" h="7914640">
                  <a:moveTo>
                    <a:pt x="6286214" y="5566571"/>
                  </a:moveTo>
                  <a:lnTo>
                    <a:pt x="6248089" y="5566571"/>
                  </a:lnTo>
                  <a:lnTo>
                    <a:pt x="6248089" y="5337971"/>
                  </a:lnTo>
                  <a:lnTo>
                    <a:pt x="6286214" y="5337971"/>
                  </a:lnTo>
                  <a:lnTo>
                    <a:pt x="6286214" y="5566571"/>
                  </a:lnTo>
                  <a:close/>
                </a:path>
                <a:path w="6286500" h="7914640">
                  <a:moveTo>
                    <a:pt x="6286214" y="5833271"/>
                  </a:moveTo>
                  <a:lnTo>
                    <a:pt x="6248089" y="5833271"/>
                  </a:lnTo>
                  <a:lnTo>
                    <a:pt x="6248089" y="5604671"/>
                  </a:lnTo>
                  <a:lnTo>
                    <a:pt x="6286214" y="5604671"/>
                  </a:lnTo>
                  <a:lnTo>
                    <a:pt x="6286214" y="5833271"/>
                  </a:lnTo>
                  <a:close/>
                </a:path>
                <a:path w="6286500" h="7914640">
                  <a:moveTo>
                    <a:pt x="6286214" y="6099971"/>
                  </a:moveTo>
                  <a:lnTo>
                    <a:pt x="6248089" y="6099971"/>
                  </a:lnTo>
                  <a:lnTo>
                    <a:pt x="6248089" y="5871371"/>
                  </a:lnTo>
                  <a:lnTo>
                    <a:pt x="6286214" y="5871371"/>
                  </a:lnTo>
                  <a:lnTo>
                    <a:pt x="6286214" y="6099971"/>
                  </a:lnTo>
                  <a:close/>
                </a:path>
                <a:path w="6286500" h="7914640">
                  <a:moveTo>
                    <a:pt x="6286214" y="6366671"/>
                  </a:moveTo>
                  <a:lnTo>
                    <a:pt x="6248089" y="6366671"/>
                  </a:lnTo>
                  <a:lnTo>
                    <a:pt x="6248089" y="6138071"/>
                  </a:lnTo>
                  <a:lnTo>
                    <a:pt x="6286214" y="6138071"/>
                  </a:lnTo>
                  <a:lnTo>
                    <a:pt x="6286214" y="6366671"/>
                  </a:lnTo>
                  <a:close/>
                </a:path>
                <a:path w="6286500" h="7914640">
                  <a:moveTo>
                    <a:pt x="6286214" y="6633371"/>
                  </a:moveTo>
                  <a:lnTo>
                    <a:pt x="6248089" y="6633371"/>
                  </a:lnTo>
                  <a:lnTo>
                    <a:pt x="6248089" y="6404771"/>
                  </a:lnTo>
                  <a:lnTo>
                    <a:pt x="6286214" y="6404771"/>
                  </a:lnTo>
                  <a:lnTo>
                    <a:pt x="6286214" y="6633371"/>
                  </a:lnTo>
                  <a:close/>
                </a:path>
                <a:path w="6286500" h="7914640">
                  <a:moveTo>
                    <a:pt x="6286214" y="6900071"/>
                  </a:moveTo>
                  <a:lnTo>
                    <a:pt x="6248089" y="6900071"/>
                  </a:lnTo>
                  <a:lnTo>
                    <a:pt x="6248089" y="6671471"/>
                  </a:lnTo>
                  <a:lnTo>
                    <a:pt x="6286214" y="6671471"/>
                  </a:lnTo>
                  <a:lnTo>
                    <a:pt x="6286214" y="6900071"/>
                  </a:lnTo>
                  <a:close/>
                </a:path>
                <a:path w="6286500" h="7914640">
                  <a:moveTo>
                    <a:pt x="6286214" y="7166771"/>
                  </a:moveTo>
                  <a:lnTo>
                    <a:pt x="6248089" y="7166771"/>
                  </a:lnTo>
                  <a:lnTo>
                    <a:pt x="6248089" y="6938171"/>
                  </a:lnTo>
                  <a:lnTo>
                    <a:pt x="6286214" y="6938171"/>
                  </a:lnTo>
                  <a:lnTo>
                    <a:pt x="6286214" y="7166771"/>
                  </a:lnTo>
                  <a:close/>
                </a:path>
                <a:path w="6286500" h="7914640">
                  <a:moveTo>
                    <a:pt x="6286214" y="7433471"/>
                  </a:moveTo>
                  <a:lnTo>
                    <a:pt x="6248089" y="7433471"/>
                  </a:lnTo>
                  <a:lnTo>
                    <a:pt x="6248089" y="7204871"/>
                  </a:lnTo>
                  <a:lnTo>
                    <a:pt x="6286214" y="7204871"/>
                  </a:lnTo>
                  <a:lnTo>
                    <a:pt x="6286214" y="7433471"/>
                  </a:lnTo>
                  <a:close/>
                </a:path>
                <a:path w="6286500" h="7914640">
                  <a:moveTo>
                    <a:pt x="6274394" y="7699130"/>
                  </a:moveTo>
                  <a:lnTo>
                    <a:pt x="6238349" y="7688917"/>
                  </a:lnTo>
                  <a:lnTo>
                    <a:pt x="6242610" y="7671646"/>
                  </a:lnTo>
                  <a:lnTo>
                    <a:pt x="6245654" y="7654204"/>
                  </a:lnTo>
                  <a:lnTo>
                    <a:pt x="6247480" y="7636593"/>
                  </a:lnTo>
                  <a:lnTo>
                    <a:pt x="6248089" y="7618810"/>
                  </a:lnTo>
                  <a:lnTo>
                    <a:pt x="6248089" y="7471571"/>
                  </a:lnTo>
                  <a:lnTo>
                    <a:pt x="6286214" y="7471571"/>
                  </a:lnTo>
                  <a:lnTo>
                    <a:pt x="6286214" y="7618810"/>
                  </a:lnTo>
                  <a:lnTo>
                    <a:pt x="6282536" y="7665327"/>
                  </a:lnTo>
                  <a:lnTo>
                    <a:pt x="6274394" y="7699130"/>
                  </a:lnTo>
                  <a:close/>
                </a:path>
                <a:path w="6286500" h="7914640">
                  <a:moveTo>
                    <a:pt x="6102891" y="7891115"/>
                  </a:moveTo>
                  <a:lnTo>
                    <a:pt x="6088721" y="7856659"/>
                  </a:lnTo>
                  <a:lnTo>
                    <a:pt x="6111835" y="7845814"/>
                  </a:lnTo>
                  <a:lnTo>
                    <a:pt x="6133547" y="7832865"/>
                  </a:lnTo>
                  <a:lnTo>
                    <a:pt x="6172764" y="7800659"/>
                  </a:lnTo>
                  <a:lnTo>
                    <a:pt x="6203885" y="7763046"/>
                  </a:lnTo>
                  <a:lnTo>
                    <a:pt x="6227263" y="7720190"/>
                  </a:lnTo>
                  <a:lnTo>
                    <a:pt x="6261511" y="7734881"/>
                  </a:lnTo>
                  <a:lnTo>
                    <a:pt x="6229988" y="7792187"/>
                  </a:lnTo>
                  <a:lnTo>
                    <a:pt x="6199730" y="7827648"/>
                  </a:lnTo>
                  <a:lnTo>
                    <a:pt x="6164270" y="7857906"/>
                  </a:lnTo>
                  <a:lnTo>
                    <a:pt x="6124868" y="7882011"/>
                  </a:lnTo>
                  <a:lnTo>
                    <a:pt x="6102891" y="7891115"/>
                  </a:lnTo>
                  <a:close/>
                </a:path>
                <a:path w="6286500" h="7914640">
                  <a:moveTo>
                    <a:pt x="5990939" y="7914131"/>
                  </a:moveTo>
                  <a:lnTo>
                    <a:pt x="5839227" y="7914131"/>
                  </a:lnTo>
                  <a:lnTo>
                    <a:pt x="5839227" y="7875983"/>
                  </a:lnTo>
                  <a:lnTo>
                    <a:pt x="5990916" y="7875983"/>
                  </a:lnTo>
                  <a:lnTo>
                    <a:pt x="6007723" y="7875439"/>
                  </a:lnTo>
                  <a:lnTo>
                    <a:pt x="6024386" y="7873806"/>
                  </a:lnTo>
                  <a:lnTo>
                    <a:pt x="6040904" y="7871084"/>
                  </a:lnTo>
                  <a:lnTo>
                    <a:pt x="6057278" y="7867274"/>
                  </a:lnTo>
                  <a:lnTo>
                    <a:pt x="6066914" y="7903346"/>
                  </a:lnTo>
                  <a:lnTo>
                    <a:pt x="6037409" y="7910453"/>
                  </a:lnTo>
                  <a:lnTo>
                    <a:pt x="5990939" y="7914131"/>
                  </a:lnTo>
                  <a:close/>
                </a:path>
                <a:path w="6286500" h="7914640">
                  <a:moveTo>
                    <a:pt x="5801127" y="7914131"/>
                  </a:moveTo>
                  <a:lnTo>
                    <a:pt x="5572527" y="7914131"/>
                  </a:lnTo>
                  <a:lnTo>
                    <a:pt x="5572527" y="7875983"/>
                  </a:lnTo>
                  <a:lnTo>
                    <a:pt x="5801127" y="7875983"/>
                  </a:lnTo>
                  <a:lnTo>
                    <a:pt x="5801127" y="7914131"/>
                  </a:lnTo>
                  <a:close/>
                </a:path>
                <a:path w="6286500" h="7914640">
                  <a:moveTo>
                    <a:pt x="5534427" y="7914131"/>
                  </a:moveTo>
                  <a:lnTo>
                    <a:pt x="5305827" y="7914131"/>
                  </a:lnTo>
                  <a:lnTo>
                    <a:pt x="5305827" y="7875983"/>
                  </a:lnTo>
                  <a:lnTo>
                    <a:pt x="5534427" y="7875983"/>
                  </a:lnTo>
                  <a:lnTo>
                    <a:pt x="5534427" y="7914131"/>
                  </a:lnTo>
                  <a:close/>
                </a:path>
                <a:path w="6286500" h="7914640">
                  <a:moveTo>
                    <a:pt x="5267727" y="7914131"/>
                  </a:moveTo>
                  <a:lnTo>
                    <a:pt x="5039127" y="7914131"/>
                  </a:lnTo>
                  <a:lnTo>
                    <a:pt x="5039127" y="7875983"/>
                  </a:lnTo>
                  <a:lnTo>
                    <a:pt x="5267727" y="7875983"/>
                  </a:lnTo>
                  <a:lnTo>
                    <a:pt x="5267727" y="7914131"/>
                  </a:lnTo>
                  <a:close/>
                </a:path>
                <a:path w="6286500" h="7914640">
                  <a:moveTo>
                    <a:pt x="5001027" y="7914131"/>
                  </a:moveTo>
                  <a:lnTo>
                    <a:pt x="4772427" y="7914131"/>
                  </a:lnTo>
                  <a:lnTo>
                    <a:pt x="4772427" y="7875983"/>
                  </a:lnTo>
                  <a:lnTo>
                    <a:pt x="5001027" y="7875983"/>
                  </a:lnTo>
                  <a:lnTo>
                    <a:pt x="5001027" y="7914131"/>
                  </a:lnTo>
                  <a:close/>
                </a:path>
                <a:path w="6286500" h="7914640">
                  <a:moveTo>
                    <a:pt x="4734327" y="7914131"/>
                  </a:moveTo>
                  <a:lnTo>
                    <a:pt x="4505727" y="7914131"/>
                  </a:lnTo>
                  <a:lnTo>
                    <a:pt x="4505727" y="7875983"/>
                  </a:lnTo>
                  <a:lnTo>
                    <a:pt x="4734327" y="7875983"/>
                  </a:lnTo>
                  <a:lnTo>
                    <a:pt x="4734327" y="7914131"/>
                  </a:lnTo>
                  <a:close/>
                </a:path>
                <a:path w="6286500" h="7914640">
                  <a:moveTo>
                    <a:pt x="4467628" y="7914131"/>
                  </a:moveTo>
                  <a:lnTo>
                    <a:pt x="4239027" y="7914131"/>
                  </a:lnTo>
                  <a:lnTo>
                    <a:pt x="4239027" y="7875983"/>
                  </a:lnTo>
                  <a:lnTo>
                    <a:pt x="4467628" y="7875983"/>
                  </a:lnTo>
                  <a:lnTo>
                    <a:pt x="4467628" y="7914131"/>
                  </a:lnTo>
                  <a:close/>
                </a:path>
                <a:path w="6286500" h="7914640">
                  <a:moveTo>
                    <a:pt x="4200927" y="7914131"/>
                  </a:moveTo>
                  <a:lnTo>
                    <a:pt x="3972328" y="7914131"/>
                  </a:lnTo>
                  <a:lnTo>
                    <a:pt x="3972328" y="7875983"/>
                  </a:lnTo>
                  <a:lnTo>
                    <a:pt x="4200927" y="7875983"/>
                  </a:lnTo>
                  <a:lnTo>
                    <a:pt x="4200927" y="7914131"/>
                  </a:lnTo>
                  <a:close/>
                </a:path>
                <a:path w="6286500" h="7914640">
                  <a:moveTo>
                    <a:pt x="3934228" y="7914131"/>
                  </a:moveTo>
                  <a:lnTo>
                    <a:pt x="3705627" y="7914131"/>
                  </a:lnTo>
                  <a:lnTo>
                    <a:pt x="3705627" y="7875983"/>
                  </a:lnTo>
                  <a:lnTo>
                    <a:pt x="3934228" y="7875983"/>
                  </a:lnTo>
                  <a:lnTo>
                    <a:pt x="3934228" y="7914131"/>
                  </a:lnTo>
                  <a:close/>
                </a:path>
                <a:path w="6286500" h="7914640">
                  <a:moveTo>
                    <a:pt x="3667527" y="7914131"/>
                  </a:moveTo>
                  <a:lnTo>
                    <a:pt x="3438928" y="7914131"/>
                  </a:lnTo>
                  <a:lnTo>
                    <a:pt x="3438928" y="7875983"/>
                  </a:lnTo>
                  <a:lnTo>
                    <a:pt x="3667527" y="7875983"/>
                  </a:lnTo>
                  <a:lnTo>
                    <a:pt x="3667527" y="7914131"/>
                  </a:lnTo>
                  <a:close/>
                </a:path>
                <a:path w="6286500" h="7914640">
                  <a:moveTo>
                    <a:pt x="3400828" y="7914131"/>
                  </a:moveTo>
                  <a:lnTo>
                    <a:pt x="3172228" y="7914131"/>
                  </a:lnTo>
                  <a:lnTo>
                    <a:pt x="3172228" y="7875983"/>
                  </a:lnTo>
                  <a:lnTo>
                    <a:pt x="3400828" y="7875983"/>
                  </a:lnTo>
                  <a:lnTo>
                    <a:pt x="3400828" y="7914131"/>
                  </a:lnTo>
                  <a:close/>
                </a:path>
                <a:path w="6286500" h="7914640">
                  <a:moveTo>
                    <a:pt x="3134128" y="7914131"/>
                  </a:moveTo>
                  <a:lnTo>
                    <a:pt x="2905528" y="7914131"/>
                  </a:lnTo>
                  <a:lnTo>
                    <a:pt x="2905528" y="7875983"/>
                  </a:lnTo>
                  <a:lnTo>
                    <a:pt x="3134128" y="7875983"/>
                  </a:lnTo>
                  <a:lnTo>
                    <a:pt x="3134128" y="7914131"/>
                  </a:lnTo>
                  <a:close/>
                </a:path>
                <a:path w="6286500" h="7914640">
                  <a:moveTo>
                    <a:pt x="2867428" y="7914131"/>
                  </a:moveTo>
                  <a:lnTo>
                    <a:pt x="2638828" y="7914131"/>
                  </a:lnTo>
                  <a:lnTo>
                    <a:pt x="2638828" y="7875983"/>
                  </a:lnTo>
                  <a:lnTo>
                    <a:pt x="2867428" y="7875983"/>
                  </a:lnTo>
                  <a:lnTo>
                    <a:pt x="2867428" y="7914131"/>
                  </a:lnTo>
                  <a:close/>
                </a:path>
                <a:path w="6286500" h="7914640">
                  <a:moveTo>
                    <a:pt x="2600728" y="7914131"/>
                  </a:moveTo>
                  <a:lnTo>
                    <a:pt x="2372128" y="7914131"/>
                  </a:lnTo>
                  <a:lnTo>
                    <a:pt x="2372128" y="7875983"/>
                  </a:lnTo>
                  <a:lnTo>
                    <a:pt x="2600728" y="7875983"/>
                  </a:lnTo>
                  <a:lnTo>
                    <a:pt x="2600728" y="7914131"/>
                  </a:lnTo>
                  <a:close/>
                </a:path>
                <a:path w="6286500" h="7914640">
                  <a:moveTo>
                    <a:pt x="2334028" y="7914131"/>
                  </a:moveTo>
                  <a:lnTo>
                    <a:pt x="2105428" y="7914131"/>
                  </a:lnTo>
                  <a:lnTo>
                    <a:pt x="2105428" y="7875983"/>
                  </a:lnTo>
                  <a:lnTo>
                    <a:pt x="2334028" y="7875983"/>
                  </a:lnTo>
                  <a:lnTo>
                    <a:pt x="2334028" y="7914131"/>
                  </a:lnTo>
                  <a:close/>
                </a:path>
                <a:path w="6286500" h="7914640">
                  <a:moveTo>
                    <a:pt x="2067328" y="7914131"/>
                  </a:moveTo>
                  <a:lnTo>
                    <a:pt x="1838728" y="7914131"/>
                  </a:lnTo>
                  <a:lnTo>
                    <a:pt x="1838728" y="7875983"/>
                  </a:lnTo>
                  <a:lnTo>
                    <a:pt x="2067328" y="7875983"/>
                  </a:lnTo>
                  <a:lnTo>
                    <a:pt x="2067328" y="7914131"/>
                  </a:lnTo>
                  <a:close/>
                </a:path>
                <a:path w="6286500" h="7914640">
                  <a:moveTo>
                    <a:pt x="1800628" y="7914131"/>
                  </a:moveTo>
                  <a:lnTo>
                    <a:pt x="1572028" y="7914131"/>
                  </a:lnTo>
                  <a:lnTo>
                    <a:pt x="1572028" y="7875983"/>
                  </a:lnTo>
                  <a:lnTo>
                    <a:pt x="1800628" y="7875983"/>
                  </a:lnTo>
                  <a:lnTo>
                    <a:pt x="1800628" y="7914131"/>
                  </a:lnTo>
                  <a:close/>
                </a:path>
                <a:path w="6286500" h="7914640">
                  <a:moveTo>
                    <a:pt x="1533928" y="7914131"/>
                  </a:moveTo>
                  <a:lnTo>
                    <a:pt x="1305328" y="7914131"/>
                  </a:lnTo>
                  <a:lnTo>
                    <a:pt x="1305328" y="7875983"/>
                  </a:lnTo>
                  <a:lnTo>
                    <a:pt x="1533928" y="7875983"/>
                  </a:lnTo>
                  <a:lnTo>
                    <a:pt x="1533928" y="7914131"/>
                  </a:lnTo>
                  <a:close/>
                </a:path>
                <a:path w="6286500" h="7914640">
                  <a:moveTo>
                    <a:pt x="1267228" y="7914131"/>
                  </a:moveTo>
                  <a:lnTo>
                    <a:pt x="1038628" y="7914131"/>
                  </a:lnTo>
                  <a:lnTo>
                    <a:pt x="1038628" y="7875983"/>
                  </a:lnTo>
                  <a:lnTo>
                    <a:pt x="1267228" y="7875983"/>
                  </a:lnTo>
                  <a:lnTo>
                    <a:pt x="1267228" y="7914131"/>
                  </a:lnTo>
                  <a:close/>
                </a:path>
                <a:path w="6286500" h="7914640">
                  <a:moveTo>
                    <a:pt x="1000528" y="7914131"/>
                  </a:moveTo>
                  <a:lnTo>
                    <a:pt x="771928" y="7914131"/>
                  </a:lnTo>
                  <a:lnTo>
                    <a:pt x="771928" y="7875983"/>
                  </a:lnTo>
                  <a:lnTo>
                    <a:pt x="1000528" y="7875983"/>
                  </a:lnTo>
                  <a:lnTo>
                    <a:pt x="1000528" y="7914131"/>
                  </a:lnTo>
                  <a:close/>
                </a:path>
                <a:path w="6286500" h="7914640">
                  <a:moveTo>
                    <a:pt x="733828" y="7914131"/>
                  </a:moveTo>
                  <a:lnTo>
                    <a:pt x="505228" y="7914131"/>
                  </a:lnTo>
                  <a:lnTo>
                    <a:pt x="505228" y="7875983"/>
                  </a:lnTo>
                  <a:lnTo>
                    <a:pt x="733828" y="7875983"/>
                  </a:lnTo>
                  <a:lnTo>
                    <a:pt x="733828" y="7914131"/>
                  </a:lnTo>
                  <a:close/>
                </a:path>
                <a:path w="6286500" h="7914640">
                  <a:moveTo>
                    <a:pt x="467128" y="7914131"/>
                  </a:moveTo>
                  <a:lnTo>
                    <a:pt x="295274" y="7914131"/>
                  </a:lnTo>
                  <a:lnTo>
                    <a:pt x="248804" y="7910453"/>
                  </a:lnTo>
                  <a:lnTo>
                    <a:pt x="238888" y="7908064"/>
                  </a:lnTo>
                  <a:lnTo>
                    <a:pt x="246070" y="7871231"/>
                  </a:lnTo>
                  <a:lnTo>
                    <a:pt x="258285" y="7873310"/>
                  </a:lnTo>
                  <a:lnTo>
                    <a:pt x="270559" y="7874795"/>
                  </a:lnTo>
                  <a:lnTo>
                    <a:pt x="282893" y="7875686"/>
                  </a:lnTo>
                  <a:lnTo>
                    <a:pt x="295285" y="7875983"/>
                  </a:lnTo>
                  <a:lnTo>
                    <a:pt x="467128" y="7875983"/>
                  </a:lnTo>
                  <a:lnTo>
                    <a:pt x="467128" y="7914131"/>
                  </a:lnTo>
                  <a:close/>
                </a:path>
                <a:path w="6286500" h="7914640">
                  <a:moveTo>
                    <a:pt x="201916" y="7898816"/>
                  </a:moveTo>
                  <a:lnTo>
                    <a:pt x="161346" y="7882011"/>
                  </a:lnTo>
                  <a:lnTo>
                    <a:pt x="121944" y="7857906"/>
                  </a:lnTo>
                  <a:lnTo>
                    <a:pt x="86484" y="7827648"/>
                  </a:lnTo>
                  <a:lnTo>
                    <a:pt x="56225" y="7792187"/>
                  </a:lnTo>
                  <a:lnTo>
                    <a:pt x="32624" y="7753610"/>
                  </a:lnTo>
                  <a:lnTo>
                    <a:pt x="32520" y="7753440"/>
                  </a:lnTo>
                  <a:lnTo>
                    <a:pt x="66405" y="7736079"/>
                  </a:lnTo>
                  <a:lnTo>
                    <a:pt x="76162" y="7753440"/>
                  </a:lnTo>
                  <a:lnTo>
                    <a:pt x="76258" y="7753610"/>
                  </a:lnTo>
                  <a:lnTo>
                    <a:pt x="99773" y="7785900"/>
                  </a:lnTo>
                  <a:lnTo>
                    <a:pt x="135811" y="7820635"/>
                  </a:lnTo>
                  <a:lnTo>
                    <a:pt x="186060" y="7851694"/>
                  </a:lnTo>
                  <a:lnTo>
                    <a:pt x="213934" y="7862778"/>
                  </a:lnTo>
                  <a:lnTo>
                    <a:pt x="201916" y="7898816"/>
                  </a:lnTo>
                  <a:close/>
                </a:path>
                <a:path w="6286500" h="7914640">
                  <a:moveTo>
                    <a:pt x="17848" y="7718330"/>
                  </a:moveTo>
                  <a:lnTo>
                    <a:pt x="14494" y="7710234"/>
                  </a:lnTo>
                  <a:lnTo>
                    <a:pt x="3678" y="7665327"/>
                  </a:lnTo>
                  <a:lnTo>
                    <a:pt x="0" y="7618810"/>
                  </a:lnTo>
                  <a:lnTo>
                    <a:pt x="0" y="7491723"/>
                  </a:lnTo>
                  <a:lnTo>
                    <a:pt x="38112" y="7491723"/>
                  </a:lnTo>
                  <a:lnTo>
                    <a:pt x="38112" y="7618810"/>
                  </a:lnTo>
                  <a:lnTo>
                    <a:pt x="39056" y="7641012"/>
                  </a:lnTo>
                  <a:lnTo>
                    <a:pt x="41888" y="7662885"/>
                  </a:lnTo>
                  <a:lnTo>
                    <a:pt x="46607" y="7684428"/>
                  </a:lnTo>
                  <a:lnTo>
                    <a:pt x="53215" y="7705643"/>
                  </a:lnTo>
                  <a:lnTo>
                    <a:pt x="17848" y="7718330"/>
                  </a:lnTo>
                  <a:close/>
                </a:path>
                <a:path w="6286500" h="7914640">
                  <a:moveTo>
                    <a:pt x="38112" y="7453623"/>
                  </a:moveTo>
                  <a:lnTo>
                    <a:pt x="0" y="7453623"/>
                  </a:lnTo>
                  <a:lnTo>
                    <a:pt x="0" y="7225023"/>
                  </a:lnTo>
                  <a:lnTo>
                    <a:pt x="38112" y="7225023"/>
                  </a:lnTo>
                  <a:lnTo>
                    <a:pt x="38112" y="7453623"/>
                  </a:lnTo>
                  <a:close/>
                </a:path>
                <a:path w="6286500" h="7914640">
                  <a:moveTo>
                    <a:pt x="38112" y="7186923"/>
                  </a:moveTo>
                  <a:lnTo>
                    <a:pt x="0" y="7186923"/>
                  </a:lnTo>
                  <a:lnTo>
                    <a:pt x="0" y="6958323"/>
                  </a:lnTo>
                  <a:lnTo>
                    <a:pt x="38112" y="6958323"/>
                  </a:lnTo>
                  <a:lnTo>
                    <a:pt x="38112" y="7186923"/>
                  </a:lnTo>
                  <a:close/>
                </a:path>
                <a:path w="6286500" h="7914640">
                  <a:moveTo>
                    <a:pt x="38112" y="6920223"/>
                  </a:moveTo>
                  <a:lnTo>
                    <a:pt x="0" y="6920223"/>
                  </a:lnTo>
                  <a:lnTo>
                    <a:pt x="0" y="6691623"/>
                  </a:lnTo>
                  <a:lnTo>
                    <a:pt x="38112" y="6691623"/>
                  </a:lnTo>
                  <a:lnTo>
                    <a:pt x="38112" y="6920223"/>
                  </a:lnTo>
                  <a:close/>
                </a:path>
                <a:path w="6286500" h="7914640">
                  <a:moveTo>
                    <a:pt x="38112" y="6653523"/>
                  </a:moveTo>
                  <a:lnTo>
                    <a:pt x="0" y="6653523"/>
                  </a:lnTo>
                  <a:lnTo>
                    <a:pt x="0" y="6424923"/>
                  </a:lnTo>
                  <a:lnTo>
                    <a:pt x="38112" y="6424923"/>
                  </a:lnTo>
                  <a:lnTo>
                    <a:pt x="38112" y="6653523"/>
                  </a:lnTo>
                  <a:close/>
                </a:path>
                <a:path w="6286500" h="7914640">
                  <a:moveTo>
                    <a:pt x="38112" y="6386823"/>
                  </a:moveTo>
                  <a:lnTo>
                    <a:pt x="0" y="6386823"/>
                  </a:lnTo>
                  <a:lnTo>
                    <a:pt x="0" y="6158223"/>
                  </a:lnTo>
                  <a:lnTo>
                    <a:pt x="38112" y="6158223"/>
                  </a:lnTo>
                  <a:lnTo>
                    <a:pt x="38112" y="6386823"/>
                  </a:lnTo>
                  <a:close/>
                </a:path>
                <a:path w="6286500" h="7914640">
                  <a:moveTo>
                    <a:pt x="38112" y="6120123"/>
                  </a:moveTo>
                  <a:lnTo>
                    <a:pt x="0" y="6120123"/>
                  </a:lnTo>
                  <a:lnTo>
                    <a:pt x="0" y="5891523"/>
                  </a:lnTo>
                  <a:lnTo>
                    <a:pt x="38112" y="5891523"/>
                  </a:lnTo>
                  <a:lnTo>
                    <a:pt x="38112" y="6120123"/>
                  </a:lnTo>
                  <a:close/>
                </a:path>
                <a:path w="6286500" h="7914640">
                  <a:moveTo>
                    <a:pt x="38112" y="5853423"/>
                  </a:moveTo>
                  <a:lnTo>
                    <a:pt x="0" y="5853423"/>
                  </a:lnTo>
                  <a:lnTo>
                    <a:pt x="0" y="5624823"/>
                  </a:lnTo>
                  <a:lnTo>
                    <a:pt x="38112" y="5624823"/>
                  </a:lnTo>
                  <a:lnTo>
                    <a:pt x="38112" y="5853423"/>
                  </a:lnTo>
                  <a:close/>
                </a:path>
                <a:path w="6286500" h="7914640">
                  <a:moveTo>
                    <a:pt x="38112" y="5586723"/>
                  </a:moveTo>
                  <a:lnTo>
                    <a:pt x="0" y="5586723"/>
                  </a:lnTo>
                  <a:lnTo>
                    <a:pt x="0" y="5358123"/>
                  </a:lnTo>
                  <a:lnTo>
                    <a:pt x="38112" y="5358123"/>
                  </a:lnTo>
                  <a:lnTo>
                    <a:pt x="38112" y="5586723"/>
                  </a:lnTo>
                  <a:close/>
                </a:path>
                <a:path w="6286500" h="7914640">
                  <a:moveTo>
                    <a:pt x="38112" y="5320023"/>
                  </a:moveTo>
                  <a:lnTo>
                    <a:pt x="0" y="5320023"/>
                  </a:lnTo>
                  <a:lnTo>
                    <a:pt x="0" y="5091423"/>
                  </a:lnTo>
                  <a:lnTo>
                    <a:pt x="38112" y="5091423"/>
                  </a:lnTo>
                  <a:lnTo>
                    <a:pt x="38112" y="5320023"/>
                  </a:lnTo>
                  <a:close/>
                </a:path>
                <a:path w="6286500" h="7914640">
                  <a:moveTo>
                    <a:pt x="38112" y="5053323"/>
                  </a:moveTo>
                  <a:lnTo>
                    <a:pt x="0" y="5053323"/>
                  </a:lnTo>
                  <a:lnTo>
                    <a:pt x="0" y="4824723"/>
                  </a:lnTo>
                  <a:lnTo>
                    <a:pt x="38112" y="4824723"/>
                  </a:lnTo>
                  <a:lnTo>
                    <a:pt x="38112" y="5053323"/>
                  </a:lnTo>
                  <a:close/>
                </a:path>
                <a:path w="6286500" h="7914640">
                  <a:moveTo>
                    <a:pt x="38112" y="4786623"/>
                  </a:moveTo>
                  <a:lnTo>
                    <a:pt x="0" y="4786623"/>
                  </a:lnTo>
                  <a:lnTo>
                    <a:pt x="0" y="4558024"/>
                  </a:lnTo>
                  <a:lnTo>
                    <a:pt x="38112" y="4558024"/>
                  </a:lnTo>
                  <a:lnTo>
                    <a:pt x="38112" y="4786623"/>
                  </a:lnTo>
                  <a:close/>
                </a:path>
                <a:path w="6286500" h="7914640">
                  <a:moveTo>
                    <a:pt x="38112" y="4519924"/>
                  </a:moveTo>
                  <a:lnTo>
                    <a:pt x="0" y="4519924"/>
                  </a:lnTo>
                  <a:lnTo>
                    <a:pt x="0" y="4291324"/>
                  </a:lnTo>
                  <a:lnTo>
                    <a:pt x="38112" y="4291324"/>
                  </a:lnTo>
                  <a:lnTo>
                    <a:pt x="38112" y="4519924"/>
                  </a:lnTo>
                  <a:close/>
                </a:path>
                <a:path w="6286500" h="7914640">
                  <a:moveTo>
                    <a:pt x="38112" y="4253224"/>
                  </a:moveTo>
                  <a:lnTo>
                    <a:pt x="0" y="4253224"/>
                  </a:lnTo>
                  <a:lnTo>
                    <a:pt x="0" y="4024624"/>
                  </a:lnTo>
                  <a:lnTo>
                    <a:pt x="38112" y="4024624"/>
                  </a:lnTo>
                  <a:lnTo>
                    <a:pt x="38112" y="4253224"/>
                  </a:lnTo>
                  <a:close/>
                </a:path>
                <a:path w="6286500" h="7914640">
                  <a:moveTo>
                    <a:pt x="38112" y="3986524"/>
                  </a:moveTo>
                  <a:lnTo>
                    <a:pt x="0" y="3986524"/>
                  </a:lnTo>
                  <a:lnTo>
                    <a:pt x="0" y="3757924"/>
                  </a:lnTo>
                  <a:lnTo>
                    <a:pt x="38112" y="3757924"/>
                  </a:lnTo>
                  <a:lnTo>
                    <a:pt x="38112" y="3986524"/>
                  </a:lnTo>
                  <a:close/>
                </a:path>
                <a:path w="6286500" h="7914640">
                  <a:moveTo>
                    <a:pt x="38112" y="3719824"/>
                  </a:moveTo>
                  <a:lnTo>
                    <a:pt x="0" y="3719824"/>
                  </a:lnTo>
                  <a:lnTo>
                    <a:pt x="0" y="3491224"/>
                  </a:lnTo>
                  <a:lnTo>
                    <a:pt x="38112" y="3491224"/>
                  </a:lnTo>
                  <a:lnTo>
                    <a:pt x="38112" y="3719824"/>
                  </a:lnTo>
                  <a:close/>
                </a:path>
                <a:path w="6286500" h="7914640">
                  <a:moveTo>
                    <a:pt x="38112" y="3453124"/>
                  </a:moveTo>
                  <a:lnTo>
                    <a:pt x="0" y="3453124"/>
                  </a:lnTo>
                  <a:lnTo>
                    <a:pt x="0" y="3224524"/>
                  </a:lnTo>
                  <a:lnTo>
                    <a:pt x="38112" y="3224524"/>
                  </a:lnTo>
                  <a:lnTo>
                    <a:pt x="38112" y="3453124"/>
                  </a:lnTo>
                  <a:close/>
                </a:path>
                <a:path w="6286500" h="7914640">
                  <a:moveTo>
                    <a:pt x="38112" y="3186424"/>
                  </a:moveTo>
                  <a:lnTo>
                    <a:pt x="0" y="3186424"/>
                  </a:lnTo>
                  <a:lnTo>
                    <a:pt x="0" y="2957824"/>
                  </a:lnTo>
                  <a:lnTo>
                    <a:pt x="38112" y="2957824"/>
                  </a:lnTo>
                  <a:lnTo>
                    <a:pt x="38112" y="3186424"/>
                  </a:lnTo>
                  <a:close/>
                </a:path>
                <a:path w="6286500" h="7914640">
                  <a:moveTo>
                    <a:pt x="38112" y="2919724"/>
                  </a:moveTo>
                  <a:lnTo>
                    <a:pt x="0" y="2919724"/>
                  </a:lnTo>
                  <a:lnTo>
                    <a:pt x="0" y="2691124"/>
                  </a:lnTo>
                  <a:lnTo>
                    <a:pt x="38112" y="2691124"/>
                  </a:lnTo>
                  <a:lnTo>
                    <a:pt x="38112" y="2919724"/>
                  </a:lnTo>
                  <a:close/>
                </a:path>
                <a:path w="6286500" h="7914640">
                  <a:moveTo>
                    <a:pt x="38112" y="2653024"/>
                  </a:moveTo>
                  <a:lnTo>
                    <a:pt x="0" y="2653024"/>
                  </a:lnTo>
                  <a:lnTo>
                    <a:pt x="0" y="2424424"/>
                  </a:lnTo>
                  <a:lnTo>
                    <a:pt x="38112" y="2424424"/>
                  </a:lnTo>
                  <a:lnTo>
                    <a:pt x="38112" y="2653024"/>
                  </a:lnTo>
                  <a:close/>
                </a:path>
                <a:path w="6286500" h="7914640">
                  <a:moveTo>
                    <a:pt x="38112" y="2386324"/>
                  </a:moveTo>
                  <a:lnTo>
                    <a:pt x="0" y="2386324"/>
                  </a:lnTo>
                  <a:lnTo>
                    <a:pt x="0" y="2157724"/>
                  </a:lnTo>
                  <a:lnTo>
                    <a:pt x="38112" y="2157724"/>
                  </a:lnTo>
                  <a:lnTo>
                    <a:pt x="38112" y="2386324"/>
                  </a:lnTo>
                  <a:close/>
                </a:path>
                <a:path w="6286500" h="7914640">
                  <a:moveTo>
                    <a:pt x="38112" y="2119624"/>
                  </a:moveTo>
                  <a:lnTo>
                    <a:pt x="0" y="2119624"/>
                  </a:lnTo>
                  <a:lnTo>
                    <a:pt x="0" y="1891024"/>
                  </a:lnTo>
                  <a:lnTo>
                    <a:pt x="38112" y="1891024"/>
                  </a:lnTo>
                  <a:lnTo>
                    <a:pt x="38112" y="2119624"/>
                  </a:lnTo>
                  <a:close/>
                </a:path>
                <a:path w="6286500" h="7914640">
                  <a:moveTo>
                    <a:pt x="38112" y="1852924"/>
                  </a:moveTo>
                  <a:lnTo>
                    <a:pt x="0" y="1852924"/>
                  </a:lnTo>
                  <a:lnTo>
                    <a:pt x="0" y="1624324"/>
                  </a:lnTo>
                  <a:lnTo>
                    <a:pt x="38112" y="1624324"/>
                  </a:lnTo>
                  <a:lnTo>
                    <a:pt x="38112" y="1852924"/>
                  </a:lnTo>
                  <a:close/>
                </a:path>
                <a:path w="6286500" h="7914640">
                  <a:moveTo>
                    <a:pt x="38112" y="1586224"/>
                  </a:moveTo>
                  <a:lnTo>
                    <a:pt x="0" y="1586224"/>
                  </a:lnTo>
                  <a:lnTo>
                    <a:pt x="0" y="1357624"/>
                  </a:lnTo>
                  <a:lnTo>
                    <a:pt x="38112" y="1357624"/>
                  </a:lnTo>
                  <a:lnTo>
                    <a:pt x="38112" y="1586224"/>
                  </a:lnTo>
                  <a:close/>
                </a:path>
                <a:path w="6286500" h="7914640">
                  <a:moveTo>
                    <a:pt x="38112" y="1319524"/>
                  </a:moveTo>
                  <a:lnTo>
                    <a:pt x="0" y="1319524"/>
                  </a:lnTo>
                  <a:lnTo>
                    <a:pt x="0" y="1090924"/>
                  </a:lnTo>
                  <a:lnTo>
                    <a:pt x="38112" y="1090924"/>
                  </a:lnTo>
                  <a:lnTo>
                    <a:pt x="38112" y="1319524"/>
                  </a:lnTo>
                  <a:close/>
                </a:path>
                <a:path w="6286500" h="7914640">
                  <a:moveTo>
                    <a:pt x="38112" y="1052824"/>
                  </a:moveTo>
                  <a:lnTo>
                    <a:pt x="0" y="1052824"/>
                  </a:lnTo>
                  <a:lnTo>
                    <a:pt x="0" y="824224"/>
                  </a:lnTo>
                  <a:lnTo>
                    <a:pt x="38112" y="824224"/>
                  </a:lnTo>
                  <a:lnTo>
                    <a:pt x="38112" y="1052824"/>
                  </a:lnTo>
                  <a:close/>
                </a:path>
                <a:path w="6286500" h="7914640">
                  <a:moveTo>
                    <a:pt x="38112" y="786124"/>
                  </a:moveTo>
                  <a:lnTo>
                    <a:pt x="0" y="786124"/>
                  </a:lnTo>
                  <a:lnTo>
                    <a:pt x="0" y="557524"/>
                  </a:lnTo>
                  <a:lnTo>
                    <a:pt x="38112" y="557524"/>
                  </a:lnTo>
                  <a:lnTo>
                    <a:pt x="38112" y="786124"/>
                  </a:lnTo>
                  <a:close/>
                </a:path>
                <a:path w="6286500" h="7914640">
                  <a:moveTo>
                    <a:pt x="38112" y="519424"/>
                  </a:moveTo>
                  <a:lnTo>
                    <a:pt x="0" y="519424"/>
                  </a:lnTo>
                  <a:lnTo>
                    <a:pt x="0" y="295274"/>
                  </a:lnTo>
                  <a:lnTo>
                    <a:pt x="332" y="291073"/>
                  </a:lnTo>
                  <a:lnTo>
                    <a:pt x="355" y="290786"/>
                  </a:lnTo>
                  <a:lnTo>
                    <a:pt x="38145" y="291073"/>
                  </a:lnTo>
                  <a:lnTo>
                    <a:pt x="38112" y="519424"/>
                  </a:lnTo>
                  <a:close/>
                </a:path>
                <a:path w="6286500" h="7914640">
                  <a:moveTo>
                    <a:pt x="40795" y="258215"/>
                  </a:moveTo>
                  <a:lnTo>
                    <a:pt x="3364" y="252765"/>
                  </a:lnTo>
                  <a:lnTo>
                    <a:pt x="3678" y="248804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4" y="86484"/>
                  </a:lnTo>
                  <a:lnTo>
                    <a:pt x="116696" y="60703"/>
                  </a:lnTo>
                  <a:lnTo>
                    <a:pt x="139499" y="90653"/>
                  </a:lnTo>
                  <a:lnTo>
                    <a:pt x="132697" y="96014"/>
                  </a:lnTo>
                  <a:lnTo>
                    <a:pt x="126086" y="101597"/>
                  </a:lnTo>
                  <a:lnTo>
                    <a:pt x="86266" y="145103"/>
                  </a:lnTo>
                  <a:lnTo>
                    <a:pt x="65103" y="179795"/>
                  </a:lnTo>
                  <a:lnTo>
                    <a:pt x="49946" y="217499"/>
                  </a:lnTo>
                  <a:lnTo>
                    <a:pt x="40795" y="258215"/>
                  </a:lnTo>
                  <a:close/>
                </a:path>
                <a:path w="6286500" h="7914640">
                  <a:moveTo>
                    <a:pt x="167127" y="72307"/>
                  </a:moveTo>
                  <a:lnTo>
                    <a:pt x="148534" y="39957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4" y="0"/>
                  </a:lnTo>
                  <a:lnTo>
                    <a:pt x="523885" y="0"/>
                  </a:lnTo>
                  <a:lnTo>
                    <a:pt x="523885" y="38099"/>
                  </a:lnTo>
                  <a:lnTo>
                    <a:pt x="295285" y="38099"/>
                  </a:lnTo>
                  <a:lnTo>
                    <a:pt x="261535" y="40237"/>
                  </a:lnTo>
                  <a:lnTo>
                    <a:pt x="228925" y="46651"/>
                  </a:lnTo>
                  <a:lnTo>
                    <a:pt x="197456" y="57341"/>
                  </a:lnTo>
                  <a:lnTo>
                    <a:pt x="167127" y="72307"/>
                  </a:lnTo>
                  <a:close/>
                </a:path>
              </a:pathLst>
            </a:custGeom>
            <a:solidFill>
              <a:srgbClr val="66371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74225" y="2362988"/>
            <a:ext cx="4991099" cy="3524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2605" y="6264169"/>
            <a:ext cx="3924299" cy="32289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6373" y="6110061"/>
            <a:ext cx="7381874" cy="417693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445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50" spc="-280"/>
              <a:t>POWER</a:t>
            </a:r>
            <a:r>
              <a:rPr dirty="0" sz="3950" spc="-245"/>
              <a:t> </a:t>
            </a:r>
            <a:r>
              <a:rPr dirty="0" sz="3950" spc="-409"/>
              <a:t>QUERY</a:t>
            </a:r>
            <a:r>
              <a:rPr dirty="0" sz="3950" spc="-250"/>
              <a:t> </a:t>
            </a:r>
            <a:r>
              <a:rPr dirty="0" sz="3950" spc="-325"/>
              <a:t>CLEANING</a:t>
            </a:r>
            <a:r>
              <a:rPr dirty="0" sz="3950" spc="-245"/>
              <a:t> </a:t>
            </a:r>
            <a:r>
              <a:rPr dirty="0" sz="3950" spc="-705"/>
              <a:t>&amp;</a:t>
            </a:r>
            <a:r>
              <a:rPr dirty="0" sz="3950" spc="-450"/>
              <a:t> </a:t>
            </a:r>
            <a:r>
              <a:rPr dirty="0" sz="3950" spc="-385"/>
              <a:t>TRANSFORMATION</a:t>
            </a:r>
            <a:endParaRPr sz="3950"/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25175" y="2031201"/>
            <a:ext cx="5848985" cy="5734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dirty="0" u="heavy" sz="3600" spc="375">
                <a:solidFill>
                  <a:srgbClr val="705C4E"/>
                </a:solidFill>
                <a:uFill>
                  <a:solidFill>
                    <a:srgbClr val="705C4E"/>
                  </a:solidFill>
                </a:uFill>
                <a:latin typeface="Arial MT"/>
                <a:cs typeface="Arial MT"/>
              </a:rPr>
              <a:t>Data</a:t>
            </a:r>
            <a:r>
              <a:rPr dirty="0" u="heavy" sz="3600" spc="204">
                <a:solidFill>
                  <a:srgbClr val="705C4E"/>
                </a:solidFill>
                <a:uFill>
                  <a:solidFill>
                    <a:srgbClr val="705C4E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3600" spc="400">
                <a:solidFill>
                  <a:srgbClr val="705C4E"/>
                </a:solidFill>
                <a:uFill>
                  <a:solidFill>
                    <a:srgbClr val="705C4E"/>
                  </a:solidFill>
                </a:uFill>
                <a:latin typeface="Arial MT"/>
                <a:cs typeface="Arial MT"/>
              </a:rPr>
              <a:t>Preparation</a:t>
            </a:r>
            <a:r>
              <a:rPr dirty="0" u="heavy" sz="3600" spc="204">
                <a:solidFill>
                  <a:srgbClr val="705C4E"/>
                </a:solidFill>
                <a:uFill>
                  <a:solidFill>
                    <a:srgbClr val="705C4E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3600" spc="375">
                <a:solidFill>
                  <a:srgbClr val="705C4E"/>
                </a:solidFill>
                <a:uFill>
                  <a:solidFill>
                    <a:srgbClr val="705C4E"/>
                  </a:solidFill>
                </a:uFill>
                <a:latin typeface="Arial MT"/>
                <a:cs typeface="Arial MT"/>
              </a:rPr>
              <a:t>Steps</a:t>
            </a:r>
            <a:endParaRPr sz="3600">
              <a:latin typeface="Arial MT"/>
              <a:cs typeface="Arial MT"/>
            </a:endParaRPr>
          </a:p>
          <a:p>
            <a:pPr marL="12700" marR="302895" indent="274955">
              <a:lnSpc>
                <a:spcPct val="117300"/>
              </a:lnSpc>
              <a:spcBef>
                <a:spcPts val="2675"/>
              </a:spcBef>
              <a:buChar char="•"/>
              <a:tabLst>
                <a:tab pos="287655" algn="l"/>
              </a:tabLst>
            </a:pP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Removed</a:t>
            </a:r>
            <a:r>
              <a:rPr dirty="0" sz="2450" spc="-7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null</a:t>
            </a:r>
            <a:r>
              <a:rPr dirty="0" sz="2450" spc="-7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and</a:t>
            </a:r>
            <a:r>
              <a:rPr dirty="0" sz="2450" spc="-7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duplicate</a:t>
            </a:r>
            <a:r>
              <a:rPr dirty="0" sz="2450" spc="-7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records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and</a:t>
            </a:r>
            <a:r>
              <a:rPr dirty="0" sz="2450" spc="-8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standardized</a:t>
            </a:r>
            <a:r>
              <a:rPr dirty="0" sz="2450" spc="-8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categorical</a:t>
            </a:r>
            <a:r>
              <a:rPr dirty="0" sz="2450" spc="-7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text</a:t>
            </a:r>
            <a:r>
              <a:rPr dirty="0" sz="2450" spc="-8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values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for</a:t>
            </a:r>
            <a:r>
              <a:rPr dirty="0" sz="2450" spc="-9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consistency.</a:t>
            </a:r>
            <a:endParaRPr sz="2450">
              <a:latin typeface="Microsoft Sans Serif"/>
              <a:cs typeface="Microsoft Sans Serif"/>
            </a:endParaRPr>
          </a:p>
          <a:p>
            <a:pPr marL="211454" indent="-198755">
              <a:lnSpc>
                <a:spcPct val="100000"/>
              </a:lnSpc>
              <a:spcBef>
                <a:spcPts val="509"/>
              </a:spcBef>
              <a:buChar char="•"/>
              <a:tabLst>
                <a:tab pos="211454" algn="l"/>
              </a:tabLst>
            </a:pP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Standardized</a:t>
            </a:r>
            <a:r>
              <a:rPr dirty="0" sz="2450" spc="-6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date</a:t>
            </a:r>
            <a:r>
              <a:rPr dirty="0" sz="2450" spc="-6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and</a:t>
            </a:r>
            <a:r>
              <a:rPr dirty="0" sz="2450" spc="-6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time</a:t>
            </a:r>
            <a:r>
              <a:rPr dirty="0" sz="2450" spc="-6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formats</a:t>
            </a:r>
            <a:endParaRPr sz="2450">
              <a:latin typeface="Microsoft Sans Serif"/>
              <a:cs typeface="Microsoft Sans Serif"/>
            </a:endParaRPr>
          </a:p>
          <a:p>
            <a:pPr marL="12700" marR="303530" indent="198755">
              <a:lnSpc>
                <a:spcPct val="117300"/>
              </a:lnSpc>
              <a:spcBef>
                <a:spcPts val="5"/>
              </a:spcBef>
              <a:buChar char="•"/>
              <a:tabLst>
                <a:tab pos="211454" algn="l"/>
              </a:tabLst>
            </a:pP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Converted</a:t>
            </a:r>
            <a:r>
              <a:rPr dirty="0" sz="2450" spc="-9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text</a:t>
            </a:r>
            <a:r>
              <a:rPr dirty="0" sz="2450" spc="-9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flags</a:t>
            </a:r>
            <a:r>
              <a:rPr dirty="0" sz="2450" spc="-8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35">
                <a:solidFill>
                  <a:srgbClr val="121212"/>
                </a:solidFill>
                <a:latin typeface="Microsoft Sans Serif"/>
                <a:cs typeface="Microsoft Sans Serif"/>
              </a:rPr>
              <a:t>(Yes/No)</a:t>
            </a:r>
            <a:r>
              <a:rPr dirty="0" sz="2450" spc="-9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to</a:t>
            </a:r>
            <a:r>
              <a:rPr dirty="0" sz="2450" spc="-8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logical values</a:t>
            </a:r>
            <a:endParaRPr sz="2450">
              <a:latin typeface="Microsoft Sans Serif"/>
              <a:cs typeface="Microsoft Sans Serif"/>
            </a:endParaRPr>
          </a:p>
          <a:p>
            <a:pPr marL="12700" marR="385445" indent="198755">
              <a:lnSpc>
                <a:spcPct val="117300"/>
              </a:lnSpc>
              <a:buChar char="•"/>
              <a:tabLst>
                <a:tab pos="211454" algn="l"/>
              </a:tabLst>
            </a:pP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Created</a:t>
            </a:r>
            <a:r>
              <a:rPr dirty="0" sz="2450" spc="-6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2450" spc="-6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columns</a:t>
            </a:r>
            <a:r>
              <a:rPr dirty="0" sz="2450" spc="-6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(duration,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hour</a:t>
            </a:r>
            <a:r>
              <a:rPr dirty="0" sz="2450" spc="-11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extraction,</a:t>
            </a:r>
            <a:r>
              <a:rPr dirty="0" sz="2450" spc="-10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actual</a:t>
            </a:r>
            <a:r>
              <a:rPr dirty="0" sz="2450" spc="-11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minutes)</a:t>
            </a:r>
            <a:endParaRPr sz="2450">
              <a:latin typeface="Microsoft Sans Serif"/>
              <a:cs typeface="Microsoft Sans Serif"/>
            </a:endParaRPr>
          </a:p>
          <a:p>
            <a:pPr marL="211454" indent="-198755">
              <a:lnSpc>
                <a:spcPct val="100000"/>
              </a:lnSpc>
              <a:spcBef>
                <a:spcPts val="509"/>
              </a:spcBef>
              <a:buChar char="•"/>
              <a:tabLst>
                <a:tab pos="211454" algn="l"/>
              </a:tabLst>
            </a:pP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Handled</a:t>
            </a:r>
            <a:r>
              <a:rPr dirty="0" sz="2450" spc="-6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missing</a:t>
            </a:r>
            <a:r>
              <a:rPr dirty="0" sz="2450" spc="-5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and</a:t>
            </a:r>
            <a:r>
              <a:rPr dirty="0" sz="2450" spc="-5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inconsistent</a:t>
            </a:r>
            <a:r>
              <a:rPr dirty="0" sz="2450" spc="-5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values</a:t>
            </a:r>
            <a:endParaRPr sz="2450">
              <a:latin typeface="Microsoft Sans Serif"/>
              <a:cs typeface="Microsoft Sans Serif"/>
            </a:endParaRPr>
          </a:p>
          <a:p>
            <a:pPr marL="12700" marR="797560" indent="198755">
              <a:lnSpc>
                <a:spcPct val="117300"/>
              </a:lnSpc>
              <a:buChar char="•"/>
              <a:tabLst>
                <a:tab pos="211454" algn="l"/>
              </a:tabLst>
            </a:pP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Prepared</a:t>
            </a:r>
            <a:r>
              <a:rPr dirty="0" sz="2450" spc="-10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clean</a:t>
            </a:r>
            <a:r>
              <a:rPr dirty="0" sz="2450" spc="-10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analytical</a:t>
            </a:r>
            <a:r>
              <a:rPr dirty="0" sz="2450" spc="-10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tables</a:t>
            </a:r>
            <a:r>
              <a:rPr dirty="0" sz="2450" spc="-10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5">
                <a:solidFill>
                  <a:srgbClr val="121212"/>
                </a:solidFill>
                <a:latin typeface="Microsoft Sans Serif"/>
                <a:cs typeface="Microsoft Sans Serif"/>
              </a:rPr>
              <a:t>for </a:t>
            </a:r>
            <a:r>
              <a:rPr dirty="0" sz="2450">
                <a:solidFill>
                  <a:srgbClr val="121212"/>
                </a:solidFill>
                <a:latin typeface="Microsoft Sans Serif"/>
                <a:cs typeface="Microsoft Sans Serif"/>
              </a:rPr>
              <a:t>modeling</a:t>
            </a:r>
            <a:r>
              <a:rPr dirty="0" sz="2450" spc="-50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(Violations</a:t>
            </a:r>
            <a:r>
              <a:rPr dirty="0" sz="2450" spc="-175">
                <a:solidFill>
                  <a:srgbClr val="121212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121212"/>
                </a:solidFill>
                <a:latin typeface="Microsoft Sans Serif"/>
                <a:cs typeface="Microsoft Sans Serif"/>
              </a:rPr>
              <a:t>Table)</a:t>
            </a:r>
            <a:endParaRPr sz="2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984"/>
              </a:lnSpc>
            </a:pPr>
            <a:r>
              <a:rPr dirty="0" spc="-10"/>
              <a:t>Challenges</a:t>
            </a:r>
            <a:r>
              <a:rPr dirty="0" spc="-330"/>
              <a:t> </a:t>
            </a:r>
            <a:r>
              <a:rPr dirty="0"/>
              <a:t>and</a:t>
            </a:r>
            <a:r>
              <a:rPr dirty="0" spc="-330"/>
              <a:t> </a:t>
            </a:r>
            <a:r>
              <a:rPr dirty="0" spc="-20"/>
              <a:t>Risk</a:t>
            </a:r>
          </a:p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pc="-10"/>
              <a:t>Management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1341451" y="5461809"/>
            <a:ext cx="1515745" cy="678815"/>
          </a:xfrm>
          <a:custGeom>
            <a:avLst/>
            <a:gdLst/>
            <a:ahLst/>
            <a:cxnLst/>
            <a:rect l="l" t="t" r="r" b="b"/>
            <a:pathLst>
              <a:path w="1515745" h="678814">
                <a:moveTo>
                  <a:pt x="1175872" y="678381"/>
                </a:moveTo>
                <a:lnTo>
                  <a:pt x="1165360" y="676215"/>
                </a:lnTo>
                <a:lnTo>
                  <a:pt x="1156024" y="669937"/>
                </a:lnTo>
                <a:lnTo>
                  <a:pt x="1150453" y="664366"/>
                </a:lnTo>
                <a:lnTo>
                  <a:pt x="1147667" y="657402"/>
                </a:lnTo>
                <a:lnTo>
                  <a:pt x="1147667" y="643474"/>
                </a:lnTo>
                <a:lnTo>
                  <a:pt x="1150453" y="636510"/>
                </a:lnTo>
                <a:lnTo>
                  <a:pt x="1419960" y="367699"/>
                </a:lnTo>
                <a:lnTo>
                  <a:pt x="27856" y="367699"/>
                </a:lnTo>
                <a:lnTo>
                  <a:pt x="17040" y="365501"/>
                </a:lnTo>
                <a:lnTo>
                  <a:pt x="8182" y="359516"/>
                </a:lnTo>
                <a:lnTo>
                  <a:pt x="2198" y="350659"/>
                </a:lnTo>
                <a:lnTo>
                  <a:pt x="0" y="339843"/>
                </a:lnTo>
                <a:lnTo>
                  <a:pt x="2198" y="329027"/>
                </a:lnTo>
                <a:lnTo>
                  <a:pt x="8182" y="320170"/>
                </a:lnTo>
                <a:lnTo>
                  <a:pt x="17040" y="314185"/>
                </a:lnTo>
                <a:lnTo>
                  <a:pt x="27856" y="311987"/>
                </a:lnTo>
                <a:lnTo>
                  <a:pt x="1419960" y="311987"/>
                </a:lnTo>
                <a:lnTo>
                  <a:pt x="1156024" y="48051"/>
                </a:lnTo>
                <a:lnTo>
                  <a:pt x="1149757" y="38715"/>
                </a:lnTo>
                <a:lnTo>
                  <a:pt x="1147667" y="28204"/>
                </a:lnTo>
                <a:lnTo>
                  <a:pt x="1149757" y="17692"/>
                </a:lnTo>
                <a:lnTo>
                  <a:pt x="1156024" y="8356"/>
                </a:lnTo>
                <a:lnTo>
                  <a:pt x="1165360" y="2089"/>
                </a:lnTo>
                <a:lnTo>
                  <a:pt x="1175872" y="0"/>
                </a:lnTo>
                <a:lnTo>
                  <a:pt x="1186383" y="2089"/>
                </a:lnTo>
                <a:lnTo>
                  <a:pt x="1195719" y="8356"/>
                </a:lnTo>
                <a:lnTo>
                  <a:pt x="1507010" y="319647"/>
                </a:lnTo>
                <a:lnTo>
                  <a:pt x="1513278" y="328983"/>
                </a:lnTo>
                <a:lnTo>
                  <a:pt x="1515367" y="339495"/>
                </a:lnTo>
                <a:lnTo>
                  <a:pt x="1513278" y="350006"/>
                </a:lnTo>
                <a:lnTo>
                  <a:pt x="1507010" y="359342"/>
                </a:lnTo>
                <a:lnTo>
                  <a:pt x="1195719" y="670633"/>
                </a:lnTo>
                <a:lnTo>
                  <a:pt x="1186383" y="676498"/>
                </a:lnTo>
                <a:lnTo>
                  <a:pt x="1175872" y="678381"/>
                </a:lnTo>
                <a:close/>
              </a:path>
            </a:pathLst>
          </a:custGeom>
          <a:solidFill>
            <a:srgbClr val="6637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014455" y="2363300"/>
            <a:ext cx="5080635" cy="6548755"/>
          </a:xfrm>
          <a:custGeom>
            <a:avLst/>
            <a:gdLst/>
            <a:ahLst/>
            <a:cxnLst/>
            <a:rect l="l" t="t" r="r" b="b"/>
            <a:pathLst>
              <a:path w="5080634" h="6548755">
                <a:moveTo>
                  <a:pt x="4862013" y="6548460"/>
                </a:moveTo>
                <a:lnTo>
                  <a:pt x="218004" y="6548460"/>
                </a:lnTo>
                <a:lnTo>
                  <a:pt x="191452" y="6545833"/>
                </a:lnTo>
                <a:lnTo>
                  <a:pt x="146998" y="6532324"/>
                </a:lnTo>
                <a:lnTo>
                  <a:pt x="106013" y="6510442"/>
                </a:lnTo>
                <a:lnTo>
                  <a:pt x="69745" y="6480705"/>
                </a:lnTo>
                <a:lnTo>
                  <a:pt x="40008" y="6444437"/>
                </a:lnTo>
                <a:lnTo>
                  <a:pt x="18126" y="6403452"/>
                </a:lnTo>
                <a:lnTo>
                  <a:pt x="4618" y="6358998"/>
                </a:lnTo>
                <a:lnTo>
                  <a:pt x="0" y="6312325"/>
                </a:lnTo>
                <a:lnTo>
                  <a:pt x="0" y="238125"/>
                </a:lnTo>
                <a:lnTo>
                  <a:pt x="4618" y="191452"/>
                </a:lnTo>
                <a:lnTo>
                  <a:pt x="18126" y="146998"/>
                </a:lnTo>
                <a:lnTo>
                  <a:pt x="40008" y="106013"/>
                </a:lnTo>
                <a:lnTo>
                  <a:pt x="69745" y="69745"/>
                </a:lnTo>
                <a:lnTo>
                  <a:pt x="106013" y="40007"/>
                </a:lnTo>
                <a:lnTo>
                  <a:pt x="146998" y="18126"/>
                </a:lnTo>
                <a:lnTo>
                  <a:pt x="191452" y="4617"/>
                </a:lnTo>
                <a:lnTo>
                  <a:pt x="238125" y="0"/>
                </a:lnTo>
                <a:lnTo>
                  <a:pt x="4841892" y="0"/>
                </a:lnTo>
                <a:lnTo>
                  <a:pt x="4888565" y="4617"/>
                </a:lnTo>
                <a:lnTo>
                  <a:pt x="4933019" y="18126"/>
                </a:lnTo>
                <a:lnTo>
                  <a:pt x="4974004" y="40007"/>
                </a:lnTo>
                <a:lnTo>
                  <a:pt x="5010272" y="69745"/>
                </a:lnTo>
                <a:lnTo>
                  <a:pt x="5040009" y="106013"/>
                </a:lnTo>
                <a:lnTo>
                  <a:pt x="5061891" y="146998"/>
                </a:lnTo>
                <a:lnTo>
                  <a:pt x="5075399" y="191452"/>
                </a:lnTo>
                <a:lnTo>
                  <a:pt x="5080017" y="238125"/>
                </a:lnTo>
                <a:lnTo>
                  <a:pt x="5080017" y="6312325"/>
                </a:lnTo>
                <a:lnTo>
                  <a:pt x="5075399" y="6358998"/>
                </a:lnTo>
                <a:lnTo>
                  <a:pt x="5061891" y="6403452"/>
                </a:lnTo>
                <a:lnTo>
                  <a:pt x="5040009" y="6444437"/>
                </a:lnTo>
                <a:lnTo>
                  <a:pt x="5010272" y="6480705"/>
                </a:lnTo>
                <a:lnTo>
                  <a:pt x="4974004" y="6510442"/>
                </a:lnTo>
                <a:lnTo>
                  <a:pt x="4933019" y="6532324"/>
                </a:lnTo>
                <a:lnTo>
                  <a:pt x="4888565" y="6545833"/>
                </a:lnTo>
                <a:lnTo>
                  <a:pt x="4862013" y="6548460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60666" y="105454"/>
            <a:ext cx="17367250" cy="1315720"/>
          </a:xfrm>
          <a:custGeom>
            <a:avLst/>
            <a:gdLst/>
            <a:ahLst/>
            <a:cxnLst/>
            <a:rect l="l" t="t" r="r" b="b"/>
            <a:pathLst>
              <a:path w="17367250" h="1315720">
                <a:moveTo>
                  <a:pt x="16708947" y="1315441"/>
                </a:moveTo>
                <a:lnTo>
                  <a:pt x="657720" y="1315441"/>
                </a:lnTo>
                <a:lnTo>
                  <a:pt x="605640" y="1313377"/>
                </a:lnTo>
                <a:lnTo>
                  <a:pt x="554209" y="1307247"/>
                </a:lnTo>
                <a:lnTo>
                  <a:pt x="503648" y="1297143"/>
                </a:lnTo>
                <a:lnTo>
                  <a:pt x="454179" y="1283155"/>
                </a:lnTo>
                <a:lnTo>
                  <a:pt x="406021" y="1265375"/>
                </a:lnTo>
                <a:lnTo>
                  <a:pt x="359397" y="1243895"/>
                </a:lnTo>
                <a:lnTo>
                  <a:pt x="314525" y="1218805"/>
                </a:lnTo>
                <a:lnTo>
                  <a:pt x="271629" y="1190199"/>
                </a:lnTo>
                <a:lnTo>
                  <a:pt x="230927" y="1158166"/>
                </a:lnTo>
                <a:lnTo>
                  <a:pt x="192641" y="1122799"/>
                </a:lnTo>
                <a:lnTo>
                  <a:pt x="157274" y="1084513"/>
                </a:lnTo>
                <a:lnTo>
                  <a:pt x="125242" y="1043812"/>
                </a:lnTo>
                <a:lnTo>
                  <a:pt x="96635" y="1000915"/>
                </a:lnTo>
                <a:lnTo>
                  <a:pt x="71546" y="956044"/>
                </a:lnTo>
                <a:lnTo>
                  <a:pt x="50066" y="909419"/>
                </a:lnTo>
                <a:lnTo>
                  <a:pt x="32286" y="861261"/>
                </a:lnTo>
                <a:lnTo>
                  <a:pt x="18298" y="811792"/>
                </a:lnTo>
                <a:lnTo>
                  <a:pt x="8193" y="761231"/>
                </a:lnTo>
                <a:lnTo>
                  <a:pt x="2063" y="709801"/>
                </a:lnTo>
                <a:lnTo>
                  <a:pt x="0" y="657720"/>
                </a:lnTo>
                <a:lnTo>
                  <a:pt x="2063" y="605640"/>
                </a:lnTo>
                <a:lnTo>
                  <a:pt x="8193" y="554209"/>
                </a:lnTo>
                <a:lnTo>
                  <a:pt x="18298" y="503648"/>
                </a:lnTo>
                <a:lnTo>
                  <a:pt x="32286" y="454179"/>
                </a:lnTo>
                <a:lnTo>
                  <a:pt x="50066" y="406021"/>
                </a:lnTo>
                <a:lnTo>
                  <a:pt x="71546" y="359397"/>
                </a:lnTo>
                <a:lnTo>
                  <a:pt x="96635" y="314525"/>
                </a:lnTo>
                <a:lnTo>
                  <a:pt x="125242" y="271629"/>
                </a:lnTo>
                <a:lnTo>
                  <a:pt x="157274" y="230927"/>
                </a:lnTo>
                <a:lnTo>
                  <a:pt x="192641" y="192641"/>
                </a:lnTo>
                <a:lnTo>
                  <a:pt x="230927" y="157274"/>
                </a:lnTo>
                <a:lnTo>
                  <a:pt x="271629" y="125242"/>
                </a:lnTo>
                <a:lnTo>
                  <a:pt x="314525" y="96635"/>
                </a:lnTo>
                <a:lnTo>
                  <a:pt x="359397" y="71546"/>
                </a:lnTo>
                <a:lnTo>
                  <a:pt x="406021" y="50066"/>
                </a:lnTo>
                <a:lnTo>
                  <a:pt x="454179" y="32286"/>
                </a:lnTo>
                <a:lnTo>
                  <a:pt x="503648" y="18298"/>
                </a:lnTo>
                <a:lnTo>
                  <a:pt x="554209" y="8193"/>
                </a:lnTo>
                <a:lnTo>
                  <a:pt x="605640" y="2063"/>
                </a:lnTo>
                <a:lnTo>
                  <a:pt x="657720" y="0"/>
                </a:lnTo>
                <a:lnTo>
                  <a:pt x="16708947" y="0"/>
                </a:lnTo>
                <a:lnTo>
                  <a:pt x="16761027" y="2063"/>
                </a:lnTo>
                <a:lnTo>
                  <a:pt x="16812458" y="8193"/>
                </a:lnTo>
                <a:lnTo>
                  <a:pt x="16863019" y="18298"/>
                </a:lnTo>
                <a:lnTo>
                  <a:pt x="16912488" y="32286"/>
                </a:lnTo>
                <a:lnTo>
                  <a:pt x="16960645" y="50066"/>
                </a:lnTo>
                <a:lnTo>
                  <a:pt x="17007270" y="71546"/>
                </a:lnTo>
                <a:lnTo>
                  <a:pt x="17052141" y="96635"/>
                </a:lnTo>
                <a:lnTo>
                  <a:pt x="17095038" y="125242"/>
                </a:lnTo>
                <a:lnTo>
                  <a:pt x="17135740" y="157274"/>
                </a:lnTo>
                <a:lnTo>
                  <a:pt x="17174025" y="192641"/>
                </a:lnTo>
                <a:lnTo>
                  <a:pt x="17209392" y="230927"/>
                </a:lnTo>
                <a:lnTo>
                  <a:pt x="17241425" y="271629"/>
                </a:lnTo>
                <a:lnTo>
                  <a:pt x="17270032" y="314525"/>
                </a:lnTo>
                <a:lnTo>
                  <a:pt x="17295121" y="359397"/>
                </a:lnTo>
                <a:lnTo>
                  <a:pt x="17316602" y="406021"/>
                </a:lnTo>
                <a:lnTo>
                  <a:pt x="17334382" y="454179"/>
                </a:lnTo>
                <a:lnTo>
                  <a:pt x="17348370" y="503648"/>
                </a:lnTo>
                <a:lnTo>
                  <a:pt x="17358474" y="554209"/>
                </a:lnTo>
                <a:lnTo>
                  <a:pt x="17364604" y="605640"/>
                </a:lnTo>
                <a:lnTo>
                  <a:pt x="17366668" y="657720"/>
                </a:lnTo>
                <a:lnTo>
                  <a:pt x="17364604" y="709801"/>
                </a:lnTo>
                <a:lnTo>
                  <a:pt x="17358474" y="761231"/>
                </a:lnTo>
                <a:lnTo>
                  <a:pt x="17348370" y="811792"/>
                </a:lnTo>
                <a:lnTo>
                  <a:pt x="17334382" y="861261"/>
                </a:lnTo>
                <a:lnTo>
                  <a:pt x="17316602" y="909419"/>
                </a:lnTo>
                <a:lnTo>
                  <a:pt x="17295121" y="956044"/>
                </a:lnTo>
                <a:lnTo>
                  <a:pt x="17270032" y="1000915"/>
                </a:lnTo>
                <a:lnTo>
                  <a:pt x="17241425" y="1043812"/>
                </a:lnTo>
                <a:lnTo>
                  <a:pt x="17209392" y="1084513"/>
                </a:lnTo>
                <a:lnTo>
                  <a:pt x="17174025" y="1122799"/>
                </a:lnTo>
                <a:lnTo>
                  <a:pt x="17135740" y="1158166"/>
                </a:lnTo>
                <a:lnTo>
                  <a:pt x="17095038" y="1190199"/>
                </a:lnTo>
                <a:lnTo>
                  <a:pt x="17052141" y="1218805"/>
                </a:lnTo>
                <a:lnTo>
                  <a:pt x="17007270" y="1243895"/>
                </a:lnTo>
                <a:lnTo>
                  <a:pt x="16960645" y="1265375"/>
                </a:lnTo>
                <a:lnTo>
                  <a:pt x="16912488" y="1283155"/>
                </a:lnTo>
                <a:lnTo>
                  <a:pt x="16863019" y="1297143"/>
                </a:lnTo>
                <a:lnTo>
                  <a:pt x="16812458" y="1307247"/>
                </a:lnTo>
                <a:lnTo>
                  <a:pt x="16761027" y="1313377"/>
                </a:lnTo>
                <a:lnTo>
                  <a:pt x="16708947" y="1315441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827" y="2268946"/>
            <a:ext cx="10943726" cy="698935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3211474" y="3056405"/>
            <a:ext cx="4686300" cy="469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19710">
              <a:lnSpc>
                <a:spcPct val="115599"/>
              </a:lnSpc>
              <a:spcBef>
                <a:spcPts val="95"/>
              </a:spcBef>
              <a:buChar char="•"/>
              <a:tabLst>
                <a:tab pos="232410" algn="l"/>
              </a:tabLst>
            </a:pP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Events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acts</a:t>
            </a:r>
            <a:r>
              <a:rPr dirty="0" sz="26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dirty="0" sz="26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r>
              <a:rPr dirty="0" sz="26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fact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table</a:t>
            </a:r>
            <a:endParaRPr sz="2650">
              <a:latin typeface="Microsoft Sans Serif"/>
              <a:cs typeface="Microsoft Sans Serif"/>
            </a:endParaRPr>
          </a:p>
          <a:p>
            <a:pPr marL="12700" marR="5080" indent="502284">
              <a:lnSpc>
                <a:spcPts val="3679"/>
              </a:lnSpc>
              <a:spcBef>
                <a:spcPts val="200"/>
              </a:spcBef>
              <a:buChar char="•"/>
              <a:tabLst>
                <a:tab pos="514984" algn="l"/>
                <a:tab pos="1633855" algn="l"/>
                <a:tab pos="2567940" algn="l"/>
                <a:tab pos="3571240" algn="l"/>
              </a:tabLst>
            </a:pP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Slots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Lots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provide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2650" spc="-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location</a:t>
            </a:r>
            <a:r>
              <a:rPr dirty="0" sz="2650" spc="-1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context</a:t>
            </a:r>
            <a:endParaRPr sz="2650">
              <a:latin typeface="Microsoft Sans Serif"/>
              <a:cs typeface="Microsoft Sans Serif"/>
            </a:endParaRPr>
          </a:p>
          <a:p>
            <a:pPr marL="243204" indent="-230504">
              <a:lnSpc>
                <a:spcPct val="100000"/>
              </a:lnSpc>
              <a:spcBef>
                <a:spcPts val="285"/>
              </a:spcBef>
              <a:buChar char="•"/>
              <a:tabLst>
                <a:tab pos="243204" algn="l"/>
              </a:tabLst>
            </a:pP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Payments</a:t>
            </a:r>
            <a:r>
              <a:rPr dirty="0" sz="26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capture</a:t>
            </a:r>
            <a:r>
              <a:rPr dirty="0" sz="26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transaction</a:t>
            </a:r>
            <a:endParaRPr sz="2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details</a:t>
            </a:r>
            <a:endParaRPr sz="2650">
              <a:latin typeface="Microsoft Sans Serif"/>
              <a:cs typeface="Microsoft Sans Serif"/>
            </a:endParaRPr>
          </a:p>
          <a:p>
            <a:pPr marL="12700" marR="5080" indent="331470">
              <a:lnSpc>
                <a:spcPts val="3670"/>
              </a:lnSpc>
              <a:spcBef>
                <a:spcPts val="210"/>
              </a:spcBef>
              <a:buChar char="•"/>
              <a:tabLst>
                <a:tab pos="344170" algn="l"/>
                <a:tab pos="2016125" algn="l"/>
                <a:tab pos="2959735" algn="l"/>
              </a:tabLst>
            </a:pP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Violations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track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compliance outcomes</a:t>
            </a:r>
            <a:endParaRPr sz="2650">
              <a:latin typeface="Microsoft Sans Serif"/>
              <a:cs typeface="Microsoft Sans Serif"/>
            </a:endParaRPr>
          </a:p>
          <a:p>
            <a:pPr marL="12700" marR="5080" indent="450215">
              <a:lnSpc>
                <a:spcPts val="3679"/>
              </a:lnSpc>
              <a:buChar char="•"/>
              <a:tabLst>
                <a:tab pos="462915" algn="l"/>
                <a:tab pos="1490345" algn="l"/>
                <a:tab pos="2540000" algn="l"/>
                <a:tab pos="4037965" algn="l"/>
              </a:tabLst>
            </a:pP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Date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table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enables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time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intelligence</a:t>
            </a:r>
            <a:r>
              <a:rPr dirty="0" sz="2650" spc="-1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analysis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8521" rIns="0" bIns="0" rtlCol="0" vert="horz">
            <a:spAutoFit/>
          </a:bodyPr>
          <a:lstStyle/>
          <a:p>
            <a:pPr marL="3979545">
              <a:lnSpc>
                <a:spcPct val="100000"/>
              </a:lnSpc>
              <a:spcBef>
                <a:spcPts val="130"/>
              </a:spcBef>
            </a:pPr>
            <a:r>
              <a:rPr dirty="0" sz="4900" spc="-545"/>
              <a:t>D</a:t>
            </a:r>
            <a:r>
              <a:rPr dirty="0" sz="4900" spc="-869"/>
              <a:t>A</a:t>
            </a:r>
            <a:r>
              <a:rPr dirty="0" sz="4900" spc="-910"/>
              <a:t>T</a:t>
            </a:r>
            <a:r>
              <a:rPr dirty="0" sz="4900" spc="-335"/>
              <a:t>A</a:t>
            </a:r>
            <a:r>
              <a:rPr dirty="0" sz="4900" spc="-305"/>
              <a:t> </a:t>
            </a:r>
            <a:r>
              <a:rPr dirty="0" sz="4900" spc="-350"/>
              <a:t>MODEL</a:t>
            </a:r>
            <a:endParaRPr sz="4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70083" y="881125"/>
            <a:ext cx="2402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4">
                <a:solidFill>
                  <a:srgbClr val="182333"/>
                </a:solidFill>
                <a:latin typeface="Arial Black"/>
                <a:cs typeface="Arial Black"/>
              </a:rPr>
              <a:t>FAUGET</a:t>
            </a:r>
            <a:r>
              <a:rPr dirty="0" sz="2000" spc="-13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000" spc="-210">
                <a:solidFill>
                  <a:srgbClr val="182333"/>
                </a:solidFill>
                <a:latin typeface="Arial Black"/>
                <a:cs typeface="Arial Black"/>
              </a:rPr>
              <a:t>COMPANY.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7877" y="138222"/>
            <a:ext cx="18078450" cy="1679575"/>
          </a:xfrm>
          <a:custGeom>
            <a:avLst/>
            <a:gdLst/>
            <a:ahLst/>
            <a:cxnLst/>
            <a:rect l="l" t="t" r="r" b="b"/>
            <a:pathLst>
              <a:path w="18078450" h="1679575">
                <a:moveTo>
                  <a:pt x="17830227" y="1679314"/>
                </a:moveTo>
                <a:lnTo>
                  <a:pt x="247635" y="1679314"/>
                </a:lnTo>
                <a:lnTo>
                  <a:pt x="199098" y="1674512"/>
                </a:lnTo>
                <a:lnTo>
                  <a:pt x="152869" y="1660464"/>
                </a:lnTo>
                <a:lnTo>
                  <a:pt x="110247" y="1637708"/>
                </a:lnTo>
                <a:lnTo>
                  <a:pt x="72530" y="1606783"/>
                </a:lnTo>
                <a:lnTo>
                  <a:pt x="41605" y="1569067"/>
                </a:lnTo>
                <a:lnTo>
                  <a:pt x="18850" y="1526444"/>
                </a:lnTo>
                <a:lnTo>
                  <a:pt x="4802" y="1480215"/>
                </a:lnTo>
                <a:lnTo>
                  <a:pt x="0" y="1431678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3" y="4802"/>
                </a:lnTo>
                <a:lnTo>
                  <a:pt x="17924992" y="18850"/>
                </a:lnTo>
                <a:lnTo>
                  <a:pt x="17967614" y="41605"/>
                </a:lnTo>
                <a:lnTo>
                  <a:pt x="18005331" y="72530"/>
                </a:lnTo>
                <a:lnTo>
                  <a:pt x="18036256" y="110247"/>
                </a:lnTo>
                <a:lnTo>
                  <a:pt x="18059011" y="152869"/>
                </a:lnTo>
                <a:lnTo>
                  <a:pt x="18073060" y="199098"/>
                </a:lnTo>
                <a:lnTo>
                  <a:pt x="18077862" y="247635"/>
                </a:lnTo>
                <a:lnTo>
                  <a:pt x="18077862" y="1431678"/>
                </a:lnTo>
                <a:lnTo>
                  <a:pt x="18073060" y="1480215"/>
                </a:lnTo>
                <a:lnTo>
                  <a:pt x="18059011" y="1526444"/>
                </a:lnTo>
                <a:lnTo>
                  <a:pt x="18036256" y="1569067"/>
                </a:lnTo>
                <a:lnTo>
                  <a:pt x="18005331" y="1606783"/>
                </a:lnTo>
                <a:lnTo>
                  <a:pt x="17967614" y="1637708"/>
                </a:lnTo>
                <a:lnTo>
                  <a:pt x="17924992" y="1660464"/>
                </a:lnTo>
                <a:lnTo>
                  <a:pt x="17878763" y="1674512"/>
                </a:lnTo>
                <a:lnTo>
                  <a:pt x="17830227" y="167931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1202" y="2163423"/>
            <a:ext cx="18039080" cy="7953375"/>
            <a:chOff x="21202" y="2163423"/>
            <a:chExt cx="18039080" cy="79533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307" y="2682564"/>
              <a:ext cx="11271412" cy="613740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87877" y="2671134"/>
              <a:ext cx="11294745" cy="6160770"/>
            </a:xfrm>
            <a:custGeom>
              <a:avLst/>
              <a:gdLst/>
              <a:ahLst/>
              <a:cxnLst/>
              <a:rect l="l" t="t" r="r" b="b"/>
              <a:pathLst>
                <a:path w="11294745" h="6160770">
                  <a:moveTo>
                    <a:pt x="0" y="209545"/>
                  </a:moveTo>
                  <a:lnTo>
                    <a:pt x="0" y="5950599"/>
                  </a:lnTo>
                  <a:lnTo>
                    <a:pt x="5521" y="5998647"/>
                  </a:lnTo>
                  <a:lnTo>
                    <a:pt x="21262" y="6042765"/>
                  </a:lnTo>
                  <a:lnTo>
                    <a:pt x="45983" y="6081692"/>
                  </a:lnTo>
                  <a:lnTo>
                    <a:pt x="78428" y="6114168"/>
                  </a:lnTo>
                  <a:lnTo>
                    <a:pt x="117341" y="6138930"/>
                  </a:lnTo>
                  <a:lnTo>
                    <a:pt x="161464" y="6154715"/>
                  </a:lnTo>
                  <a:lnTo>
                    <a:pt x="209536" y="6160261"/>
                  </a:lnTo>
                  <a:lnTo>
                    <a:pt x="11084719" y="6160263"/>
                  </a:lnTo>
                  <a:lnTo>
                    <a:pt x="11132780" y="6154727"/>
                  </a:lnTo>
                  <a:lnTo>
                    <a:pt x="11176911" y="6138951"/>
                  </a:lnTo>
                  <a:lnTo>
                    <a:pt x="11215835" y="6114195"/>
                  </a:lnTo>
                  <a:lnTo>
                    <a:pt x="11248293" y="6081719"/>
                  </a:lnTo>
                  <a:lnTo>
                    <a:pt x="11273024" y="6042786"/>
                  </a:lnTo>
                  <a:lnTo>
                    <a:pt x="11288774" y="5998660"/>
                  </a:lnTo>
                  <a:lnTo>
                    <a:pt x="11294285" y="5950600"/>
                  </a:lnTo>
                  <a:lnTo>
                    <a:pt x="11294272" y="209545"/>
                  </a:lnTo>
                  <a:lnTo>
                    <a:pt x="11288737" y="161498"/>
                  </a:lnTo>
                  <a:lnTo>
                    <a:pt x="11272972" y="117392"/>
                  </a:lnTo>
                  <a:lnTo>
                    <a:pt x="11248235" y="78484"/>
                  </a:lnTo>
                  <a:lnTo>
                    <a:pt x="11215783" y="46033"/>
                  </a:lnTo>
                  <a:lnTo>
                    <a:pt x="11176874" y="21297"/>
                  </a:lnTo>
                  <a:lnTo>
                    <a:pt x="11132767" y="5533"/>
                  </a:lnTo>
                  <a:lnTo>
                    <a:pt x="11084722" y="0"/>
                  </a:lnTo>
                  <a:lnTo>
                    <a:pt x="209549" y="0"/>
                  </a:lnTo>
                  <a:lnTo>
                    <a:pt x="161502" y="5534"/>
                  </a:lnTo>
                  <a:lnTo>
                    <a:pt x="117395" y="21298"/>
                  </a:lnTo>
                  <a:lnTo>
                    <a:pt x="78487" y="46035"/>
                  </a:lnTo>
                  <a:lnTo>
                    <a:pt x="46036" y="78486"/>
                  </a:lnTo>
                  <a:lnTo>
                    <a:pt x="21299" y="117393"/>
                  </a:lnTo>
                  <a:lnTo>
                    <a:pt x="5535" y="161499"/>
                  </a:lnTo>
                  <a:lnTo>
                    <a:pt x="0" y="209545"/>
                  </a:lnTo>
                </a:path>
              </a:pathLst>
            </a:custGeom>
            <a:ln w="133350">
              <a:solidFill>
                <a:srgbClr val="58429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1521197" y="2211049"/>
              <a:ext cx="6491605" cy="7860665"/>
            </a:xfrm>
            <a:custGeom>
              <a:avLst/>
              <a:gdLst/>
              <a:ahLst/>
              <a:cxnLst/>
              <a:rect l="l" t="t" r="r" b="b"/>
              <a:pathLst>
                <a:path w="6491605" h="7860665">
                  <a:moveTo>
                    <a:pt x="12204" y="7860631"/>
                  </a:moveTo>
                  <a:lnTo>
                    <a:pt x="0" y="7860631"/>
                  </a:lnTo>
                  <a:lnTo>
                    <a:pt x="0" y="0"/>
                  </a:lnTo>
                  <a:lnTo>
                    <a:pt x="6491359" y="0"/>
                  </a:lnTo>
                  <a:lnTo>
                    <a:pt x="6491359" y="7380241"/>
                  </a:lnTo>
                  <a:lnTo>
                    <a:pt x="3245680" y="7380241"/>
                  </a:lnTo>
                  <a:lnTo>
                    <a:pt x="12204" y="7860631"/>
                  </a:lnTo>
                  <a:close/>
                </a:path>
                <a:path w="6491605" h="7860665">
                  <a:moveTo>
                    <a:pt x="6491359" y="7860631"/>
                  </a:moveTo>
                  <a:lnTo>
                    <a:pt x="6479155" y="7860631"/>
                  </a:lnTo>
                  <a:lnTo>
                    <a:pt x="3245680" y="7380241"/>
                  </a:lnTo>
                  <a:lnTo>
                    <a:pt x="6491359" y="7380241"/>
                  </a:lnTo>
                  <a:lnTo>
                    <a:pt x="6491359" y="7860631"/>
                  </a:lnTo>
                  <a:close/>
                </a:path>
              </a:pathLst>
            </a:custGeom>
            <a:solidFill>
              <a:srgbClr val="C4B4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521197" y="2211048"/>
              <a:ext cx="6491605" cy="7858125"/>
            </a:xfrm>
            <a:custGeom>
              <a:avLst/>
              <a:gdLst/>
              <a:ahLst/>
              <a:cxnLst/>
              <a:rect l="l" t="t" r="r" b="b"/>
              <a:pathLst>
                <a:path w="6491605" h="7858125">
                  <a:moveTo>
                    <a:pt x="3245650" y="7380245"/>
                  </a:moveTo>
                  <a:lnTo>
                    <a:pt x="29070" y="7858078"/>
                  </a:lnTo>
                </a:path>
                <a:path w="6491605" h="7858125">
                  <a:moveTo>
                    <a:pt x="0" y="7858124"/>
                  </a:moveTo>
                  <a:lnTo>
                    <a:pt x="0" y="0"/>
                  </a:lnTo>
                  <a:lnTo>
                    <a:pt x="6491286" y="0"/>
                  </a:lnTo>
                  <a:lnTo>
                    <a:pt x="6491286" y="7380241"/>
                  </a:lnTo>
                </a:path>
                <a:path w="6491605" h="7858125">
                  <a:moveTo>
                    <a:pt x="6491286" y="7380241"/>
                  </a:moveTo>
                  <a:lnTo>
                    <a:pt x="6491286" y="7858124"/>
                  </a:lnTo>
                </a:path>
                <a:path w="6491605" h="7858125">
                  <a:moveTo>
                    <a:pt x="6462287" y="7858089"/>
                  </a:moveTo>
                  <a:lnTo>
                    <a:pt x="3245643" y="7380241"/>
                  </a:lnTo>
                </a:path>
              </a:pathLst>
            </a:custGeom>
            <a:ln w="95249">
              <a:solidFill>
                <a:srgbClr val="6637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649693" y="2376316"/>
            <a:ext cx="6193790" cy="406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330" marR="5080" indent="-342265">
              <a:lnSpc>
                <a:spcPct val="116199"/>
              </a:lnSpc>
              <a:spcBef>
                <a:spcPts val="95"/>
              </a:spcBef>
            </a:pPr>
            <a:r>
              <a:rPr dirty="0" sz="2850" spc="-280">
                <a:solidFill>
                  <a:srgbClr val="182333"/>
                </a:solidFill>
                <a:latin typeface="Microsoft Sans Serif"/>
                <a:cs typeface="Microsoft Sans Serif"/>
              </a:rPr>
              <a:t>1.</a:t>
            </a:r>
            <a:r>
              <a:rPr dirty="0" sz="2850" spc="8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49.8K</a:t>
            </a:r>
            <a:r>
              <a:rPr dirty="0" sz="2850" spc="30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total</a:t>
            </a:r>
            <a:r>
              <a:rPr dirty="0" sz="2850" spc="57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sessions,</a:t>
            </a:r>
            <a:r>
              <a:rPr dirty="0" sz="2850" spc="57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with</a:t>
            </a:r>
            <a:r>
              <a:rPr dirty="0" sz="2850" spc="57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96%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completion</a:t>
            </a:r>
            <a:r>
              <a:rPr dirty="0" sz="2850" spc="-6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rate</a:t>
            </a:r>
            <a:r>
              <a:rPr dirty="0" sz="2850" spc="-6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(47.8K)</a:t>
            </a:r>
            <a:r>
              <a:rPr dirty="0" sz="2850" spc="-6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1185">
                <a:solidFill>
                  <a:srgbClr val="182333"/>
                </a:solidFill>
                <a:latin typeface="Microsoft Sans Serif"/>
                <a:cs typeface="Microsoft Sans Serif"/>
              </a:rPr>
              <a:t>—</a:t>
            </a:r>
            <a:r>
              <a:rPr dirty="0" sz="2850" spc="-6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system</a:t>
            </a:r>
            <a:r>
              <a:rPr dirty="0" sz="2850" spc="-6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is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operationally</a:t>
            </a:r>
            <a:r>
              <a:rPr dirty="0" sz="2850" spc="-18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stable</a:t>
            </a:r>
            <a:endParaRPr sz="2850">
              <a:latin typeface="Microsoft Sans Serif"/>
              <a:cs typeface="Microsoft Sans Serif"/>
            </a:endParaRPr>
          </a:p>
          <a:p>
            <a:pPr algn="just" marL="354330" marR="5080" indent="-342265">
              <a:lnSpc>
                <a:spcPct val="116199"/>
              </a:lnSpc>
              <a:buAutoNum type="arabicPeriod" startAt="2"/>
              <a:tabLst>
                <a:tab pos="354330" algn="l"/>
              </a:tabLst>
            </a:pP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Average</a:t>
            </a:r>
            <a:r>
              <a:rPr dirty="0" sz="2850" spc="605">
                <a:solidFill>
                  <a:srgbClr val="182333"/>
                </a:solidFill>
                <a:latin typeface="Microsoft Sans Serif"/>
                <a:cs typeface="Microsoft Sans Serif"/>
              </a:rPr>
              <a:t> 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~5.4K</a:t>
            </a:r>
            <a:r>
              <a:rPr dirty="0" sz="2850" spc="610">
                <a:solidFill>
                  <a:srgbClr val="182333"/>
                </a:solidFill>
                <a:latin typeface="Microsoft Sans Serif"/>
                <a:cs typeface="Microsoft Sans Serif"/>
              </a:rPr>
              <a:t> 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sessions</a:t>
            </a:r>
            <a:r>
              <a:rPr dirty="0" sz="2850" spc="605">
                <a:solidFill>
                  <a:srgbClr val="182333"/>
                </a:solidFill>
                <a:latin typeface="Microsoft Sans Serif"/>
                <a:cs typeface="Microsoft Sans Serif"/>
              </a:rPr>
              <a:t>   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per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weekday,</a:t>
            </a:r>
            <a:r>
              <a:rPr dirty="0" sz="2850" spc="13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2850" spc="14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consistent</a:t>
            </a:r>
            <a:r>
              <a:rPr dirty="0" sz="2850" spc="14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daily demand</a:t>
            </a:r>
            <a:endParaRPr sz="2850">
              <a:latin typeface="Microsoft Sans Serif"/>
              <a:cs typeface="Microsoft Sans Serif"/>
            </a:endParaRPr>
          </a:p>
          <a:p>
            <a:pPr algn="just" marL="354965" indent="-342265">
              <a:lnSpc>
                <a:spcPct val="100000"/>
              </a:lnSpc>
              <a:spcBef>
                <a:spcPts val="555"/>
              </a:spcBef>
              <a:buAutoNum type="arabicPeriod" startAt="2"/>
              <a:tabLst>
                <a:tab pos="354965" algn="l"/>
              </a:tabLst>
            </a:pP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₹257M</a:t>
            </a:r>
            <a:r>
              <a:rPr dirty="0" sz="2850" spc="245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total</a:t>
            </a:r>
            <a:r>
              <a:rPr dirty="0" sz="2850" spc="245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revenue,</a:t>
            </a:r>
            <a:r>
              <a:rPr dirty="0" sz="2850" spc="245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peaking</a:t>
            </a:r>
            <a:r>
              <a:rPr dirty="0" sz="2850" spc="24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at</a:t>
            </a:r>
            <a:endParaRPr sz="2850">
              <a:latin typeface="Microsoft Sans Serif"/>
              <a:cs typeface="Microsoft Sans Serif"/>
            </a:endParaRPr>
          </a:p>
          <a:p>
            <a:pPr algn="just" marL="354330">
              <a:lnSpc>
                <a:spcPct val="100000"/>
              </a:lnSpc>
              <a:spcBef>
                <a:spcPts val="555"/>
              </a:spcBef>
            </a:pP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₹7.8M</a:t>
            </a:r>
            <a:r>
              <a:rPr dirty="0" sz="2850" spc="-1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in</a:t>
            </a:r>
            <a:r>
              <a:rPr dirty="0" sz="2850" spc="-1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October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649693" y="6414916"/>
            <a:ext cx="4567555" cy="103505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674620" algn="l"/>
              </a:tabLst>
            </a:pP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4.</a:t>
            </a:r>
            <a:r>
              <a:rPr dirty="0" sz="2850" spc="-46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Overstayed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	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sessions</a:t>
            </a:r>
            <a:endParaRPr sz="2850">
              <a:latin typeface="Microsoft Sans Serif"/>
              <a:cs typeface="Microsoft Sans Serif"/>
            </a:endParaRPr>
          </a:p>
          <a:p>
            <a:pPr marL="354330">
              <a:lnSpc>
                <a:spcPct val="100000"/>
              </a:lnSpc>
              <a:spcBef>
                <a:spcPts val="555"/>
              </a:spcBef>
              <a:tabLst>
                <a:tab pos="1591310" algn="l"/>
                <a:tab pos="2187575" algn="l"/>
                <a:tab pos="3166745" algn="l"/>
              </a:tabLst>
            </a:pPr>
            <a:r>
              <a:rPr dirty="0" sz="2850" spc="-20">
                <a:solidFill>
                  <a:srgbClr val="182333"/>
                </a:solidFill>
                <a:latin typeface="Microsoft Sans Serif"/>
                <a:cs typeface="Microsoft Sans Serif"/>
              </a:rPr>
              <a:t>~88%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	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of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	</a:t>
            </a:r>
            <a:r>
              <a:rPr dirty="0" sz="2850" spc="-20">
                <a:solidFill>
                  <a:srgbClr val="182333"/>
                </a:solidFill>
                <a:latin typeface="Microsoft Sans Serif"/>
                <a:cs typeface="Microsoft Sans Serif"/>
              </a:rPr>
              <a:t>total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	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revenue,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211743" y="6414916"/>
            <a:ext cx="1631950" cy="103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3210" marR="5080" indent="-271145">
              <a:lnSpc>
                <a:spcPct val="116199"/>
              </a:lnSpc>
              <a:spcBef>
                <a:spcPts val="95"/>
              </a:spcBef>
            </a:pP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contribute showing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649693" y="7424566"/>
            <a:ext cx="6193790" cy="204470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just" marL="354330">
              <a:lnSpc>
                <a:spcPct val="100000"/>
              </a:lnSpc>
              <a:spcBef>
                <a:spcPts val="645"/>
              </a:spcBef>
            </a:pP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heavy</a:t>
            </a:r>
            <a:r>
              <a:rPr dirty="0" sz="2850" spc="-3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dependency</a:t>
            </a:r>
            <a:r>
              <a:rPr dirty="0" sz="2850" spc="-3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on</a:t>
            </a:r>
            <a:r>
              <a:rPr dirty="0" sz="2850" spc="-3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violations</a:t>
            </a:r>
            <a:endParaRPr sz="2850">
              <a:latin typeface="Microsoft Sans Serif"/>
              <a:cs typeface="Microsoft Sans Serif"/>
            </a:endParaRPr>
          </a:p>
          <a:p>
            <a:pPr algn="just" marL="354330" marR="5080" indent="-342265">
              <a:lnSpc>
                <a:spcPct val="116199"/>
              </a:lnSpc>
              <a:spcBef>
                <a:spcPts val="5"/>
              </a:spcBef>
            </a:pPr>
            <a:r>
              <a:rPr dirty="0" sz="2850" spc="-280">
                <a:solidFill>
                  <a:srgbClr val="182333"/>
                </a:solidFill>
                <a:latin typeface="Microsoft Sans Serif"/>
                <a:cs typeface="Microsoft Sans Serif"/>
              </a:rPr>
              <a:t>5.</a:t>
            </a:r>
            <a:r>
              <a:rPr dirty="0" sz="2850" spc="9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Card</a:t>
            </a:r>
            <a:r>
              <a:rPr dirty="0" sz="2850" spc="44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+</a:t>
            </a:r>
            <a:r>
              <a:rPr dirty="0" sz="2850" spc="114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UPI</a:t>
            </a:r>
            <a:r>
              <a:rPr dirty="0" sz="2850" spc="11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account</a:t>
            </a:r>
            <a:r>
              <a:rPr dirty="0" sz="2850" spc="114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for</a:t>
            </a:r>
            <a:r>
              <a:rPr dirty="0" sz="2850" spc="114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~54%</a:t>
            </a:r>
            <a:r>
              <a:rPr dirty="0" sz="2850" spc="110">
                <a:solidFill>
                  <a:srgbClr val="182333"/>
                </a:solidFill>
                <a:latin typeface="Microsoft Sans Serif"/>
                <a:cs typeface="Microsoft Sans Serif"/>
              </a:rPr>
              <a:t>  </a:t>
            </a:r>
            <a:r>
              <a:rPr dirty="0" sz="2850" spc="-25">
                <a:solidFill>
                  <a:srgbClr val="182333"/>
                </a:solidFill>
                <a:latin typeface="Microsoft Sans Serif"/>
                <a:cs typeface="Microsoft Sans Serif"/>
              </a:rPr>
              <a:t>of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payments,</a:t>
            </a:r>
            <a:r>
              <a:rPr dirty="0" sz="2850" spc="7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highlighting</a:t>
            </a:r>
            <a:r>
              <a:rPr dirty="0" sz="2850" spc="80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>
                <a:solidFill>
                  <a:srgbClr val="182333"/>
                </a:solidFill>
                <a:latin typeface="Microsoft Sans Serif"/>
                <a:cs typeface="Microsoft Sans Serif"/>
              </a:rPr>
              <a:t>strong</a:t>
            </a:r>
            <a:r>
              <a:rPr dirty="0" sz="2850" spc="85">
                <a:solidFill>
                  <a:srgbClr val="182333"/>
                </a:solidFill>
                <a:latin typeface="Microsoft Sans Serif"/>
                <a:cs typeface="Microsoft Sans Serif"/>
              </a:rPr>
              <a:t> </a:t>
            </a:r>
            <a:r>
              <a:rPr dirty="0" sz="2850" spc="-10">
                <a:solidFill>
                  <a:srgbClr val="182333"/>
                </a:solidFill>
                <a:latin typeface="Microsoft Sans Serif"/>
                <a:cs typeface="Microsoft Sans Serif"/>
              </a:rPr>
              <a:t>digital adoption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916902" y="585975"/>
            <a:ext cx="6286500" cy="6946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 spc="-20">
                <a:latin typeface="Microsoft Sans Serif"/>
                <a:cs typeface="Microsoft Sans Serif"/>
              </a:rPr>
              <a:t>Parking</a:t>
            </a:r>
            <a:r>
              <a:rPr dirty="0" sz="4350" spc="-220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System</a:t>
            </a:r>
            <a:r>
              <a:rPr dirty="0" sz="4350" spc="-215">
                <a:latin typeface="Microsoft Sans Serif"/>
                <a:cs typeface="Microsoft Sans Serif"/>
              </a:rPr>
              <a:t> </a:t>
            </a:r>
            <a:r>
              <a:rPr dirty="0" sz="4350" spc="-10">
                <a:latin typeface="Microsoft Sans Serif"/>
                <a:cs typeface="Microsoft Sans Serif"/>
              </a:rPr>
              <a:t>Overview</a:t>
            </a:r>
            <a:endParaRPr sz="4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70083" y="881125"/>
            <a:ext cx="2402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4">
                <a:solidFill>
                  <a:srgbClr val="182333"/>
                </a:solidFill>
                <a:latin typeface="Arial Black"/>
                <a:cs typeface="Arial Black"/>
              </a:rPr>
              <a:t>FAUGET</a:t>
            </a:r>
            <a:r>
              <a:rPr dirty="0" sz="2000" spc="-13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000" spc="-210">
                <a:solidFill>
                  <a:srgbClr val="182333"/>
                </a:solidFill>
                <a:latin typeface="Arial Black"/>
                <a:cs typeface="Arial Black"/>
              </a:rPr>
              <a:t>COMPANY.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7877" y="138222"/>
            <a:ext cx="18078450" cy="1679575"/>
          </a:xfrm>
          <a:custGeom>
            <a:avLst/>
            <a:gdLst/>
            <a:ahLst/>
            <a:cxnLst/>
            <a:rect l="l" t="t" r="r" b="b"/>
            <a:pathLst>
              <a:path w="18078450" h="1679575">
                <a:moveTo>
                  <a:pt x="17830227" y="1679314"/>
                </a:moveTo>
                <a:lnTo>
                  <a:pt x="247635" y="1679314"/>
                </a:lnTo>
                <a:lnTo>
                  <a:pt x="199098" y="1674512"/>
                </a:lnTo>
                <a:lnTo>
                  <a:pt x="152869" y="1660464"/>
                </a:lnTo>
                <a:lnTo>
                  <a:pt x="110247" y="1637708"/>
                </a:lnTo>
                <a:lnTo>
                  <a:pt x="72530" y="1606783"/>
                </a:lnTo>
                <a:lnTo>
                  <a:pt x="41605" y="1569067"/>
                </a:lnTo>
                <a:lnTo>
                  <a:pt x="18850" y="1526444"/>
                </a:lnTo>
                <a:lnTo>
                  <a:pt x="4802" y="1480215"/>
                </a:lnTo>
                <a:lnTo>
                  <a:pt x="0" y="1431678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3" y="4802"/>
                </a:lnTo>
                <a:lnTo>
                  <a:pt x="17924992" y="18850"/>
                </a:lnTo>
                <a:lnTo>
                  <a:pt x="17967614" y="41605"/>
                </a:lnTo>
                <a:lnTo>
                  <a:pt x="18005331" y="72530"/>
                </a:lnTo>
                <a:lnTo>
                  <a:pt x="18036256" y="110247"/>
                </a:lnTo>
                <a:lnTo>
                  <a:pt x="18059011" y="152869"/>
                </a:lnTo>
                <a:lnTo>
                  <a:pt x="18073060" y="199098"/>
                </a:lnTo>
                <a:lnTo>
                  <a:pt x="18077862" y="247635"/>
                </a:lnTo>
                <a:lnTo>
                  <a:pt x="18077862" y="1431678"/>
                </a:lnTo>
                <a:lnTo>
                  <a:pt x="18073060" y="1480215"/>
                </a:lnTo>
                <a:lnTo>
                  <a:pt x="18059011" y="1526444"/>
                </a:lnTo>
                <a:lnTo>
                  <a:pt x="18036256" y="1569067"/>
                </a:lnTo>
                <a:lnTo>
                  <a:pt x="18005331" y="1606783"/>
                </a:lnTo>
                <a:lnTo>
                  <a:pt x="17967614" y="1637708"/>
                </a:lnTo>
                <a:lnTo>
                  <a:pt x="17924992" y="1660464"/>
                </a:lnTo>
                <a:lnTo>
                  <a:pt x="17878763" y="1674512"/>
                </a:lnTo>
                <a:lnTo>
                  <a:pt x="17830227" y="167931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031057"/>
            <a:ext cx="11382374" cy="62559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61031" y="585975"/>
            <a:ext cx="7197725" cy="6946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 spc="-20">
                <a:latin typeface="Microsoft Sans Serif"/>
                <a:cs typeface="Microsoft Sans Serif"/>
              </a:rPr>
              <a:t>Parking</a:t>
            </a:r>
            <a:r>
              <a:rPr dirty="0" sz="4350" spc="-195">
                <a:latin typeface="Microsoft Sans Serif"/>
                <a:cs typeface="Microsoft Sans Serif"/>
              </a:rPr>
              <a:t> </a:t>
            </a:r>
            <a:r>
              <a:rPr dirty="0" sz="4350" spc="-10">
                <a:latin typeface="Microsoft Sans Serif"/>
                <a:cs typeface="Microsoft Sans Serif"/>
              </a:rPr>
              <a:t>Utilization</a:t>
            </a:r>
            <a:r>
              <a:rPr dirty="0" sz="4350" spc="-195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&amp;</a:t>
            </a:r>
            <a:r>
              <a:rPr dirty="0" sz="4350" spc="-195">
                <a:latin typeface="Microsoft Sans Serif"/>
                <a:cs typeface="Microsoft Sans Serif"/>
              </a:rPr>
              <a:t> </a:t>
            </a:r>
            <a:r>
              <a:rPr dirty="0" sz="4350" spc="-10">
                <a:latin typeface="Microsoft Sans Serif"/>
                <a:cs typeface="Microsoft Sans Serif"/>
              </a:rPr>
              <a:t>Capacity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09366" y="2045406"/>
            <a:ext cx="4980940" cy="1718945"/>
          </a:xfrm>
          <a:prstGeom prst="rect">
            <a:avLst/>
          </a:prstGeom>
          <a:solidFill>
            <a:srgbClr val="584291"/>
          </a:solidFill>
        </p:spPr>
        <p:txBody>
          <a:bodyPr wrap="square" lIns="0" tIns="162560" rIns="0" bIns="0" rtlCol="0" vert="horz">
            <a:spAutoFit/>
          </a:bodyPr>
          <a:lstStyle/>
          <a:p>
            <a:pPr algn="ctr" marL="676910" marR="349250" indent="-635">
              <a:lnSpc>
                <a:spcPct val="117200"/>
              </a:lnSpc>
              <a:spcBef>
                <a:spcPts val="1280"/>
              </a:spcBef>
            </a:pP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Slots</a:t>
            </a:r>
            <a:r>
              <a:rPr dirty="0" sz="24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utilized</a:t>
            </a:r>
            <a:r>
              <a:rPr dirty="0" sz="24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only</a:t>
            </a:r>
            <a:r>
              <a:rPr dirty="0" sz="24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12.7%</a:t>
            </a:r>
            <a:r>
              <a:rPr dirty="0" sz="24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on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average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1015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large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optimization opportunity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53145" y="2045406"/>
            <a:ext cx="4980940" cy="1718945"/>
          </a:xfrm>
          <a:prstGeom prst="rect">
            <a:avLst/>
          </a:prstGeom>
          <a:solidFill>
            <a:srgbClr val="584291"/>
          </a:solidFill>
        </p:spPr>
        <p:txBody>
          <a:bodyPr wrap="square" lIns="0" tIns="2222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750"/>
              </a:spcBef>
            </a:pPr>
            <a:r>
              <a:rPr dirty="0" sz="2500" spc="-10">
                <a:solidFill>
                  <a:srgbClr val="FFFFFF"/>
                </a:solidFill>
                <a:latin typeface="Microsoft Sans Serif"/>
                <a:cs typeface="Microsoft Sans Serif"/>
              </a:rPr>
              <a:t>Peak</a:t>
            </a:r>
            <a:r>
              <a:rPr dirty="0" sz="25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FFFFFF"/>
                </a:solidFill>
                <a:latin typeface="Microsoft Sans Serif"/>
                <a:cs typeface="Microsoft Sans Serif"/>
              </a:rPr>
              <a:t>congestion</a:t>
            </a:r>
            <a:r>
              <a:rPr dirty="0" sz="25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r>
              <a:rPr dirty="0" sz="25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FFFFFF"/>
                </a:solidFill>
                <a:latin typeface="Microsoft Sans Serif"/>
                <a:cs typeface="Microsoft Sans Serif"/>
              </a:rPr>
              <a:t>18:00</a:t>
            </a:r>
            <a:r>
              <a:rPr dirty="0" sz="25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FFFFFF"/>
                </a:solidFill>
                <a:latin typeface="Microsoft Sans Serif"/>
                <a:cs typeface="Microsoft Sans Serif"/>
              </a:rPr>
              <a:t>(6</a:t>
            </a:r>
            <a:r>
              <a:rPr dirty="0" sz="25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25">
                <a:solidFill>
                  <a:srgbClr val="FFFFFF"/>
                </a:solidFill>
                <a:latin typeface="Microsoft Sans Serif"/>
                <a:cs typeface="Microsoft Sans Serif"/>
              </a:rPr>
              <a:t>PM)</a:t>
            </a:r>
            <a:endParaRPr sz="2500">
              <a:latin typeface="Microsoft Sans Serif"/>
              <a:cs typeface="Microsoft Sans Serif"/>
            </a:endParaRPr>
          </a:p>
          <a:p>
            <a:pPr algn="ctr" marL="635">
              <a:lnSpc>
                <a:spcPct val="100000"/>
              </a:lnSpc>
              <a:spcBef>
                <a:spcPts val="525"/>
              </a:spcBef>
            </a:pPr>
            <a:r>
              <a:rPr dirty="0" sz="2500" spc="1065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250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FFFFFF"/>
                </a:solidFill>
                <a:latin typeface="Microsoft Sans Serif"/>
                <a:cs typeface="Microsoft Sans Serif"/>
              </a:rPr>
              <a:t>strongest</a:t>
            </a:r>
            <a:r>
              <a:rPr dirty="0" sz="250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>
                <a:solidFill>
                  <a:srgbClr val="FFFFFF"/>
                </a:solidFill>
                <a:latin typeface="Microsoft Sans Serif"/>
                <a:cs typeface="Microsoft Sans Serif"/>
              </a:rPr>
              <a:t>evening</a:t>
            </a:r>
            <a:r>
              <a:rPr dirty="0" sz="250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596879" y="2045406"/>
            <a:ext cx="4980940" cy="1718945"/>
          </a:xfrm>
          <a:prstGeom prst="rect">
            <a:avLst/>
          </a:prstGeom>
          <a:solidFill>
            <a:srgbClr val="584291"/>
          </a:solidFill>
        </p:spPr>
        <p:txBody>
          <a:bodyPr wrap="square" lIns="0" tIns="153670" rIns="0" bIns="0" rtlCol="0" vert="horz">
            <a:spAutoFit/>
          </a:bodyPr>
          <a:lstStyle/>
          <a:p>
            <a:pPr algn="ctr" marL="471170" marR="622935">
              <a:lnSpc>
                <a:spcPct val="115700"/>
              </a:lnSpc>
              <a:spcBef>
                <a:spcPts val="1210"/>
              </a:spcBef>
            </a:pPr>
            <a:r>
              <a:rPr dirty="0" sz="2750" spc="-40">
                <a:solidFill>
                  <a:srgbClr val="FFFFFF"/>
                </a:solidFill>
                <a:latin typeface="Microsoft Sans Serif"/>
                <a:cs typeface="Microsoft Sans Serif"/>
              </a:rPr>
              <a:t>Avg</a:t>
            </a:r>
            <a:r>
              <a:rPr dirty="0" sz="27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idle</a:t>
            </a:r>
            <a:r>
              <a:rPr dirty="0" sz="27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dirty="0" sz="27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dirty="0" sz="27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21</a:t>
            </a:r>
            <a:r>
              <a:rPr dirty="0" sz="27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hrs</a:t>
            </a:r>
            <a:r>
              <a:rPr dirty="0" sz="27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Microsoft Sans Serif"/>
                <a:cs typeface="Microsoft Sans Serif"/>
              </a:rPr>
              <a:t>per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slot,</a:t>
            </a:r>
            <a:r>
              <a:rPr dirty="0" sz="275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showing</a:t>
            </a:r>
            <a:r>
              <a:rPr dirty="0" sz="275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low</a:t>
            </a:r>
            <a:r>
              <a:rPr dirty="0" sz="275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Microsoft Sans Serif"/>
                <a:cs typeface="Microsoft Sans Serif"/>
              </a:rPr>
              <a:t>asset utilization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596879" y="4792651"/>
            <a:ext cx="4980940" cy="1718945"/>
          </a:xfrm>
          <a:prstGeom prst="rect">
            <a:avLst/>
          </a:prstGeom>
          <a:solidFill>
            <a:srgbClr val="584291"/>
          </a:solidFill>
        </p:spPr>
        <p:txBody>
          <a:bodyPr wrap="square" lIns="0" tIns="177800" rIns="0" bIns="0" rtlCol="0" vert="horz">
            <a:spAutoFit/>
          </a:bodyPr>
          <a:lstStyle/>
          <a:p>
            <a:pPr algn="ctr" marL="260985" marR="336550">
              <a:lnSpc>
                <a:spcPct val="115300"/>
              </a:lnSpc>
              <a:spcBef>
                <a:spcPts val="1400"/>
              </a:spcBef>
            </a:pPr>
            <a:r>
              <a:rPr dirty="0" sz="2400" spc="-40">
                <a:solidFill>
                  <a:srgbClr val="FFFFFF"/>
                </a:solidFill>
                <a:latin typeface="Microsoft Sans Serif"/>
                <a:cs typeface="Microsoft Sans Serif"/>
              </a:rPr>
              <a:t>Weekday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utilization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(~8%)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higher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than</a:t>
            </a:r>
            <a:r>
              <a:rPr dirty="0" sz="2400" spc="-1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weekends</a:t>
            </a:r>
            <a:r>
              <a:rPr dirty="0" sz="24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(~6%)</a:t>
            </a:r>
            <a:r>
              <a:rPr dirty="0" sz="24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919">
                <a:solidFill>
                  <a:srgbClr val="FFFFFF"/>
                </a:solidFill>
                <a:latin typeface="Microsoft Sans Serif"/>
                <a:cs typeface="Microsoft Sans Serif"/>
              </a:rPr>
              <a:t>—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4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dirty="0" sz="240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business-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driven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596879" y="7812830"/>
            <a:ext cx="4980940" cy="1718945"/>
          </a:xfrm>
          <a:prstGeom prst="rect">
            <a:avLst/>
          </a:prstGeom>
          <a:solidFill>
            <a:srgbClr val="584291"/>
          </a:solidFill>
        </p:spPr>
        <p:txBody>
          <a:bodyPr wrap="square" lIns="0" tIns="72390" rIns="0" bIns="0" rtlCol="0" vert="horz">
            <a:spAutoFit/>
          </a:bodyPr>
          <a:lstStyle/>
          <a:p>
            <a:pPr algn="ctr" marL="377190" marR="283210">
              <a:lnSpc>
                <a:spcPct val="115700"/>
              </a:lnSpc>
              <a:spcBef>
                <a:spcPts val="570"/>
              </a:spcBef>
            </a:pP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55%</a:t>
            </a:r>
            <a:r>
              <a:rPr dirty="0" sz="27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sessions</a:t>
            </a:r>
            <a:r>
              <a:rPr dirty="0" sz="27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under</a:t>
            </a:r>
            <a:r>
              <a:rPr dirty="0" sz="27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r>
              <a:rPr dirty="0" sz="27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hrs</a:t>
            </a:r>
            <a:r>
              <a:rPr dirty="0" sz="27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 spc="-740">
                <a:solidFill>
                  <a:srgbClr val="FFFFFF"/>
                </a:solidFill>
                <a:latin typeface="Microsoft Sans Serif"/>
                <a:cs typeface="Microsoft Sans Serif"/>
              </a:rPr>
              <a:t>→</a:t>
            </a:r>
            <a:r>
              <a:rPr dirty="0" sz="2750" spc="-10">
                <a:solidFill>
                  <a:srgbClr val="FFFFFF"/>
                </a:solidFill>
                <a:latin typeface="Microsoft Sans Serif"/>
                <a:cs typeface="Microsoft Sans Serif"/>
              </a:rPr>
              <a:t> short-</a:t>
            </a:r>
            <a:r>
              <a:rPr dirty="0" sz="2750">
                <a:solidFill>
                  <a:srgbClr val="FFFFFF"/>
                </a:solidFill>
                <a:latin typeface="Microsoft Sans Serif"/>
                <a:cs typeface="Microsoft Sans Serif"/>
              </a:rPr>
              <a:t>term</a:t>
            </a:r>
            <a:r>
              <a:rPr dirty="0" sz="27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Microsoft Sans Serif"/>
                <a:cs typeface="Microsoft Sans Serif"/>
              </a:rPr>
              <a:t>parking dominates</a:t>
            </a:r>
            <a:endParaRPr sz="2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70083" y="881125"/>
            <a:ext cx="2402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4">
                <a:solidFill>
                  <a:srgbClr val="182333"/>
                </a:solidFill>
                <a:latin typeface="Arial Black"/>
                <a:cs typeface="Arial Black"/>
              </a:rPr>
              <a:t>FAUGET</a:t>
            </a:r>
            <a:r>
              <a:rPr dirty="0" sz="2000" spc="-13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000" spc="-210">
                <a:solidFill>
                  <a:srgbClr val="182333"/>
                </a:solidFill>
                <a:latin typeface="Arial Black"/>
                <a:cs typeface="Arial Black"/>
              </a:rPr>
              <a:t>COMPANY.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7877" y="138222"/>
            <a:ext cx="18078450" cy="1679575"/>
          </a:xfrm>
          <a:custGeom>
            <a:avLst/>
            <a:gdLst/>
            <a:ahLst/>
            <a:cxnLst/>
            <a:rect l="l" t="t" r="r" b="b"/>
            <a:pathLst>
              <a:path w="18078450" h="1679575">
                <a:moveTo>
                  <a:pt x="17830227" y="1679314"/>
                </a:moveTo>
                <a:lnTo>
                  <a:pt x="247635" y="1679314"/>
                </a:lnTo>
                <a:lnTo>
                  <a:pt x="199098" y="1674512"/>
                </a:lnTo>
                <a:lnTo>
                  <a:pt x="152869" y="1660464"/>
                </a:lnTo>
                <a:lnTo>
                  <a:pt x="110247" y="1637708"/>
                </a:lnTo>
                <a:lnTo>
                  <a:pt x="72530" y="1606783"/>
                </a:lnTo>
                <a:lnTo>
                  <a:pt x="41605" y="1569067"/>
                </a:lnTo>
                <a:lnTo>
                  <a:pt x="18850" y="1526444"/>
                </a:lnTo>
                <a:lnTo>
                  <a:pt x="4802" y="1480215"/>
                </a:lnTo>
                <a:lnTo>
                  <a:pt x="0" y="1431678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3" y="4802"/>
                </a:lnTo>
                <a:lnTo>
                  <a:pt x="17924992" y="18850"/>
                </a:lnTo>
                <a:lnTo>
                  <a:pt x="17967614" y="41605"/>
                </a:lnTo>
                <a:lnTo>
                  <a:pt x="18005331" y="72530"/>
                </a:lnTo>
                <a:lnTo>
                  <a:pt x="18036256" y="110247"/>
                </a:lnTo>
                <a:lnTo>
                  <a:pt x="18059011" y="152869"/>
                </a:lnTo>
                <a:lnTo>
                  <a:pt x="18073060" y="199098"/>
                </a:lnTo>
                <a:lnTo>
                  <a:pt x="18077862" y="247635"/>
                </a:lnTo>
                <a:lnTo>
                  <a:pt x="18077862" y="1431678"/>
                </a:lnTo>
                <a:lnTo>
                  <a:pt x="18073060" y="1480215"/>
                </a:lnTo>
                <a:lnTo>
                  <a:pt x="18059011" y="1526444"/>
                </a:lnTo>
                <a:lnTo>
                  <a:pt x="18036256" y="1569067"/>
                </a:lnTo>
                <a:lnTo>
                  <a:pt x="18005331" y="1606783"/>
                </a:lnTo>
                <a:lnTo>
                  <a:pt x="17967614" y="1637708"/>
                </a:lnTo>
                <a:lnTo>
                  <a:pt x="17924992" y="1660464"/>
                </a:lnTo>
                <a:lnTo>
                  <a:pt x="17878763" y="1674512"/>
                </a:lnTo>
                <a:lnTo>
                  <a:pt x="17830227" y="167931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4646" y="3135538"/>
            <a:ext cx="11001374" cy="611504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13093" y="2019064"/>
            <a:ext cx="7026909" cy="8343900"/>
            <a:chOff x="213093" y="2019064"/>
            <a:chExt cx="7026909" cy="8343900"/>
          </a:xfrm>
        </p:grpSpPr>
        <p:sp>
          <p:nvSpPr>
            <p:cNvPr id="6" name="object 6" descr=""/>
            <p:cNvSpPr/>
            <p:nvPr/>
          </p:nvSpPr>
          <p:spPr>
            <a:xfrm>
              <a:off x="289293" y="2095264"/>
              <a:ext cx="6874509" cy="8190230"/>
            </a:xfrm>
            <a:custGeom>
              <a:avLst/>
              <a:gdLst/>
              <a:ahLst/>
              <a:cxnLst/>
              <a:rect l="l" t="t" r="r" b="b"/>
              <a:pathLst>
                <a:path w="6874509" h="8190230">
                  <a:moveTo>
                    <a:pt x="6425346" y="8189904"/>
                  </a:moveTo>
                  <a:lnTo>
                    <a:pt x="448802" y="8189904"/>
                  </a:lnTo>
                  <a:lnTo>
                    <a:pt x="437762" y="8189358"/>
                  </a:lnTo>
                  <a:lnTo>
                    <a:pt x="390562" y="8182314"/>
                  </a:lnTo>
                  <a:lnTo>
                    <a:pt x="344494" y="8170737"/>
                  </a:lnTo>
                  <a:lnTo>
                    <a:pt x="299876" y="8154757"/>
                  </a:lnTo>
                  <a:lnTo>
                    <a:pt x="257028" y="8134507"/>
                  </a:lnTo>
                  <a:lnTo>
                    <a:pt x="216266" y="8110119"/>
                  </a:lnTo>
                  <a:lnTo>
                    <a:pt x="177911" y="8081724"/>
                  </a:lnTo>
                  <a:lnTo>
                    <a:pt x="142280" y="8049455"/>
                  </a:lnTo>
                  <a:lnTo>
                    <a:pt x="110010" y="8013824"/>
                  </a:lnTo>
                  <a:lnTo>
                    <a:pt x="81615" y="7975468"/>
                  </a:lnTo>
                  <a:lnTo>
                    <a:pt x="57227" y="7934707"/>
                  </a:lnTo>
                  <a:lnTo>
                    <a:pt x="36977" y="7891858"/>
                  </a:lnTo>
                  <a:lnTo>
                    <a:pt x="20997" y="7847240"/>
                  </a:lnTo>
                  <a:lnTo>
                    <a:pt x="9420" y="7801172"/>
                  </a:lnTo>
                  <a:lnTo>
                    <a:pt x="2377" y="7753972"/>
                  </a:lnTo>
                  <a:lnTo>
                    <a:pt x="0" y="7705960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6388374" y="0"/>
                  </a:lnTo>
                  <a:lnTo>
                    <a:pt x="6436386" y="2377"/>
                  </a:lnTo>
                  <a:lnTo>
                    <a:pt x="6483586" y="9420"/>
                  </a:lnTo>
                  <a:lnTo>
                    <a:pt x="6529654" y="20997"/>
                  </a:lnTo>
                  <a:lnTo>
                    <a:pt x="6574271" y="36977"/>
                  </a:lnTo>
                  <a:lnTo>
                    <a:pt x="6617120" y="57227"/>
                  </a:lnTo>
                  <a:lnTo>
                    <a:pt x="6657882" y="81615"/>
                  </a:lnTo>
                  <a:lnTo>
                    <a:pt x="6696237" y="110010"/>
                  </a:lnTo>
                  <a:lnTo>
                    <a:pt x="6731868" y="142280"/>
                  </a:lnTo>
                  <a:lnTo>
                    <a:pt x="6764138" y="177911"/>
                  </a:lnTo>
                  <a:lnTo>
                    <a:pt x="6792533" y="216266"/>
                  </a:lnTo>
                  <a:lnTo>
                    <a:pt x="6816921" y="257028"/>
                  </a:lnTo>
                  <a:lnTo>
                    <a:pt x="6837171" y="299877"/>
                  </a:lnTo>
                  <a:lnTo>
                    <a:pt x="6853151" y="344494"/>
                  </a:lnTo>
                  <a:lnTo>
                    <a:pt x="6864728" y="390562"/>
                  </a:lnTo>
                  <a:lnTo>
                    <a:pt x="6871772" y="437762"/>
                  </a:lnTo>
                  <a:lnTo>
                    <a:pt x="6874149" y="485775"/>
                  </a:lnTo>
                  <a:lnTo>
                    <a:pt x="6874149" y="7705960"/>
                  </a:lnTo>
                  <a:lnTo>
                    <a:pt x="6871772" y="7753972"/>
                  </a:lnTo>
                  <a:lnTo>
                    <a:pt x="6864728" y="7801172"/>
                  </a:lnTo>
                  <a:lnTo>
                    <a:pt x="6853151" y="7847240"/>
                  </a:lnTo>
                  <a:lnTo>
                    <a:pt x="6837171" y="7891858"/>
                  </a:lnTo>
                  <a:lnTo>
                    <a:pt x="6816921" y="7934707"/>
                  </a:lnTo>
                  <a:lnTo>
                    <a:pt x="6792533" y="7975468"/>
                  </a:lnTo>
                  <a:lnTo>
                    <a:pt x="6764138" y="8013824"/>
                  </a:lnTo>
                  <a:lnTo>
                    <a:pt x="6731868" y="8049455"/>
                  </a:lnTo>
                  <a:lnTo>
                    <a:pt x="6696237" y="8081724"/>
                  </a:lnTo>
                  <a:lnTo>
                    <a:pt x="6657882" y="8110119"/>
                  </a:lnTo>
                  <a:lnTo>
                    <a:pt x="6617120" y="8134507"/>
                  </a:lnTo>
                  <a:lnTo>
                    <a:pt x="6574271" y="8154757"/>
                  </a:lnTo>
                  <a:lnTo>
                    <a:pt x="6529654" y="8170737"/>
                  </a:lnTo>
                  <a:lnTo>
                    <a:pt x="6483586" y="8182314"/>
                  </a:lnTo>
                  <a:lnTo>
                    <a:pt x="6436386" y="8189358"/>
                  </a:lnTo>
                  <a:lnTo>
                    <a:pt x="6425346" y="8189904"/>
                  </a:lnTo>
                  <a:close/>
                </a:path>
              </a:pathLst>
            </a:custGeom>
            <a:solidFill>
              <a:srgbClr val="E4E1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9293" y="2095264"/>
              <a:ext cx="6874509" cy="8191500"/>
            </a:xfrm>
            <a:custGeom>
              <a:avLst/>
              <a:gdLst/>
              <a:ahLst/>
              <a:cxnLst/>
              <a:rect l="l" t="t" r="r" b="b"/>
              <a:pathLst>
                <a:path w="6874509" h="8191500">
                  <a:moveTo>
                    <a:pt x="481029" y="8191420"/>
                  </a:moveTo>
                  <a:lnTo>
                    <a:pt x="437744" y="8189354"/>
                  </a:lnTo>
                  <a:lnTo>
                    <a:pt x="390537" y="8182307"/>
                  </a:lnTo>
                  <a:lnTo>
                    <a:pt x="344463" y="8170725"/>
                  </a:lnTo>
                  <a:lnTo>
                    <a:pt x="299840" y="8154739"/>
                  </a:lnTo>
                  <a:lnTo>
                    <a:pt x="256987" y="8134482"/>
                  </a:lnTo>
                  <a:lnTo>
                    <a:pt x="216223" y="8110086"/>
                  </a:lnTo>
                  <a:lnTo>
                    <a:pt x="177866" y="8081683"/>
                  </a:lnTo>
                  <a:lnTo>
                    <a:pt x="142235" y="8049405"/>
                  </a:lnTo>
                  <a:lnTo>
                    <a:pt x="109968" y="8013766"/>
                  </a:lnTo>
                  <a:lnTo>
                    <a:pt x="81577" y="7975403"/>
                  </a:lnTo>
                  <a:lnTo>
                    <a:pt x="57194" y="7934635"/>
                  </a:lnTo>
                  <a:lnTo>
                    <a:pt x="36950" y="7891781"/>
                  </a:lnTo>
                  <a:lnTo>
                    <a:pt x="20977" y="7847159"/>
                  </a:lnTo>
                  <a:lnTo>
                    <a:pt x="9407" y="7801089"/>
                  </a:lnTo>
                  <a:lnTo>
                    <a:pt x="2372" y="7753888"/>
                  </a:lnTo>
                  <a:lnTo>
                    <a:pt x="0" y="7705875"/>
                  </a:lnTo>
                  <a:lnTo>
                    <a:pt x="0" y="485771"/>
                  </a:lnTo>
                  <a:lnTo>
                    <a:pt x="2377" y="437759"/>
                  </a:lnTo>
                  <a:lnTo>
                    <a:pt x="9420" y="390560"/>
                  </a:lnTo>
                  <a:lnTo>
                    <a:pt x="20998" y="344492"/>
                  </a:lnTo>
                  <a:lnTo>
                    <a:pt x="36977" y="299875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79" y="142281"/>
                  </a:lnTo>
                  <a:lnTo>
                    <a:pt x="177909" y="110011"/>
                  </a:lnTo>
                  <a:lnTo>
                    <a:pt x="216264" y="81617"/>
                  </a:lnTo>
                  <a:lnTo>
                    <a:pt x="257025" y="57228"/>
                  </a:lnTo>
                  <a:lnTo>
                    <a:pt x="299873" y="36978"/>
                  </a:lnTo>
                  <a:lnTo>
                    <a:pt x="344490" y="20998"/>
                  </a:lnTo>
                  <a:lnTo>
                    <a:pt x="390557" y="9420"/>
                  </a:lnTo>
                  <a:lnTo>
                    <a:pt x="437757" y="2377"/>
                  </a:lnTo>
                  <a:lnTo>
                    <a:pt x="485769" y="0"/>
                  </a:lnTo>
                  <a:lnTo>
                    <a:pt x="6388303" y="0"/>
                  </a:lnTo>
                  <a:lnTo>
                    <a:pt x="6436317" y="2366"/>
                  </a:lnTo>
                  <a:lnTo>
                    <a:pt x="6483519" y="9403"/>
                  </a:lnTo>
                  <a:lnTo>
                    <a:pt x="6529590" y="20975"/>
                  </a:lnTo>
                  <a:lnTo>
                    <a:pt x="6574212" y="36949"/>
                  </a:lnTo>
                  <a:lnTo>
                    <a:pt x="6617067" y="57195"/>
                  </a:lnTo>
                  <a:lnTo>
                    <a:pt x="6657834" y="81581"/>
                  </a:lnTo>
                  <a:lnTo>
                    <a:pt x="6696196" y="109974"/>
                  </a:lnTo>
                  <a:lnTo>
                    <a:pt x="6731834" y="142243"/>
                  </a:lnTo>
                  <a:lnTo>
                    <a:pt x="6764111" y="177875"/>
                  </a:lnTo>
                  <a:lnTo>
                    <a:pt x="6792512" y="216233"/>
                  </a:lnTo>
                  <a:lnTo>
                    <a:pt x="6816907" y="256998"/>
                  </a:lnTo>
                  <a:lnTo>
                    <a:pt x="6837162" y="299851"/>
                  </a:lnTo>
                  <a:lnTo>
                    <a:pt x="6853146" y="344474"/>
                  </a:lnTo>
                  <a:lnTo>
                    <a:pt x="6864726" y="390548"/>
                  </a:lnTo>
                  <a:lnTo>
                    <a:pt x="6871771" y="437755"/>
                  </a:lnTo>
                  <a:lnTo>
                    <a:pt x="6874148" y="485771"/>
                  </a:lnTo>
                  <a:lnTo>
                    <a:pt x="6874152" y="7705879"/>
                  </a:lnTo>
                  <a:lnTo>
                    <a:pt x="6871782" y="7753901"/>
                  </a:lnTo>
                  <a:lnTo>
                    <a:pt x="6864743" y="7801110"/>
                  </a:lnTo>
                  <a:lnTo>
                    <a:pt x="6853169" y="7847188"/>
                  </a:lnTo>
                  <a:lnTo>
                    <a:pt x="6837190" y="7891816"/>
                  </a:lnTo>
                  <a:lnTo>
                    <a:pt x="6816939" y="7934676"/>
                  </a:lnTo>
                  <a:lnTo>
                    <a:pt x="6792547" y="7975447"/>
                  </a:lnTo>
                  <a:lnTo>
                    <a:pt x="6764147" y="8013812"/>
                  </a:lnTo>
                  <a:lnTo>
                    <a:pt x="6731871" y="8049452"/>
                  </a:lnTo>
                  <a:lnTo>
                    <a:pt x="6696231" y="8081728"/>
                  </a:lnTo>
                  <a:lnTo>
                    <a:pt x="6657866" y="8110127"/>
                  </a:lnTo>
                  <a:lnTo>
                    <a:pt x="6617094" y="8134519"/>
                  </a:lnTo>
                  <a:lnTo>
                    <a:pt x="6574235" y="8154770"/>
                  </a:lnTo>
                  <a:lnTo>
                    <a:pt x="6529607" y="8170748"/>
                  </a:lnTo>
                  <a:lnTo>
                    <a:pt x="6483529" y="8182322"/>
                  </a:lnTo>
                  <a:lnTo>
                    <a:pt x="6436320" y="8189360"/>
                  </a:lnTo>
                  <a:lnTo>
                    <a:pt x="6393118" y="8191407"/>
                  </a:lnTo>
                </a:path>
              </a:pathLst>
            </a:custGeom>
            <a:ln w="152399">
              <a:solidFill>
                <a:srgbClr val="705C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00028" y="585975"/>
            <a:ext cx="10720070" cy="6946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 spc="-35">
                <a:latin typeface="Microsoft Sans Serif"/>
                <a:cs typeface="Microsoft Sans Serif"/>
              </a:rPr>
              <a:t>Revenue</a:t>
            </a:r>
            <a:r>
              <a:rPr dirty="0" sz="4350" spc="-200">
                <a:latin typeface="Microsoft Sans Serif"/>
                <a:cs typeface="Microsoft Sans Serif"/>
              </a:rPr>
              <a:t> </a:t>
            </a:r>
            <a:r>
              <a:rPr dirty="0" sz="4350" spc="-20">
                <a:latin typeface="Microsoft Sans Serif"/>
                <a:cs typeface="Microsoft Sans Serif"/>
              </a:rPr>
              <a:t>Performance</a:t>
            </a:r>
            <a:r>
              <a:rPr dirty="0" sz="4350" spc="-195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&amp;</a:t>
            </a:r>
            <a:r>
              <a:rPr dirty="0" sz="4350" spc="-195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Drivers</a:t>
            </a:r>
            <a:r>
              <a:rPr dirty="0" sz="4350" spc="-195">
                <a:latin typeface="Microsoft Sans Serif"/>
                <a:cs typeface="Microsoft Sans Serif"/>
              </a:rPr>
              <a:t> </a:t>
            </a:r>
            <a:r>
              <a:rPr dirty="0" sz="4350" spc="-10">
                <a:latin typeface="Microsoft Sans Serif"/>
                <a:cs typeface="Microsoft Sans Serif"/>
              </a:rPr>
              <a:t>Dashboard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51892" y="2432520"/>
            <a:ext cx="6141085" cy="6940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8925" marR="207645" indent="-276860">
              <a:lnSpc>
                <a:spcPct val="115999"/>
              </a:lnSpc>
              <a:spcBef>
                <a:spcPts val="95"/>
              </a:spcBef>
              <a:buAutoNum type="arabicPeriod"/>
              <a:tabLst>
                <a:tab pos="288925" algn="l"/>
              </a:tabLst>
            </a:pPr>
            <a:r>
              <a:rPr dirty="0" sz="2300">
                <a:latin typeface="Microsoft Sans Serif"/>
                <a:cs typeface="Microsoft Sans Serif"/>
              </a:rPr>
              <a:t>₹321.24M</a:t>
            </a:r>
            <a:r>
              <a:rPr dirty="0" sz="2300" spc="-150">
                <a:latin typeface="Microsoft Sans Serif"/>
                <a:cs typeface="Microsoft Sans Serif"/>
              </a:rPr>
              <a:t> </a:t>
            </a:r>
            <a:r>
              <a:rPr dirty="0" sz="2300" spc="-65">
                <a:latin typeface="Microsoft Sans Serif"/>
                <a:cs typeface="Microsoft Sans Serif"/>
              </a:rPr>
              <a:t>TOTAL</a:t>
            </a:r>
            <a:r>
              <a:rPr dirty="0" sz="2300" spc="-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REVENUE</a:t>
            </a:r>
            <a:r>
              <a:rPr dirty="0" sz="2300" spc="-3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GENERATED </a:t>
            </a:r>
            <a:r>
              <a:rPr dirty="0" sz="2300">
                <a:latin typeface="Microsoft Sans Serif"/>
                <a:cs typeface="Microsoft Sans Serif"/>
              </a:rPr>
              <a:t>ACROSS</a:t>
            </a:r>
            <a:r>
              <a:rPr dirty="0" sz="2300" spc="-6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ALL</a:t>
            </a:r>
            <a:r>
              <a:rPr dirty="0" sz="2300" spc="-60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LOTS</a:t>
            </a:r>
            <a:endParaRPr sz="2300">
              <a:latin typeface="Microsoft Sans Serif"/>
              <a:cs typeface="Microsoft Sans Serif"/>
            </a:endParaRPr>
          </a:p>
          <a:p>
            <a:pPr marL="288925" indent="-276225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288925" algn="l"/>
              </a:tabLst>
            </a:pPr>
            <a:r>
              <a:rPr dirty="0" sz="2300">
                <a:latin typeface="Microsoft Sans Serif"/>
                <a:cs typeface="Microsoft Sans Serif"/>
              </a:rPr>
              <a:t>₹310M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(≈96%)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COMES</a:t>
            </a:r>
            <a:r>
              <a:rPr dirty="0" sz="2300" spc="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FROM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VIOLATIONS</a:t>
            </a:r>
            <a:endParaRPr sz="2300">
              <a:latin typeface="Microsoft Sans Serif"/>
              <a:cs typeface="Microsoft Sans Serif"/>
            </a:endParaRPr>
          </a:p>
          <a:p>
            <a:pPr marL="288925">
              <a:lnSpc>
                <a:spcPct val="100000"/>
              </a:lnSpc>
              <a:spcBef>
                <a:spcPts val="445"/>
              </a:spcBef>
            </a:pPr>
            <a:r>
              <a:rPr dirty="0" sz="2300" spc="-555">
                <a:latin typeface="Microsoft Sans Serif"/>
                <a:cs typeface="Microsoft Sans Serif"/>
              </a:rPr>
              <a:t>→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REVENUE</a:t>
            </a:r>
            <a:r>
              <a:rPr dirty="0" sz="2300" spc="-55">
                <a:latin typeface="Microsoft Sans Serif"/>
                <a:cs typeface="Microsoft Sans Serif"/>
              </a:rPr>
              <a:t> </a:t>
            </a:r>
            <a:r>
              <a:rPr dirty="0" sz="2300" spc="-90">
                <a:latin typeface="Microsoft Sans Serif"/>
                <a:cs typeface="Microsoft Sans Serif"/>
              </a:rPr>
              <a:t>HEAVILY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 spc="-80">
                <a:latin typeface="Microsoft Sans Serif"/>
                <a:cs typeface="Microsoft Sans Serif"/>
              </a:rPr>
              <a:t>PENALTY-</a:t>
            </a:r>
            <a:r>
              <a:rPr dirty="0" sz="2300" spc="-10">
                <a:latin typeface="Microsoft Sans Serif"/>
                <a:cs typeface="Microsoft Sans Serif"/>
              </a:rPr>
              <a:t>DRIVEN</a:t>
            </a:r>
            <a:endParaRPr sz="2300">
              <a:latin typeface="Microsoft Sans Serif"/>
              <a:cs typeface="Microsoft Sans Serif"/>
            </a:endParaRPr>
          </a:p>
          <a:p>
            <a:pPr marL="288925" marR="18415" indent="-276860">
              <a:lnSpc>
                <a:spcPct val="115999"/>
              </a:lnSpc>
              <a:buAutoNum type="arabicPeriod" startAt="3"/>
              <a:tabLst>
                <a:tab pos="288925" algn="l"/>
              </a:tabLst>
            </a:pPr>
            <a:r>
              <a:rPr dirty="0" sz="2300" spc="-100">
                <a:latin typeface="Microsoft Sans Serif"/>
                <a:cs typeface="Microsoft Sans Serif"/>
              </a:rPr>
              <a:t>AVG</a:t>
            </a:r>
            <a:r>
              <a:rPr dirty="0" sz="2300" spc="-5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REVENUE</a:t>
            </a:r>
            <a:r>
              <a:rPr dirty="0" sz="2300" spc="-1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PER</a:t>
            </a:r>
            <a:r>
              <a:rPr dirty="0" sz="2300" spc="-9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SLOT</a:t>
            </a:r>
            <a:r>
              <a:rPr dirty="0" sz="2300" spc="-9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₹782K, </a:t>
            </a:r>
            <a:r>
              <a:rPr dirty="0" sz="2300" spc="-25">
                <a:latin typeface="Microsoft Sans Serif"/>
                <a:cs typeface="Microsoft Sans Serif"/>
              </a:rPr>
              <a:t>INDICATING</a:t>
            </a:r>
            <a:r>
              <a:rPr dirty="0" sz="2300" spc="-9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UNEVEN</a:t>
            </a:r>
            <a:r>
              <a:rPr dirty="0" sz="2300" spc="-9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LOT</a:t>
            </a:r>
            <a:r>
              <a:rPr dirty="0" sz="2300" spc="-9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PRODUCTIVITY</a:t>
            </a:r>
            <a:endParaRPr sz="2300">
              <a:latin typeface="Microsoft Sans Serif"/>
              <a:cs typeface="Microsoft Sans Serif"/>
            </a:endParaRPr>
          </a:p>
          <a:p>
            <a:pPr marL="288925" marR="275590" indent="-276860">
              <a:lnSpc>
                <a:spcPct val="115999"/>
              </a:lnSpc>
              <a:buAutoNum type="arabicPeriod" startAt="3"/>
              <a:tabLst>
                <a:tab pos="288925" algn="l"/>
              </a:tabLst>
            </a:pPr>
            <a:r>
              <a:rPr dirty="0" sz="2300" spc="-105">
                <a:latin typeface="Microsoft Sans Serif"/>
                <a:cs typeface="Microsoft Sans Serif"/>
              </a:rPr>
              <a:t>AVG</a:t>
            </a:r>
            <a:r>
              <a:rPr dirty="0" sz="2300" spc="-14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TICKET</a:t>
            </a:r>
            <a:r>
              <a:rPr dirty="0" sz="2300" spc="-140">
                <a:latin typeface="Microsoft Sans Serif"/>
                <a:cs typeface="Microsoft Sans Serif"/>
              </a:rPr>
              <a:t> </a:t>
            </a:r>
            <a:r>
              <a:rPr dirty="0" sz="2300" spc="-40">
                <a:latin typeface="Microsoft Sans Serif"/>
                <a:cs typeface="Microsoft Sans Serif"/>
              </a:rPr>
              <a:t>VALUE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-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₹6.44K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|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REVENUE </a:t>
            </a:r>
            <a:r>
              <a:rPr dirty="0" sz="2300">
                <a:latin typeface="Microsoft Sans Serif"/>
                <a:cs typeface="Microsoft Sans Serif"/>
              </a:rPr>
              <a:t>PER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HOUR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₹233.38**</a:t>
            </a:r>
            <a:endParaRPr sz="2300">
              <a:latin typeface="Microsoft Sans Serif"/>
              <a:cs typeface="Microsoft Sans Serif"/>
            </a:endParaRPr>
          </a:p>
          <a:p>
            <a:pPr marL="288925" marR="176530" indent="-276860">
              <a:lnSpc>
                <a:spcPct val="115999"/>
              </a:lnSpc>
              <a:spcBef>
                <a:spcPts val="5"/>
              </a:spcBef>
              <a:buAutoNum type="arabicPeriod" startAt="3"/>
              <a:tabLst>
                <a:tab pos="288925" algn="l"/>
              </a:tabLst>
            </a:pPr>
            <a:r>
              <a:rPr dirty="0" sz="2300">
                <a:latin typeface="Microsoft Sans Serif"/>
                <a:cs typeface="Microsoft Sans Serif"/>
              </a:rPr>
              <a:t>TOP</a:t>
            </a:r>
            <a:r>
              <a:rPr dirty="0" sz="2300" spc="-1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3</a:t>
            </a:r>
            <a:r>
              <a:rPr dirty="0" sz="2300" spc="-11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LOTS</a:t>
            </a:r>
            <a:r>
              <a:rPr dirty="0" sz="2300" spc="-11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DRIVE</a:t>
            </a:r>
            <a:r>
              <a:rPr dirty="0" sz="2300" spc="-105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DISPROPORTIONATE </a:t>
            </a:r>
            <a:r>
              <a:rPr dirty="0" sz="2300">
                <a:latin typeface="Microsoft Sans Serif"/>
                <a:cs typeface="Microsoft Sans Serif"/>
              </a:rPr>
              <a:t>REVENUE</a:t>
            </a:r>
            <a:r>
              <a:rPr dirty="0" sz="2300" spc="-114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SHARE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555">
                <a:latin typeface="Microsoft Sans Serif"/>
                <a:cs typeface="Microsoft Sans Serif"/>
              </a:rPr>
              <a:t>→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CONCENTRATION </a:t>
            </a:r>
            <a:r>
              <a:rPr dirty="0" sz="2300" spc="-20">
                <a:latin typeface="Microsoft Sans Serif"/>
                <a:cs typeface="Microsoft Sans Serif"/>
              </a:rPr>
              <a:t>RISK</a:t>
            </a:r>
            <a:endParaRPr sz="2300">
              <a:latin typeface="Microsoft Sans Serif"/>
              <a:cs typeface="Microsoft Sans Serif"/>
            </a:endParaRPr>
          </a:p>
          <a:p>
            <a:pPr algn="just" marL="288925" marR="67310" indent="-276860">
              <a:lnSpc>
                <a:spcPct val="115999"/>
              </a:lnSpc>
              <a:buAutoNum type="arabicPeriod" startAt="3"/>
              <a:tabLst>
                <a:tab pos="288925" algn="l"/>
              </a:tabLst>
            </a:pPr>
            <a:r>
              <a:rPr dirty="0" sz="2300">
                <a:latin typeface="Microsoft Sans Serif"/>
                <a:cs typeface="Microsoft Sans Serif"/>
              </a:rPr>
              <a:t>HIGH-PERFORMING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LOTS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SHOW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80">
                <a:latin typeface="Microsoft Sans Serif"/>
                <a:cs typeface="Microsoft Sans Serif"/>
              </a:rPr>
              <a:t>13–15% </a:t>
            </a:r>
            <a:r>
              <a:rPr dirty="0" sz="2300" spc="-20">
                <a:latin typeface="Microsoft Sans Serif"/>
                <a:cs typeface="Microsoft Sans Serif"/>
              </a:rPr>
              <a:t>UTILIZATION,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OTHERS</a:t>
            </a:r>
            <a:r>
              <a:rPr dirty="0" sz="2300" spc="-8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UNDERPERFORM </a:t>
            </a:r>
            <a:r>
              <a:rPr dirty="0" sz="2300" spc="-95">
                <a:latin typeface="Microsoft Sans Serif"/>
                <a:cs typeface="Microsoft Sans Serif"/>
              </a:rPr>
              <a:t>AT</a:t>
            </a:r>
            <a:r>
              <a:rPr dirty="0" sz="2300" spc="-60">
                <a:latin typeface="Microsoft Sans Serif"/>
                <a:cs typeface="Microsoft Sans Serif"/>
              </a:rPr>
              <a:t> </a:t>
            </a:r>
            <a:r>
              <a:rPr dirty="0" sz="2300" spc="70">
                <a:latin typeface="Microsoft Sans Serif"/>
                <a:cs typeface="Microsoft Sans Serif"/>
              </a:rPr>
              <a:t>~10–12%</a:t>
            </a:r>
            <a:endParaRPr sz="2300">
              <a:latin typeface="Microsoft Sans Serif"/>
              <a:cs typeface="Microsoft Sans Serif"/>
            </a:endParaRPr>
          </a:p>
          <a:p>
            <a:pPr marL="288925" marR="241300" indent="-276860">
              <a:lnSpc>
                <a:spcPct val="115999"/>
              </a:lnSpc>
            </a:pPr>
            <a:r>
              <a:rPr dirty="0" sz="2300">
                <a:latin typeface="Microsoft Sans Serif"/>
                <a:cs typeface="Microsoft Sans Serif"/>
              </a:rPr>
              <a:t>7.</a:t>
            </a:r>
            <a:r>
              <a:rPr dirty="0" sz="2300" spc="-38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81.88%</a:t>
            </a:r>
            <a:r>
              <a:rPr dirty="0" sz="2300" spc="-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OF</a:t>
            </a:r>
            <a:r>
              <a:rPr dirty="0" sz="2300" spc="-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REVENUE</a:t>
            </a:r>
            <a:r>
              <a:rPr dirty="0" sz="2300" spc="-3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LINKED</a:t>
            </a:r>
            <a:r>
              <a:rPr dirty="0" sz="2300" spc="-150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TO </a:t>
            </a:r>
            <a:r>
              <a:rPr dirty="0" sz="2300" spc="-20">
                <a:latin typeface="Microsoft Sans Serif"/>
                <a:cs typeface="Microsoft Sans Serif"/>
              </a:rPr>
              <a:t>VIOLATIONS</a:t>
            </a:r>
            <a:r>
              <a:rPr dirty="0" sz="2300" spc="-110">
                <a:latin typeface="Microsoft Sans Serif"/>
                <a:cs typeface="Microsoft Sans Serif"/>
              </a:rPr>
              <a:t> </a:t>
            </a:r>
            <a:r>
              <a:rPr dirty="0" sz="2300" spc="-555">
                <a:latin typeface="Microsoft Sans Serif"/>
                <a:cs typeface="Microsoft Sans Serif"/>
              </a:rPr>
              <a:t>→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PRICING</a:t>
            </a:r>
            <a:r>
              <a:rPr dirty="0" sz="2300" spc="-7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&amp;</a:t>
            </a:r>
            <a:r>
              <a:rPr dirty="0" sz="2300" spc="-8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COMPLIANCE DEPENDENCY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70083" y="881125"/>
            <a:ext cx="2402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4">
                <a:solidFill>
                  <a:srgbClr val="182333"/>
                </a:solidFill>
                <a:latin typeface="Arial Black"/>
                <a:cs typeface="Arial Black"/>
              </a:rPr>
              <a:t>FAUGET</a:t>
            </a:r>
            <a:r>
              <a:rPr dirty="0" sz="2000" spc="-13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000" spc="-210">
                <a:solidFill>
                  <a:srgbClr val="182333"/>
                </a:solidFill>
                <a:latin typeface="Arial Black"/>
                <a:cs typeface="Arial Black"/>
              </a:rPr>
              <a:t>COMPANY.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7877" y="138222"/>
            <a:ext cx="18078450" cy="1679575"/>
          </a:xfrm>
          <a:custGeom>
            <a:avLst/>
            <a:gdLst/>
            <a:ahLst/>
            <a:cxnLst/>
            <a:rect l="l" t="t" r="r" b="b"/>
            <a:pathLst>
              <a:path w="18078450" h="1679575">
                <a:moveTo>
                  <a:pt x="17830227" y="1679314"/>
                </a:moveTo>
                <a:lnTo>
                  <a:pt x="247635" y="1679314"/>
                </a:lnTo>
                <a:lnTo>
                  <a:pt x="199098" y="1674512"/>
                </a:lnTo>
                <a:lnTo>
                  <a:pt x="152869" y="1660464"/>
                </a:lnTo>
                <a:lnTo>
                  <a:pt x="110247" y="1637708"/>
                </a:lnTo>
                <a:lnTo>
                  <a:pt x="72530" y="1606783"/>
                </a:lnTo>
                <a:lnTo>
                  <a:pt x="41605" y="1569067"/>
                </a:lnTo>
                <a:lnTo>
                  <a:pt x="18850" y="1526444"/>
                </a:lnTo>
                <a:lnTo>
                  <a:pt x="4802" y="1480215"/>
                </a:lnTo>
                <a:lnTo>
                  <a:pt x="0" y="1431678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3" y="4802"/>
                </a:lnTo>
                <a:lnTo>
                  <a:pt x="17924992" y="18850"/>
                </a:lnTo>
                <a:lnTo>
                  <a:pt x="17967614" y="41605"/>
                </a:lnTo>
                <a:lnTo>
                  <a:pt x="18005331" y="72530"/>
                </a:lnTo>
                <a:lnTo>
                  <a:pt x="18036256" y="110247"/>
                </a:lnTo>
                <a:lnTo>
                  <a:pt x="18059011" y="152869"/>
                </a:lnTo>
                <a:lnTo>
                  <a:pt x="18073060" y="199098"/>
                </a:lnTo>
                <a:lnTo>
                  <a:pt x="18077862" y="247635"/>
                </a:lnTo>
                <a:lnTo>
                  <a:pt x="18077862" y="1431678"/>
                </a:lnTo>
                <a:lnTo>
                  <a:pt x="18073060" y="1480215"/>
                </a:lnTo>
                <a:lnTo>
                  <a:pt x="18059011" y="1526444"/>
                </a:lnTo>
                <a:lnTo>
                  <a:pt x="18036256" y="1569067"/>
                </a:lnTo>
                <a:lnTo>
                  <a:pt x="18005331" y="1606783"/>
                </a:lnTo>
                <a:lnTo>
                  <a:pt x="17967614" y="1637708"/>
                </a:lnTo>
                <a:lnTo>
                  <a:pt x="17924992" y="1660464"/>
                </a:lnTo>
                <a:lnTo>
                  <a:pt x="17878763" y="1674512"/>
                </a:lnTo>
                <a:lnTo>
                  <a:pt x="17830227" y="167931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77" y="2814835"/>
            <a:ext cx="12277724" cy="668654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2625821" y="2006992"/>
            <a:ext cx="5427345" cy="8124825"/>
            <a:chOff x="12625821" y="2006992"/>
            <a:chExt cx="5427345" cy="8124825"/>
          </a:xfrm>
        </p:grpSpPr>
        <p:sp>
          <p:nvSpPr>
            <p:cNvPr id="6" name="object 6" descr=""/>
            <p:cNvSpPr/>
            <p:nvPr/>
          </p:nvSpPr>
          <p:spPr>
            <a:xfrm>
              <a:off x="12663922" y="2045091"/>
              <a:ext cx="5351145" cy="8048625"/>
            </a:xfrm>
            <a:custGeom>
              <a:avLst/>
              <a:gdLst/>
              <a:ahLst/>
              <a:cxnLst/>
              <a:rect l="l" t="t" r="r" b="b"/>
              <a:pathLst>
                <a:path w="5351144" h="8048625">
                  <a:moveTo>
                    <a:pt x="2700244" y="8048271"/>
                  </a:moveTo>
                  <a:lnTo>
                    <a:pt x="2650612" y="8048271"/>
                  </a:lnTo>
                  <a:lnTo>
                    <a:pt x="2601531" y="8039836"/>
                  </a:lnTo>
                  <a:lnTo>
                    <a:pt x="2554098" y="8022966"/>
                  </a:lnTo>
                  <a:lnTo>
                    <a:pt x="121328" y="6913541"/>
                  </a:lnTo>
                  <a:lnTo>
                    <a:pt x="80331" y="6888774"/>
                  </a:lnTo>
                  <a:lnTo>
                    <a:pt x="46694" y="6855959"/>
                  </a:lnTo>
                  <a:lnTo>
                    <a:pt x="21423" y="6816660"/>
                  </a:lnTo>
                  <a:lnTo>
                    <a:pt x="5523" y="6772439"/>
                  </a:lnTo>
                  <a:lnTo>
                    <a:pt x="0" y="6724861"/>
                  </a:lnTo>
                  <a:lnTo>
                    <a:pt x="0" y="133349"/>
                  </a:lnTo>
                  <a:lnTo>
                    <a:pt x="10150" y="82319"/>
                  </a:lnTo>
                  <a:lnTo>
                    <a:pt x="39056" y="39057"/>
                  </a:lnTo>
                  <a:lnTo>
                    <a:pt x="82319" y="10150"/>
                  </a:lnTo>
                  <a:lnTo>
                    <a:pt x="133349" y="0"/>
                  </a:lnTo>
                  <a:lnTo>
                    <a:pt x="5217506" y="0"/>
                  </a:lnTo>
                  <a:lnTo>
                    <a:pt x="5268537" y="10150"/>
                  </a:lnTo>
                  <a:lnTo>
                    <a:pt x="5311799" y="39057"/>
                  </a:lnTo>
                  <a:lnTo>
                    <a:pt x="5340705" y="82319"/>
                  </a:lnTo>
                  <a:lnTo>
                    <a:pt x="5350856" y="133349"/>
                  </a:lnTo>
                  <a:lnTo>
                    <a:pt x="5350856" y="6724861"/>
                  </a:lnTo>
                  <a:lnTo>
                    <a:pt x="5345332" y="6772439"/>
                  </a:lnTo>
                  <a:lnTo>
                    <a:pt x="5329433" y="6816660"/>
                  </a:lnTo>
                  <a:lnTo>
                    <a:pt x="5304162" y="6855959"/>
                  </a:lnTo>
                  <a:lnTo>
                    <a:pt x="5270525" y="6888774"/>
                  </a:lnTo>
                  <a:lnTo>
                    <a:pt x="5229526" y="6913541"/>
                  </a:lnTo>
                  <a:lnTo>
                    <a:pt x="2796757" y="8022966"/>
                  </a:lnTo>
                  <a:lnTo>
                    <a:pt x="2749325" y="8039836"/>
                  </a:lnTo>
                  <a:lnTo>
                    <a:pt x="2700244" y="8048271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2663921" y="2045092"/>
              <a:ext cx="5351145" cy="8048625"/>
            </a:xfrm>
            <a:custGeom>
              <a:avLst/>
              <a:gdLst/>
              <a:ahLst/>
              <a:cxnLst/>
              <a:rect l="l" t="t" r="r" b="b"/>
              <a:pathLst>
                <a:path w="5351144" h="8048625">
                  <a:moveTo>
                    <a:pt x="0" y="133350"/>
                  </a:moveTo>
                  <a:lnTo>
                    <a:pt x="0" y="6724813"/>
                  </a:lnTo>
                  <a:lnTo>
                    <a:pt x="5518" y="6772391"/>
                  </a:lnTo>
                  <a:lnTo>
                    <a:pt x="21408" y="6816616"/>
                  </a:lnTo>
                  <a:lnTo>
                    <a:pt x="46672" y="6855924"/>
                  </a:lnTo>
                  <a:lnTo>
                    <a:pt x="80306" y="6888749"/>
                  </a:lnTo>
                  <a:lnTo>
                    <a:pt x="121306" y="6913527"/>
                  </a:lnTo>
                  <a:lnTo>
                    <a:pt x="2554061" y="8022948"/>
                  </a:lnTo>
                  <a:lnTo>
                    <a:pt x="2601495" y="8039823"/>
                  </a:lnTo>
                  <a:lnTo>
                    <a:pt x="2650583" y="8048266"/>
                  </a:lnTo>
                  <a:lnTo>
                    <a:pt x="2700223" y="8048271"/>
                  </a:lnTo>
                  <a:lnTo>
                    <a:pt x="2749315" y="8039837"/>
                  </a:lnTo>
                  <a:lnTo>
                    <a:pt x="2796756" y="8022966"/>
                  </a:lnTo>
                  <a:lnTo>
                    <a:pt x="5229513" y="6913547"/>
                  </a:lnTo>
                  <a:lnTo>
                    <a:pt x="5270518" y="6888778"/>
                  </a:lnTo>
                  <a:lnTo>
                    <a:pt x="5304166" y="6855955"/>
                  </a:lnTo>
                  <a:lnTo>
                    <a:pt x="5329443" y="6816643"/>
                  </a:lnTo>
                  <a:lnTo>
                    <a:pt x="5345343" y="6772409"/>
                  </a:lnTo>
                  <a:lnTo>
                    <a:pt x="5350861" y="6724818"/>
                  </a:lnTo>
                  <a:lnTo>
                    <a:pt x="5350856" y="133350"/>
                  </a:lnTo>
                  <a:lnTo>
                    <a:pt x="5340702" y="82309"/>
                  </a:lnTo>
                  <a:lnTo>
                    <a:pt x="5311783" y="39038"/>
                  </a:lnTo>
                  <a:lnTo>
                    <a:pt x="5268507" y="10134"/>
                  </a:lnTo>
                  <a:lnTo>
                    <a:pt x="5217505" y="5"/>
                  </a:lnTo>
                  <a:lnTo>
                    <a:pt x="133349" y="0"/>
                  </a:lnTo>
                  <a:lnTo>
                    <a:pt x="107212" y="2586"/>
                  </a:lnTo>
                  <a:lnTo>
                    <a:pt x="59366" y="22404"/>
                  </a:lnTo>
                  <a:lnTo>
                    <a:pt x="22403" y="59368"/>
                  </a:lnTo>
                  <a:lnTo>
                    <a:pt x="2585" y="107214"/>
                  </a:lnTo>
                  <a:lnTo>
                    <a:pt x="0" y="13335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39333" y="585975"/>
            <a:ext cx="8176259" cy="6946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>
                <a:latin typeface="Microsoft Sans Serif"/>
                <a:cs typeface="Microsoft Sans Serif"/>
              </a:rPr>
              <a:t>Compliance</a:t>
            </a:r>
            <a:r>
              <a:rPr dirty="0" sz="4350" spc="-135">
                <a:latin typeface="Microsoft Sans Serif"/>
                <a:cs typeface="Microsoft Sans Serif"/>
              </a:rPr>
              <a:t> </a:t>
            </a:r>
            <a:r>
              <a:rPr dirty="0" sz="4350" spc="-20">
                <a:latin typeface="Microsoft Sans Serif"/>
                <a:cs typeface="Microsoft Sans Serif"/>
              </a:rPr>
              <a:t>Performance</a:t>
            </a:r>
            <a:r>
              <a:rPr dirty="0" sz="4350" spc="-135">
                <a:latin typeface="Microsoft Sans Serif"/>
                <a:cs typeface="Microsoft Sans Serif"/>
              </a:rPr>
              <a:t> </a:t>
            </a:r>
            <a:r>
              <a:rPr dirty="0" sz="4350" spc="-10">
                <a:latin typeface="Microsoft Sans Serif"/>
                <a:cs typeface="Microsoft Sans Serif"/>
              </a:rPr>
              <a:t>Review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937964" y="2257306"/>
            <a:ext cx="4738370" cy="681482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555"/>
              </a:spcBef>
              <a:buChar char="•"/>
              <a:tabLst>
                <a:tab pos="185420" algn="l"/>
              </a:tabLst>
            </a:pPr>
            <a:r>
              <a:rPr dirty="0" sz="2300">
                <a:latin typeface="Microsoft Sans Serif"/>
                <a:cs typeface="Microsoft Sans Serif"/>
              </a:rPr>
              <a:t>Violation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rate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=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88%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vs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target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10%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2300" spc="-575">
                <a:latin typeface="Microsoft Sans Serif"/>
                <a:cs typeface="Microsoft Sans Serif"/>
              </a:rPr>
              <a:t>→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major</a:t>
            </a:r>
            <a:r>
              <a:rPr dirty="0" sz="2300" spc="-1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compliance</a:t>
            </a:r>
            <a:r>
              <a:rPr dirty="0" sz="2300" spc="-15">
                <a:latin typeface="Microsoft Sans Serif"/>
                <a:cs typeface="Microsoft Sans Serif"/>
              </a:rPr>
              <a:t> </a:t>
            </a:r>
            <a:r>
              <a:rPr dirty="0" sz="2300" spc="-25">
                <a:latin typeface="Microsoft Sans Serif"/>
                <a:cs typeface="Microsoft Sans Serif"/>
              </a:rPr>
              <a:t>gap</a:t>
            </a:r>
            <a:endParaRPr sz="2300">
              <a:latin typeface="Microsoft Sans Serif"/>
              <a:cs typeface="Microsoft Sans Serif"/>
            </a:endParaRPr>
          </a:p>
          <a:p>
            <a:pPr marL="12700" marR="347345" indent="187325">
              <a:lnSpc>
                <a:spcPct val="116799"/>
              </a:lnSpc>
              <a:spcBef>
                <a:spcPts val="5"/>
              </a:spcBef>
              <a:buChar char="•"/>
              <a:tabLst>
                <a:tab pos="200025" algn="l"/>
              </a:tabLst>
            </a:pPr>
            <a:r>
              <a:rPr dirty="0" sz="2300">
                <a:latin typeface="Microsoft Sans Serif"/>
                <a:cs typeface="Microsoft Sans Serif"/>
              </a:rPr>
              <a:t>97.44%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violations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are</a:t>
            </a:r>
            <a:r>
              <a:rPr dirty="0" sz="2300" spc="-4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customer- </a:t>
            </a:r>
            <a:r>
              <a:rPr dirty="0" sz="2300">
                <a:latin typeface="Microsoft Sans Serif"/>
                <a:cs typeface="Microsoft Sans Serif"/>
              </a:rPr>
              <a:t>driven,</a:t>
            </a:r>
            <a:r>
              <a:rPr dirty="0" sz="2300" spc="-5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only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2.56%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system</a:t>
            </a:r>
            <a:r>
              <a:rPr dirty="0" sz="2300" spc="-5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issues</a:t>
            </a:r>
            <a:endParaRPr sz="2300">
              <a:latin typeface="Microsoft Sans Serif"/>
              <a:cs typeface="Microsoft Sans Serif"/>
            </a:endParaRPr>
          </a:p>
          <a:p>
            <a:pPr marL="12700" marR="428625" indent="187325">
              <a:lnSpc>
                <a:spcPct val="116799"/>
              </a:lnSpc>
              <a:buChar char="•"/>
              <a:tabLst>
                <a:tab pos="200025" algn="l"/>
              </a:tabLst>
            </a:pPr>
            <a:r>
              <a:rPr dirty="0" sz="2300" spc="-10">
                <a:latin typeface="Microsoft Sans Serif"/>
                <a:cs typeface="Microsoft Sans Serif"/>
              </a:rPr>
              <a:t>Peak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daily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violations</a:t>
            </a:r>
            <a:r>
              <a:rPr dirty="0" sz="2300" spc="-6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on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Sunday </a:t>
            </a:r>
            <a:r>
              <a:rPr dirty="0" sz="2300">
                <a:latin typeface="Microsoft Sans Serif"/>
                <a:cs typeface="Microsoft Sans Serif"/>
              </a:rPr>
              <a:t>(~4.74K);</a:t>
            </a:r>
            <a:r>
              <a:rPr dirty="0" sz="2300" spc="-15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lowest</a:t>
            </a:r>
            <a:r>
              <a:rPr dirty="0" sz="2300" spc="-2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on</a:t>
            </a:r>
            <a:r>
              <a:rPr dirty="0" sz="2300" spc="-2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Saturday (~4.63K)</a:t>
            </a:r>
            <a:endParaRPr sz="2300">
              <a:latin typeface="Microsoft Sans Serif"/>
              <a:cs typeface="Microsoft Sans Serif"/>
            </a:endParaRPr>
          </a:p>
          <a:p>
            <a:pPr marL="12700" marR="434340" indent="187325">
              <a:lnSpc>
                <a:spcPct val="116799"/>
              </a:lnSpc>
              <a:buChar char="•"/>
              <a:tabLst>
                <a:tab pos="200025" algn="l"/>
              </a:tabLst>
            </a:pPr>
            <a:r>
              <a:rPr dirty="0" sz="2300">
                <a:latin typeface="Microsoft Sans Serif"/>
                <a:cs typeface="Microsoft Sans Serif"/>
              </a:rPr>
              <a:t>Overstayed</a:t>
            </a:r>
            <a:r>
              <a:rPr dirty="0" sz="2300" spc="-7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cases</a:t>
            </a:r>
            <a:r>
              <a:rPr dirty="0" sz="2300" spc="-65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dominate </a:t>
            </a:r>
            <a:r>
              <a:rPr dirty="0" sz="2300">
                <a:latin typeface="Microsoft Sans Serif"/>
                <a:cs typeface="Microsoft Sans Serif"/>
              </a:rPr>
              <a:t>(~32.5K)</a:t>
            </a:r>
            <a:r>
              <a:rPr dirty="0" sz="2300" spc="-25">
                <a:latin typeface="Microsoft Sans Serif"/>
                <a:cs typeface="Microsoft Sans Serif"/>
              </a:rPr>
              <a:t> </a:t>
            </a:r>
            <a:r>
              <a:rPr dirty="0" sz="2300" spc="-575">
                <a:latin typeface="Microsoft Sans Serif"/>
                <a:cs typeface="Microsoft Sans Serif"/>
              </a:rPr>
              <a:t>→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primary</a:t>
            </a:r>
            <a:r>
              <a:rPr dirty="0" sz="2300" spc="-2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violation</a:t>
            </a:r>
            <a:r>
              <a:rPr dirty="0" sz="2300" spc="-25">
                <a:latin typeface="Microsoft Sans Serif"/>
                <a:cs typeface="Microsoft Sans Serif"/>
              </a:rPr>
              <a:t> </a:t>
            </a:r>
            <a:r>
              <a:rPr dirty="0" sz="2300" spc="-20">
                <a:latin typeface="Microsoft Sans Serif"/>
                <a:cs typeface="Microsoft Sans Serif"/>
              </a:rPr>
              <a:t>type</a:t>
            </a:r>
            <a:endParaRPr sz="2300">
              <a:latin typeface="Microsoft Sans Serif"/>
              <a:cs typeface="Microsoft Sans Serif"/>
            </a:endParaRPr>
          </a:p>
          <a:p>
            <a:pPr marL="12700" marR="478790" indent="187325">
              <a:lnSpc>
                <a:spcPct val="116799"/>
              </a:lnSpc>
              <a:spcBef>
                <a:spcPts val="5"/>
              </a:spcBef>
              <a:buChar char="•"/>
              <a:tabLst>
                <a:tab pos="200025" algn="l"/>
              </a:tabLst>
            </a:pPr>
            <a:r>
              <a:rPr dirty="0" sz="2300" spc="-10">
                <a:latin typeface="Microsoft Sans Serif"/>
                <a:cs typeface="Microsoft Sans Serif"/>
              </a:rPr>
              <a:t>Penalty</a:t>
            </a:r>
            <a:r>
              <a:rPr dirty="0" sz="2300" spc="-9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factor</a:t>
            </a:r>
            <a:r>
              <a:rPr dirty="0" sz="2300" spc="-1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“3”</a:t>
            </a:r>
            <a:r>
              <a:rPr dirty="0" sz="2300" spc="-15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contributes </a:t>
            </a:r>
            <a:r>
              <a:rPr dirty="0" sz="2300">
                <a:latin typeface="Microsoft Sans Serif"/>
                <a:cs typeface="Microsoft Sans Serif"/>
              </a:rPr>
              <a:t>highest</a:t>
            </a:r>
            <a:r>
              <a:rPr dirty="0" sz="2300" spc="-35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volume</a:t>
            </a:r>
            <a:r>
              <a:rPr dirty="0" sz="2300" spc="-30">
                <a:latin typeface="Microsoft Sans Serif"/>
                <a:cs typeface="Microsoft Sans Serif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(~50K</a:t>
            </a:r>
            <a:r>
              <a:rPr dirty="0" sz="2300" spc="-30">
                <a:latin typeface="Microsoft Sans Serif"/>
                <a:cs typeface="Microsoft Sans Serif"/>
              </a:rPr>
              <a:t> </a:t>
            </a:r>
            <a:r>
              <a:rPr dirty="0" sz="2300" spc="-10">
                <a:latin typeface="Microsoft Sans Serif"/>
                <a:cs typeface="Microsoft Sans Serif"/>
              </a:rPr>
              <a:t>violations)</a:t>
            </a:r>
            <a:endParaRPr sz="2300">
              <a:latin typeface="Microsoft Sans Serif"/>
              <a:cs typeface="Microsoft Sans Serif"/>
            </a:endParaRPr>
          </a:p>
          <a:p>
            <a:pPr marL="12700" marR="447040" indent="210185">
              <a:lnSpc>
                <a:spcPts val="3600"/>
              </a:lnSpc>
              <a:spcBef>
                <a:spcPts val="185"/>
              </a:spcBef>
              <a:buChar char="•"/>
              <a:tabLst>
                <a:tab pos="222885" algn="l"/>
              </a:tabLst>
            </a:pPr>
            <a:r>
              <a:rPr dirty="0" sz="2600">
                <a:latin typeface="Microsoft Sans Serif"/>
                <a:cs typeface="Microsoft Sans Serif"/>
              </a:rPr>
              <a:t>Monthly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violation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revenue </a:t>
            </a:r>
            <a:r>
              <a:rPr dirty="0" sz="2600">
                <a:latin typeface="Microsoft Sans Serif"/>
                <a:cs typeface="Microsoft Sans Serif"/>
              </a:rPr>
              <a:t>peaks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at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₹21.7M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(May</a:t>
            </a:r>
            <a:r>
              <a:rPr dirty="0" sz="2600" spc="-5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&amp;</a:t>
            </a:r>
            <a:r>
              <a:rPr dirty="0" sz="2600" spc="-60">
                <a:latin typeface="Microsoft Sans Serif"/>
                <a:cs typeface="Microsoft Sans Serif"/>
              </a:rPr>
              <a:t> </a:t>
            </a:r>
            <a:r>
              <a:rPr dirty="0" sz="2600" spc="-20">
                <a:latin typeface="Microsoft Sans Serif"/>
                <a:cs typeface="Microsoft Sans Serif"/>
              </a:rPr>
              <a:t>Oct)</a:t>
            </a:r>
            <a:endParaRPr sz="2600">
              <a:latin typeface="Microsoft Sans Serif"/>
              <a:cs typeface="Microsoft Sans Serif"/>
            </a:endParaRPr>
          </a:p>
          <a:p>
            <a:pPr marL="12700" marR="5080" indent="210185">
              <a:lnSpc>
                <a:spcPts val="3600"/>
              </a:lnSpc>
              <a:buChar char="•"/>
              <a:tabLst>
                <a:tab pos="222885" algn="l"/>
              </a:tabLst>
            </a:pPr>
            <a:r>
              <a:rPr dirty="0" sz="2600">
                <a:latin typeface="Microsoft Sans Serif"/>
                <a:cs typeface="Microsoft Sans Serif"/>
              </a:rPr>
              <a:t>High-risk</a:t>
            </a:r>
            <a:r>
              <a:rPr dirty="0" sz="2600" spc="-8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lots</a:t>
            </a:r>
            <a:r>
              <a:rPr dirty="0" sz="2600" spc="-7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show</a:t>
            </a:r>
            <a:r>
              <a:rPr dirty="0" sz="2600" spc="-75">
                <a:latin typeface="Microsoft Sans Serif"/>
                <a:cs typeface="Microsoft Sans Serif"/>
              </a:rPr>
              <a:t> </a:t>
            </a:r>
            <a:r>
              <a:rPr dirty="0" sz="2600" spc="40">
                <a:latin typeface="Microsoft Sans Serif"/>
                <a:cs typeface="Microsoft Sans Serif"/>
              </a:rPr>
              <a:t>~0.85–0.90 </a:t>
            </a:r>
            <a:r>
              <a:rPr dirty="0" sz="2600">
                <a:latin typeface="Microsoft Sans Serif"/>
                <a:cs typeface="Microsoft Sans Serif"/>
              </a:rPr>
              <a:t>violation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rate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with</a:t>
            </a:r>
            <a:r>
              <a:rPr dirty="0" sz="2600" spc="-90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2K+</a:t>
            </a:r>
            <a:r>
              <a:rPr dirty="0" sz="2600" spc="-85">
                <a:latin typeface="Microsoft Sans Serif"/>
                <a:cs typeface="Microsoft Sans Serif"/>
              </a:rPr>
              <a:t> </a:t>
            </a:r>
            <a:r>
              <a:rPr dirty="0" sz="2600" spc="-25">
                <a:latin typeface="Microsoft Sans Serif"/>
                <a:cs typeface="Microsoft Sans Serif"/>
              </a:rPr>
              <a:t>avg </a:t>
            </a:r>
            <a:r>
              <a:rPr dirty="0" sz="2600" spc="-10">
                <a:latin typeface="Microsoft Sans Serif"/>
                <a:cs typeface="Microsoft Sans Serif"/>
              </a:rPr>
              <a:t>overstays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70083" y="881125"/>
            <a:ext cx="2402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4">
                <a:solidFill>
                  <a:srgbClr val="182333"/>
                </a:solidFill>
                <a:latin typeface="Arial Black"/>
                <a:cs typeface="Arial Black"/>
              </a:rPr>
              <a:t>FAUGET</a:t>
            </a:r>
            <a:r>
              <a:rPr dirty="0" sz="2000" spc="-135">
                <a:solidFill>
                  <a:srgbClr val="182333"/>
                </a:solidFill>
                <a:latin typeface="Arial Black"/>
                <a:cs typeface="Arial Black"/>
              </a:rPr>
              <a:t> </a:t>
            </a:r>
            <a:r>
              <a:rPr dirty="0" sz="2000" spc="-210">
                <a:solidFill>
                  <a:srgbClr val="182333"/>
                </a:solidFill>
                <a:latin typeface="Arial Black"/>
                <a:cs typeface="Arial Black"/>
              </a:rPr>
              <a:t>COMPANY.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87877" y="138222"/>
            <a:ext cx="18078450" cy="1679575"/>
          </a:xfrm>
          <a:custGeom>
            <a:avLst/>
            <a:gdLst/>
            <a:ahLst/>
            <a:cxnLst/>
            <a:rect l="l" t="t" r="r" b="b"/>
            <a:pathLst>
              <a:path w="18078450" h="1679575">
                <a:moveTo>
                  <a:pt x="17830227" y="1679314"/>
                </a:moveTo>
                <a:lnTo>
                  <a:pt x="247635" y="1679314"/>
                </a:lnTo>
                <a:lnTo>
                  <a:pt x="199098" y="1674512"/>
                </a:lnTo>
                <a:lnTo>
                  <a:pt x="152869" y="1660464"/>
                </a:lnTo>
                <a:lnTo>
                  <a:pt x="110247" y="1637708"/>
                </a:lnTo>
                <a:lnTo>
                  <a:pt x="72530" y="1606783"/>
                </a:lnTo>
                <a:lnTo>
                  <a:pt x="41605" y="1569067"/>
                </a:lnTo>
                <a:lnTo>
                  <a:pt x="18850" y="1526444"/>
                </a:lnTo>
                <a:lnTo>
                  <a:pt x="4802" y="1480215"/>
                </a:lnTo>
                <a:lnTo>
                  <a:pt x="0" y="1431678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3" y="4802"/>
                </a:lnTo>
                <a:lnTo>
                  <a:pt x="17924992" y="18850"/>
                </a:lnTo>
                <a:lnTo>
                  <a:pt x="17967614" y="41605"/>
                </a:lnTo>
                <a:lnTo>
                  <a:pt x="18005331" y="72530"/>
                </a:lnTo>
                <a:lnTo>
                  <a:pt x="18036256" y="110247"/>
                </a:lnTo>
                <a:lnTo>
                  <a:pt x="18059011" y="152869"/>
                </a:lnTo>
                <a:lnTo>
                  <a:pt x="18073060" y="199098"/>
                </a:lnTo>
                <a:lnTo>
                  <a:pt x="18077862" y="247635"/>
                </a:lnTo>
                <a:lnTo>
                  <a:pt x="18077862" y="1431678"/>
                </a:lnTo>
                <a:lnTo>
                  <a:pt x="18073060" y="1480215"/>
                </a:lnTo>
                <a:lnTo>
                  <a:pt x="18059011" y="1526444"/>
                </a:lnTo>
                <a:lnTo>
                  <a:pt x="18036256" y="1569067"/>
                </a:lnTo>
                <a:lnTo>
                  <a:pt x="18005331" y="1606783"/>
                </a:lnTo>
                <a:lnTo>
                  <a:pt x="17967614" y="1637708"/>
                </a:lnTo>
                <a:lnTo>
                  <a:pt x="17924992" y="1660464"/>
                </a:lnTo>
                <a:lnTo>
                  <a:pt x="17878763" y="1674512"/>
                </a:lnTo>
                <a:lnTo>
                  <a:pt x="17830227" y="167931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6055765" y="1946292"/>
            <a:ext cx="12144375" cy="6772275"/>
            <a:chOff x="6055765" y="1946292"/>
            <a:chExt cx="12144375" cy="67722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5295" y="1995822"/>
              <a:ext cx="12050071" cy="667761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93865" y="1984392"/>
              <a:ext cx="12068175" cy="6696075"/>
            </a:xfrm>
            <a:custGeom>
              <a:avLst/>
              <a:gdLst/>
              <a:ahLst/>
              <a:cxnLst/>
              <a:rect l="l" t="t" r="r" b="b"/>
              <a:pathLst>
                <a:path w="12068175" h="6696075">
                  <a:moveTo>
                    <a:pt x="12068175" y="0"/>
                  </a:moveTo>
                  <a:lnTo>
                    <a:pt x="0" y="0"/>
                  </a:lnTo>
                  <a:lnTo>
                    <a:pt x="0" y="6696075"/>
                  </a:lnTo>
                </a:path>
              </a:pathLst>
            </a:custGeom>
            <a:ln w="76199">
              <a:solidFill>
                <a:srgbClr val="66371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289293" y="2652567"/>
            <a:ext cx="5543550" cy="7492365"/>
          </a:xfrm>
          <a:custGeom>
            <a:avLst/>
            <a:gdLst/>
            <a:ahLst/>
            <a:cxnLst/>
            <a:rect l="l" t="t" r="r" b="b"/>
            <a:pathLst>
              <a:path w="5543550" h="7492365">
                <a:moveTo>
                  <a:pt x="5543044" y="7491770"/>
                </a:moveTo>
                <a:lnTo>
                  <a:pt x="0" y="7491770"/>
                </a:lnTo>
                <a:lnTo>
                  <a:pt x="0" y="0"/>
                </a:lnTo>
                <a:lnTo>
                  <a:pt x="5543044" y="0"/>
                </a:lnTo>
                <a:lnTo>
                  <a:pt x="5543044" y="7491770"/>
                </a:lnTo>
                <a:close/>
              </a:path>
            </a:pathLst>
          </a:custGeom>
          <a:solidFill>
            <a:srgbClr val="6637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85353" y="585975"/>
            <a:ext cx="9549130" cy="6946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350" spc="-30">
                <a:latin typeface="Microsoft Sans Serif"/>
                <a:cs typeface="Microsoft Sans Serif"/>
              </a:rPr>
              <a:t>Future</a:t>
            </a:r>
            <a:r>
              <a:rPr dirty="0" sz="4350" spc="-175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Outlook</a:t>
            </a:r>
            <a:r>
              <a:rPr dirty="0" sz="4350" spc="-175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&amp;</a:t>
            </a:r>
            <a:r>
              <a:rPr dirty="0" sz="4350" spc="-175">
                <a:latin typeface="Microsoft Sans Serif"/>
                <a:cs typeface="Microsoft Sans Serif"/>
              </a:rPr>
              <a:t> </a:t>
            </a:r>
            <a:r>
              <a:rPr dirty="0" sz="4350">
                <a:latin typeface="Microsoft Sans Serif"/>
                <a:cs typeface="Microsoft Sans Serif"/>
              </a:rPr>
              <a:t>Optimization</a:t>
            </a:r>
            <a:r>
              <a:rPr dirty="0" sz="4350" spc="-175">
                <a:latin typeface="Microsoft Sans Serif"/>
                <a:cs typeface="Microsoft Sans Serif"/>
              </a:rPr>
              <a:t> </a:t>
            </a:r>
            <a:r>
              <a:rPr dirty="0" sz="4350" spc="-10">
                <a:latin typeface="Microsoft Sans Serif"/>
                <a:cs typeface="Microsoft Sans Serif"/>
              </a:rPr>
              <a:t>Strategy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9293" y="2709717"/>
            <a:ext cx="5543550" cy="7435215"/>
          </a:xfrm>
          <a:prstGeom prst="rect">
            <a:avLst/>
          </a:prstGeom>
          <a:solidFill>
            <a:srgbClr val="66371B"/>
          </a:solidFill>
        </p:spPr>
        <p:txBody>
          <a:bodyPr wrap="square" lIns="0" tIns="65405" rIns="0" bIns="0" rtlCol="0" vert="horz">
            <a:spAutoFit/>
          </a:bodyPr>
          <a:lstStyle/>
          <a:p>
            <a:pPr marL="495300" marR="166370" indent="-271780">
              <a:lnSpc>
                <a:spcPct val="113999"/>
              </a:lnSpc>
              <a:spcBef>
                <a:spcPts val="515"/>
              </a:spcBef>
              <a:buAutoNum type="arabicPeriod"/>
              <a:tabLst>
                <a:tab pos="496570" algn="l"/>
              </a:tabLst>
            </a:pP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As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fee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increase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parameter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rises,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projected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30">
                <a:solidFill>
                  <a:srgbClr val="E4E1E2"/>
                </a:solidFill>
                <a:latin typeface="Microsoft Sans Serif"/>
                <a:cs typeface="Microsoft Sans Serif"/>
              </a:rPr>
              <a:t>revenue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increases,</a:t>
            </a:r>
            <a:r>
              <a:rPr dirty="0" sz="2300" spc="-10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but</a:t>
            </a:r>
            <a:r>
              <a:rPr dirty="0" sz="2300" spc="-10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risk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 spc="-25">
                <a:solidFill>
                  <a:srgbClr val="E4E1E2"/>
                </a:solidFill>
                <a:latin typeface="Microsoft Sans Serif"/>
                <a:cs typeface="Microsoft Sans Serif"/>
              </a:rPr>
              <a:t>level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escalates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944">
                <a:solidFill>
                  <a:srgbClr val="E4E1E2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moving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from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acceptable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high-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risk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beyond</a:t>
            </a:r>
            <a:r>
              <a:rPr dirty="0" sz="2300" spc="-9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certain 	thresholds.</a:t>
            </a:r>
            <a:endParaRPr sz="2300">
              <a:latin typeface="Microsoft Sans Serif"/>
              <a:cs typeface="Microsoft Sans Serif"/>
            </a:endParaRPr>
          </a:p>
          <a:p>
            <a:pPr marL="495300" marR="374015" indent="-271780">
              <a:lnSpc>
                <a:spcPct val="113999"/>
              </a:lnSpc>
              <a:spcBef>
                <a:spcPts val="5"/>
              </a:spcBef>
              <a:buAutoNum type="arabicPeriod"/>
              <a:tabLst>
                <a:tab pos="496570" algn="l"/>
              </a:tabLst>
            </a:pPr>
            <a:r>
              <a:rPr dirty="0" sz="2300" spc="-35">
                <a:solidFill>
                  <a:srgbClr val="E4E1E2"/>
                </a:solidFill>
                <a:latin typeface="Microsoft Sans Serif"/>
                <a:cs typeface="Microsoft Sans Serif"/>
              </a:rPr>
              <a:t>Revenue</a:t>
            </a:r>
            <a:r>
              <a:rPr dirty="0" sz="2300" spc="-8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is</a:t>
            </a:r>
            <a:r>
              <a:rPr dirty="0" sz="2300" spc="-8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forecasted</a:t>
            </a:r>
            <a:r>
              <a:rPr dirty="0" sz="2300" spc="-8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-8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grow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significantly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over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next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three 	months,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driven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strong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demand 	momentum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pricing</a:t>
            </a:r>
            <a:r>
              <a:rPr dirty="0" sz="2300" spc="-10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adjustments.</a:t>
            </a:r>
            <a:endParaRPr sz="2300">
              <a:latin typeface="Microsoft Sans Serif"/>
              <a:cs typeface="Microsoft Sans Serif"/>
            </a:endParaRPr>
          </a:p>
          <a:p>
            <a:pPr marL="495300" marR="374015" indent="-271780">
              <a:lnSpc>
                <a:spcPct val="113999"/>
              </a:lnSpc>
              <a:buAutoNum type="arabicPeriod"/>
              <a:tabLst>
                <a:tab pos="496570" algn="l"/>
              </a:tabLst>
            </a:pPr>
            <a:r>
              <a:rPr dirty="0" sz="2300" spc="-35">
                <a:solidFill>
                  <a:srgbClr val="E4E1E2"/>
                </a:solidFill>
                <a:latin typeface="Microsoft Sans Serif"/>
                <a:cs typeface="Microsoft Sans Serif"/>
              </a:rPr>
              <a:t>Revenue</a:t>
            </a:r>
            <a:r>
              <a:rPr dirty="0" sz="2300" spc="-8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is</a:t>
            </a:r>
            <a:r>
              <a:rPr dirty="0" sz="2300" spc="-8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forecasted</a:t>
            </a:r>
            <a:r>
              <a:rPr dirty="0" sz="2300" spc="-8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-8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grow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significantly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over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next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three 	months,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driven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-11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strong</a:t>
            </a:r>
            <a:r>
              <a:rPr dirty="0" sz="2300" spc="-114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demand 	momentum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-10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pricing</a:t>
            </a:r>
            <a:r>
              <a:rPr dirty="0" sz="2300" spc="-10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adjustments.</a:t>
            </a:r>
            <a:endParaRPr sz="2300">
              <a:latin typeface="Microsoft Sans Serif"/>
              <a:cs typeface="Microsoft Sans Serif"/>
            </a:endParaRPr>
          </a:p>
          <a:p>
            <a:pPr marL="495300" marR="666115" indent="-271780">
              <a:lnSpc>
                <a:spcPct val="113999"/>
              </a:lnSpc>
              <a:buAutoNum type="arabicPeriod"/>
              <a:tabLst>
                <a:tab pos="496570" algn="l"/>
              </a:tabLst>
            </a:pPr>
            <a:r>
              <a:rPr dirty="0" sz="2300" spc="-25">
                <a:solidFill>
                  <a:srgbClr val="E4E1E2"/>
                </a:solidFill>
                <a:latin typeface="Microsoft Sans Serif"/>
                <a:cs typeface="Microsoft Sans Serif"/>
              </a:rPr>
              <a:t>Overstayed</a:t>
            </a:r>
            <a:r>
              <a:rPr dirty="0" sz="2300" spc="-10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sessions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consistently 	drive</a:t>
            </a:r>
            <a:r>
              <a:rPr dirty="0" sz="2300" spc="-10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majority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30">
                <a:solidFill>
                  <a:srgbClr val="E4E1E2"/>
                </a:solidFill>
                <a:latin typeface="Microsoft Sans Serif"/>
                <a:cs typeface="Microsoft Sans Serif"/>
              </a:rPr>
              <a:t>revenue</a:t>
            </a:r>
            <a:r>
              <a:rPr dirty="0" sz="2300" spc="-9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uplift,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making</a:t>
            </a:r>
            <a:r>
              <a:rPr dirty="0" sz="2300" spc="-12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them</a:t>
            </a:r>
            <a:r>
              <a:rPr dirty="0" sz="2300" spc="-12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the</a:t>
            </a:r>
            <a:r>
              <a:rPr dirty="0" sz="2300" spc="-12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primary</a:t>
            </a:r>
            <a:r>
              <a:rPr dirty="0" sz="2300" spc="-12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5">
                <a:solidFill>
                  <a:srgbClr val="E4E1E2"/>
                </a:solidFill>
                <a:latin typeface="Microsoft Sans Serif"/>
                <a:cs typeface="Microsoft Sans Serif"/>
              </a:rPr>
              <a:t>lever</a:t>
            </a:r>
            <a:r>
              <a:rPr dirty="0" sz="2300" spc="-12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5">
                <a:solidFill>
                  <a:srgbClr val="E4E1E2"/>
                </a:solidFill>
                <a:latin typeface="Microsoft Sans Serif"/>
                <a:cs typeface="Microsoft Sans Serif"/>
              </a:rPr>
              <a:t>for </a:t>
            </a:r>
            <a:r>
              <a:rPr dirty="0" sz="2300" spc="-25">
                <a:solidFill>
                  <a:srgbClr val="E4E1E2"/>
                </a:solidFill>
                <a:latin typeface="Microsoft Sans Serif"/>
                <a:cs typeface="Microsoft Sans Serif"/>
              </a:rPr>
              <a:t>	</a:t>
            </a:r>
            <a:r>
              <a:rPr dirty="0" sz="2300" spc="-20">
                <a:solidFill>
                  <a:srgbClr val="E4E1E2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2300" spc="-90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across</a:t>
            </a:r>
            <a:r>
              <a:rPr dirty="0" sz="2300" spc="-8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E4E1E2"/>
                </a:solidFill>
                <a:latin typeface="Microsoft Sans Serif"/>
                <a:cs typeface="Microsoft Sans Serif"/>
              </a:rPr>
              <a:t>all</a:t>
            </a:r>
            <a:r>
              <a:rPr dirty="0" sz="2300" spc="-85">
                <a:solidFill>
                  <a:srgbClr val="E4E1E2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E4E1E2"/>
                </a:solidFill>
                <a:latin typeface="Microsoft Sans Serif"/>
                <a:cs typeface="Microsoft Sans Serif"/>
              </a:rPr>
              <a:t>pricing 	scenarios.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4540" y="189042"/>
            <a:ext cx="18078450" cy="1679575"/>
          </a:xfrm>
          <a:custGeom>
            <a:avLst/>
            <a:gdLst/>
            <a:ahLst/>
            <a:cxnLst/>
            <a:rect l="l" t="t" r="r" b="b"/>
            <a:pathLst>
              <a:path w="18078450" h="1679575">
                <a:moveTo>
                  <a:pt x="17830227" y="1679314"/>
                </a:moveTo>
                <a:lnTo>
                  <a:pt x="247635" y="1679314"/>
                </a:lnTo>
                <a:lnTo>
                  <a:pt x="199098" y="1674512"/>
                </a:lnTo>
                <a:lnTo>
                  <a:pt x="152869" y="1660464"/>
                </a:lnTo>
                <a:lnTo>
                  <a:pt x="110247" y="1637708"/>
                </a:lnTo>
                <a:lnTo>
                  <a:pt x="72530" y="1606783"/>
                </a:lnTo>
                <a:lnTo>
                  <a:pt x="41605" y="1569067"/>
                </a:lnTo>
                <a:lnTo>
                  <a:pt x="18850" y="1526444"/>
                </a:lnTo>
                <a:lnTo>
                  <a:pt x="4802" y="1480215"/>
                </a:lnTo>
                <a:lnTo>
                  <a:pt x="0" y="1431678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3" y="4802"/>
                </a:lnTo>
                <a:lnTo>
                  <a:pt x="17924992" y="18850"/>
                </a:lnTo>
                <a:lnTo>
                  <a:pt x="17967615" y="41605"/>
                </a:lnTo>
                <a:lnTo>
                  <a:pt x="18005331" y="72530"/>
                </a:lnTo>
                <a:lnTo>
                  <a:pt x="18036256" y="110247"/>
                </a:lnTo>
                <a:lnTo>
                  <a:pt x="18059012" y="152869"/>
                </a:lnTo>
                <a:lnTo>
                  <a:pt x="18073060" y="199098"/>
                </a:lnTo>
                <a:lnTo>
                  <a:pt x="18077862" y="247635"/>
                </a:lnTo>
                <a:lnTo>
                  <a:pt x="18077862" y="1431678"/>
                </a:lnTo>
                <a:lnTo>
                  <a:pt x="18073060" y="1480215"/>
                </a:lnTo>
                <a:lnTo>
                  <a:pt x="18059012" y="1526444"/>
                </a:lnTo>
                <a:lnTo>
                  <a:pt x="18036256" y="1569067"/>
                </a:lnTo>
                <a:lnTo>
                  <a:pt x="18005331" y="1606783"/>
                </a:lnTo>
                <a:lnTo>
                  <a:pt x="17967615" y="1637708"/>
                </a:lnTo>
                <a:lnTo>
                  <a:pt x="17924992" y="1660464"/>
                </a:lnTo>
                <a:lnTo>
                  <a:pt x="17878763" y="1674512"/>
                </a:lnTo>
                <a:lnTo>
                  <a:pt x="17830227" y="1679314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93440" y="1973181"/>
            <a:ext cx="6629400" cy="1589405"/>
          </a:xfrm>
          <a:custGeom>
            <a:avLst/>
            <a:gdLst/>
            <a:ahLst/>
            <a:cxnLst/>
            <a:rect l="l" t="t" r="r" b="b"/>
            <a:pathLst>
              <a:path w="6629400" h="1589404">
                <a:moveTo>
                  <a:pt x="5857824" y="1589066"/>
                </a:moveTo>
                <a:lnTo>
                  <a:pt x="771524" y="1589066"/>
                </a:lnTo>
                <a:lnTo>
                  <a:pt x="724525" y="1587616"/>
                </a:lnTo>
                <a:lnTo>
                  <a:pt x="678271" y="1583321"/>
                </a:lnTo>
                <a:lnTo>
                  <a:pt x="632842" y="1576265"/>
                </a:lnTo>
                <a:lnTo>
                  <a:pt x="588319" y="1566530"/>
                </a:lnTo>
                <a:lnTo>
                  <a:pt x="544783" y="1554200"/>
                </a:lnTo>
                <a:lnTo>
                  <a:pt x="502314" y="1539358"/>
                </a:lnTo>
                <a:lnTo>
                  <a:pt x="460994" y="1522086"/>
                </a:lnTo>
                <a:lnTo>
                  <a:pt x="420903" y="1502469"/>
                </a:lnTo>
                <a:lnTo>
                  <a:pt x="382121" y="1480589"/>
                </a:lnTo>
                <a:lnTo>
                  <a:pt x="344730" y="1456529"/>
                </a:lnTo>
                <a:lnTo>
                  <a:pt x="308809" y="1430372"/>
                </a:lnTo>
                <a:lnTo>
                  <a:pt x="274441" y="1402201"/>
                </a:lnTo>
                <a:lnTo>
                  <a:pt x="241705" y="1372101"/>
                </a:lnTo>
                <a:lnTo>
                  <a:pt x="210682" y="1340153"/>
                </a:lnTo>
                <a:lnTo>
                  <a:pt x="181452" y="1306440"/>
                </a:lnTo>
                <a:lnTo>
                  <a:pt x="154098" y="1271047"/>
                </a:lnTo>
                <a:lnTo>
                  <a:pt x="128699" y="1234055"/>
                </a:lnTo>
                <a:lnTo>
                  <a:pt x="105335" y="1195549"/>
                </a:lnTo>
                <a:lnTo>
                  <a:pt x="84089" y="1155610"/>
                </a:lnTo>
                <a:lnTo>
                  <a:pt x="65039" y="1114323"/>
                </a:lnTo>
                <a:lnTo>
                  <a:pt x="48268" y="1071771"/>
                </a:lnTo>
                <a:lnTo>
                  <a:pt x="33856" y="1028036"/>
                </a:lnTo>
                <a:lnTo>
                  <a:pt x="21883" y="983202"/>
                </a:lnTo>
                <a:lnTo>
                  <a:pt x="12430" y="937351"/>
                </a:lnTo>
                <a:lnTo>
                  <a:pt x="5578" y="890567"/>
                </a:lnTo>
                <a:lnTo>
                  <a:pt x="1408" y="842933"/>
                </a:lnTo>
                <a:lnTo>
                  <a:pt x="0" y="794533"/>
                </a:lnTo>
                <a:lnTo>
                  <a:pt x="1408" y="746132"/>
                </a:lnTo>
                <a:lnTo>
                  <a:pt x="5578" y="698498"/>
                </a:lnTo>
                <a:lnTo>
                  <a:pt x="12430" y="651714"/>
                </a:lnTo>
                <a:lnTo>
                  <a:pt x="21883" y="605864"/>
                </a:lnTo>
                <a:lnTo>
                  <a:pt x="33856" y="561029"/>
                </a:lnTo>
                <a:lnTo>
                  <a:pt x="48268" y="517294"/>
                </a:lnTo>
                <a:lnTo>
                  <a:pt x="65039" y="474742"/>
                </a:lnTo>
                <a:lnTo>
                  <a:pt x="84089" y="433455"/>
                </a:lnTo>
                <a:lnTo>
                  <a:pt x="105335" y="393516"/>
                </a:lnTo>
                <a:lnTo>
                  <a:pt x="128699" y="355010"/>
                </a:lnTo>
                <a:lnTo>
                  <a:pt x="154098" y="318019"/>
                </a:lnTo>
                <a:lnTo>
                  <a:pt x="181452" y="282625"/>
                </a:lnTo>
                <a:lnTo>
                  <a:pt x="210682" y="248913"/>
                </a:lnTo>
                <a:lnTo>
                  <a:pt x="241705" y="216964"/>
                </a:lnTo>
                <a:lnTo>
                  <a:pt x="274441" y="186864"/>
                </a:lnTo>
                <a:lnTo>
                  <a:pt x="308809" y="158693"/>
                </a:lnTo>
                <a:lnTo>
                  <a:pt x="344730" y="132537"/>
                </a:lnTo>
                <a:lnTo>
                  <a:pt x="382121" y="108477"/>
                </a:lnTo>
                <a:lnTo>
                  <a:pt x="420903" y="86596"/>
                </a:lnTo>
                <a:lnTo>
                  <a:pt x="460994" y="66979"/>
                </a:lnTo>
                <a:lnTo>
                  <a:pt x="502314" y="49707"/>
                </a:lnTo>
                <a:lnTo>
                  <a:pt x="544783" y="34865"/>
                </a:lnTo>
                <a:lnTo>
                  <a:pt x="588319" y="22535"/>
                </a:lnTo>
                <a:lnTo>
                  <a:pt x="632842" y="12800"/>
                </a:lnTo>
                <a:lnTo>
                  <a:pt x="678271" y="5744"/>
                </a:lnTo>
                <a:lnTo>
                  <a:pt x="724525" y="1450"/>
                </a:lnTo>
                <a:lnTo>
                  <a:pt x="771524" y="0"/>
                </a:lnTo>
                <a:lnTo>
                  <a:pt x="5857824" y="0"/>
                </a:lnTo>
                <a:lnTo>
                  <a:pt x="5904823" y="1450"/>
                </a:lnTo>
                <a:lnTo>
                  <a:pt x="5951077" y="5744"/>
                </a:lnTo>
                <a:lnTo>
                  <a:pt x="5996506" y="12800"/>
                </a:lnTo>
                <a:lnTo>
                  <a:pt x="6041029" y="22535"/>
                </a:lnTo>
                <a:lnTo>
                  <a:pt x="6084565" y="34865"/>
                </a:lnTo>
                <a:lnTo>
                  <a:pt x="6127034" y="49707"/>
                </a:lnTo>
                <a:lnTo>
                  <a:pt x="6168354" y="66979"/>
                </a:lnTo>
                <a:lnTo>
                  <a:pt x="6208445" y="86596"/>
                </a:lnTo>
                <a:lnTo>
                  <a:pt x="6247227" y="108477"/>
                </a:lnTo>
                <a:lnTo>
                  <a:pt x="6284619" y="132537"/>
                </a:lnTo>
                <a:lnTo>
                  <a:pt x="6320539" y="158693"/>
                </a:lnTo>
                <a:lnTo>
                  <a:pt x="6354907" y="186864"/>
                </a:lnTo>
                <a:lnTo>
                  <a:pt x="6387644" y="216964"/>
                </a:lnTo>
                <a:lnTo>
                  <a:pt x="6418667" y="248913"/>
                </a:lnTo>
                <a:lnTo>
                  <a:pt x="6447896" y="282625"/>
                </a:lnTo>
                <a:lnTo>
                  <a:pt x="6475250" y="318019"/>
                </a:lnTo>
                <a:lnTo>
                  <a:pt x="6500650" y="355010"/>
                </a:lnTo>
                <a:lnTo>
                  <a:pt x="6524013" y="393516"/>
                </a:lnTo>
                <a:lnTo>
                  <a:pt x="6545260" y="433455"/>
                </a:lnTo>
                <a:lnTo>
                  <a:pt x="6564309" y="474742"/>
                </a:lnTo>
                <a:lnTo>
                  <a:pt x="6581080" y="517294"/>
                </a:lnTo>
                <a:lnTo>
                  <a:pt x="6595493" y="561029"/>
                </a:lnTo>
                <a:lnTo>
                  <a:pt x="6607466" y="605864"/>
                </a:lnTo>
                <a:lnTo>
                  <a:pt x="6616918" y="651714"/>
                </a:lnTo>
                <a:lnTo>
                  <a:pt x="6623770" y="698498"/>
                </a:lnTo>
                <a:lnTo>
                  <a:pt x="6627941" y="746132"/>
                </a:lnTo>
                <a:lnTo>
                  <a:pt x="6629349" y="794533"/>
                </a:lnTo>
                <a:lnTo>
                  <a:pt x="6627941" y="842933"/>
                </a:lnTo>
                <a:lnTo>
                  <a:pt x="6623770" y="890567"/>
                </a:lnTo>
                <a:lnTo>
                  <a:pt x="6616918" y="937351"/>
                </a:lnTo>
                <a:lnTo>
                  <a:pt x="6607466" y="983202"/>
                </a:lnTo>
                <a:lnTo>
                  <a:pt x="6595493" y="1028036"/>
                </a:lnTo>
                <a:lnTo>
                  <a:pt x="6581080" y="1071771"/>
                </a:lnTo>
                <a:lnTo>
                  <a:pt x="6564309" y="1114323"/>
                </a:lnTo>
                <a:lnTo>
                  <a:pt x="6545260" y="1155610"/>
                </a:lnTo>
                <a:lnTo>
                  <a:pt x="6524013" y="1195549"/>
                </a:lnTo>
                <a:lnTo>
                  <a:pt x="6500650" y="1234055"/>
                </a:lnTo>
                <a:lnTo>
                  <a:pt x="6475250" y="1271047"/>
                </a:lnTo>
                <a:lnTo>
                  <a:pt x="6447896" y="1306440"/>
                </a:lnTo>
                <a:lnTo>
                  <a:pt x="6418667" y="1340153"/>
                </a:lnTo>
                <a:lnTo>
                  <a:pt x="6387644" y="1372101"/>
                </a:lnTo>
                <a:lnTo>
                  <a:pt x="6354907" y="1402201"/>
                </a:lnTo>
                <a:lnTo>
                  <a:pt x="6320539" y="1430372"/>
                </a:lnTo>
                <a:lnTo>
                  <a:pt x="6284619" y="1456529"/>
                </a:lnTo>
                <a:lnTo>
                  <a:pt x="6247227" y="1480589"/>
                </a:lnTo>
                <a:lnTo>
                  <a:pt x="6208445" y="1502469"/>
                </a:lnTo>
                <a:lnTo>
                  <a:pt x="6168354" y="1522086"/>
                </a:lnTo>
                <a:lnTo>
                  <a:pt x="6127034" y="1539358"/>
                </a:lnTo>
                <a:lnTo>
                  <a:pt x="6084565" y="1554200"/>
                </a:lnTo>
                <a:lnTo>
                  <a:pt x="6041029" y="1566530"/>
                </a:lnTo>
                <a:lnTo>
                  <a:pt x="5996506" y="1576265"/>
                </a:lnTo>
                <a:lnTo>
                  <a:pt x="5951077" y="1583321"/>
                </a:lnTo>
                <a:lnTo>
                  <a:pt x="5904823" y="1587616"/>
                </a:lnTo>
                <a:lnTo>
                  <a:pt x="5857824" y="1589066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69092" y="7790197"/>
            <a:ext cx="6629400" cy="1543050"/>
          </a:xfrm>
          <a:custGeom>
            <a:avLst/>
            <a:gdLst/>
            <a:ahLst/>
            <a:cxnLst/>
            <a:rect l="l" t="t" r="r" b="b"/>
            <a:pathLst>
              <a:path w="6629400" h="1543050">
                <a:moveTo>
                  <a:pt x="5857824" y="1543049"/>
                </a:moveTo>
                <a:lnTo>
                  <a:pt x="771524" y="1543049"/>
                </a:lnTo>
                <a:lnTo>
                  <a:pt x="722732" y="1541532"/>
                </a:lnTo>
                <a:lnTo>
                  <a:pt x="674746" y="1537038"/>
                </a:lnTo>
                <a:lnTo>
                  <a:pt x="627657" y="1529660"/>
                </a:lnTo>
                <a:lnTo>
                  <a:pt x="581555" y="1519486"/>
                </a:lnTo>
                <a:lnTo>
                  <a:pt x="536531" y="1506609"/>
                </a:lnTo>
                <a:lnTo>
                  <a:pt x="492674" y="1491117"/>
                </a:lnTo>
                <a:lnTo>
                  <a:pt x="450076" y="1473102"/>
                </a:lnTo>
                <a:lnTo>
                  <a:pt x="408827" y="1452653"/>
                </a:lnTo>
                <a:lnTo>
                  <a:pt x="369016" y="1429862"/>
                </a:lnTo>
                <a:lnTo>
                  <a:pt x="330736" y="1404818"/>
                </a:lnTo>
                <a:lnTo>
                  <a:pt x="294075" y="1377612"/>
                </a:lnTo>
                <a:lnTo>
                  <a:pt x="259124" y="1348334"/>
                </a:lnTo>
                <a:lnTo>
                  <a:pt x="225974" y="1317075"/>
                </a:lnTo>
                <a:lnTo>
                  <a:pt x="194715" y="1283925"/>
                </a:lnTo>
                <a:lnTo>
                  <a:pt x="165437" y="1248974"/>
                </a:lnTo>
                <a:lnTo>
                  <a:pt x="138231" y="1212313"/>
                </a:lnTo>
                <a:lnTo>
                  <a:pt x="113187" y="1174033"/>
                </a:lnTo>
                <a:lnTo>
                  <a:pt x="90396" y="1134222"/>
                </a:lnTo>
                <a:lnTo>
                  <a:pt x="69947" y="1092973"/>
                </a:lnTo>
                <a:lnTo>
                  <a:pt x="51932" y="1050375"/>
                </a:lnTo>
                <a:lnTo>
                  <a:pt x="36440" y="1006518"/>
                </a:lnTo>
                <a:lnTo>
                  <a:pt x="23563" y="961494"/>
                </a:lnTo>
                <a:lnTo>
                  <a:pt x="13389" y="915392"/>
                </a:lnTo>
                <a:lnTo>
                  <a:pt x="6011" y="868303"/>
                </a:lnTo>
                <a:lnTo>
                  <a:pt x="1517" y="820317"/>
                </a:lnTo>
                <a:lnTo>
                  <a:pt x="0" y="771524"/>
                </a:lnTo>
                <a:lnTo>
                  <a:pt x="1517" y="722732"/>
                </a:lnTo>
                <a:lnTo>
                  <a:pt x="6011" y="674746"/>
                </a:lnTo>
                <a:lnTo>
                  <a:pt x="13389" y="627657"/>
                </a:lnTo>
                <a:lnTo>
                  <a:pt x="23563" y="581555"/>
                </a:lnTo>
                <a:lnTo>
                  <a:pt x="36440" y="536530"/>
                </a:lnTo>
                <a:lnTo>
                  <a:pt x="51932" y="492674"/>
                </a:lnTo>
                <a:lnTo>
                  <a:pt x="69947" y="450076"/>
                </a:lnTo>
                <a:lnTo>
                  <a:pt x="90396" y="408827"/>
                </a:lnTo>
                <a:lnTo>
                  <a:pt x="113187" y="369016"/>
                </a:lnTo>
                <a:lnTo>
                  <a:pt x="138231" y="330736"/>
                </a:lnTo>
                <a:lnTo>
                  <a:pt x="165437" y="294075"/>
                </a:lnTo>
                <a:lnTo>
                  <a:pt x="194715" y="259124"/>
                </a:lnTo>
                <a:lnTo>
                  <a:pt x="225974" y="225974"/>
                </a:lnTo>
                <a:lnTo>
                  <a:pt x="259124" y="194715"/>
                </a:lnTo>
                <a:lnTo>
                  <a:pt x="294075" y="165437"/>
                </a:lnTo>
                <a:lnTo>
                  <a:pt x="330736" y="138231"/>
                </a:lnTo>
                <a:lnTo>
                  <a:pt x="369016" y="113187"/>
                </a:lnTo>
                <a:lnTo>
                  <a:pt x="408827" y="90396"/>
                </a:lnTo>
                <a:lnTo>
                  <a:pt x="450076" y="69947"/>
                </a:lnTo>
                <a:lnTo>
                  <a:pt x="492674" y="51932"/>
                </a:lnTo>
                <a:lnTo>
                  <a:pt x="536531" y="36440"/>
                </a:lnTo>
                <a:lnTo>
                  <a:pt x="581555" y="23563"/>
                </a:lnTo>
                <a:lnTo>
                  <a:pt x="627657" y="13389"/>
                </a:lnTo>
                <a:lnTo>
                  <a:pt x="674746" y="6011"/>
                </a:lnTo>
                <a:lnTo>
                  <a:pt x="722732" y="1517"/>
                </a:lnTo>
                <a:lnTo>
                  <a:pt x="771524" y="0"/>
                </a:lnTo>
                <a:lnTo>
                  <a:pt x="5857824" y="0"/>
                </a:lnTo>
                <a:lnTo>
                  <a:pt x="5906616" y="1517"/>
                </a:lnTo>
                <a:lnTo>
                  <a:pt x="5954602" y="6011"/>
                </a:lnTo>
                <a:lnTo>
                  <a:pt x="6001691" y="13389"/>
                </a:lnTo>
                <a:lnTo>
                  <a:pt x="6047793" y="23563"/>
                </a:lnTo>
                <a:lnTo>
                  <a:pt x="6092818" y="36440"/>
                </a:lnTo>
                <a:lnTo>
                  <a:pt x="6136674" y="51932"/>
                </a:lnTo>
                <a:lnTo>
                  <a:pt x="6179272" y="69947"/>
                </a:lnTo>
                <a:lnTo>
                  <a:pt x="6220522" y="90396"/>
                </a:lnTo>
                <a:lnTo>
                  <a:pt x="6260332" y="113187"/>
                </a:lnTo>
                <a:lnTo>
                  <a:pt x="6298613" y="138231"/>
                </a:lnTo>
                <a:lnTo>
                  <a:pt x="6335274" y="165437"/>
                </a:lnTo>
                <a:lnTo>
                  <a:pt x="6370224" y="194715"/>
                </a:lnTo>
                <a:lnTo>
                  <a:pt x="6403374" y="225974"/>
                </a:lnTo>
                <a:lnTo>
                  <a:pt x="6434633" y="259124"/>
                </a:lnTo>
                <a:lnTo>
                  <a:pt x="6463911" y="294075"/>
                </a:lnTo>
                <a:lnTo>
                  <a:pt x="6491117" y="330736"/>
                </a:lnTo>
                <a:lnTo>
                  <a:pt x="6516161" y="369016"/>
                </a:lnTo>
                <a:lnTo>
                  <a:pt x="6538952" y="408827"/>
                </a:lnTo>
                <a:lnTo>
                  <a:pt x="6559401" y="450076"/>
                </a:lnTo>
                <a:lnTo>
                  <a:pt x="6577416" y="492674"/>
                </a:lnTo>
                <a:lnTo>
                  <a:pt x="6592908" y="536530"/>
                </a:lnTo>
                <a:lnTo>
                  <a:pt x="6605786" y="581555"/>
                </a:lnTo>
                <a:lnTo>
                  <a:pt x="6615959" y="627657"/>
                </a:lnTo>
                <a:lnTo>
                  <a:pt x="6623337" y="674746"/>
                </a:lnTo>
                <a:lnTo>
                  <a:pt x="6627831" y="722732"/>
                </a:lnTo>
                <a:lnTo>
                  <a:pt x="6629349" y="771524"/>
                </a:lnTo>
                <a:lnTo>
                  <a:pt x="6627831" y="820317"/>
                </a:lnTo>
                <a:lnTo>
                  <a:pt x="6623337" y="868303"/>
                </a:lnTo>
                <a:lnTo>
                  <a:pt x="6615959" y="915392"/>
                </a:lnTo>
                <a:lnTo>
                  <a:pt x="6605786" y="961494"/>
                </a:lnTo>
                <a:lnTo>
                  <a:pt x="6592908" y="1006518"/>
                </a:lnTo>
                <a:lnTo>
                  <a:pt x="6577416" y="1050375"/>
                </a:lnTo>
                <a:lnTo>
                  <a:pt x="6559401" y="1092973"/>
                </a:lnTo>
                <a:lnTo>
                  <a:pt x="6538952" y="1134222"/>
                </a:lnTo>
                <a:lnTo>
                  <a:pt x="6516161" y="1174033"/>
                </a:lnTo>
                <a:lnTo>
                  <a:pt x="6491117" y="1212313"/>
                </a:lnTo>
                <a:lnTo>
                  <a:pt x="6463911" y="1248974"/>
                </a:lnTo>
                <a:lnTo>
                  <a:pt x="6434633" y="1283925"/>
                </a:lnTo>
                <a:lnTo>
                  <a:pt x="6403374" y="1317075"/>
                </a:lnTo>
                <a:lnTo>
                  <a:pt x="6370224" y="1348334"/>
                </a:lnTo>
                <a:lnTo>
                  <a:pt x="6335274" y="1377612"/>
                </a:lnTo>
                <a:lnTo>
                  <a:pt x="6298613" y="1404818"/>
                </a:lnTo>
                <a:lnTo>
                  <a:pt x="6260332" y="1429862"/>
                </a:lnTo>
                <a:lnTo>
                  <a:pt x="6220522" y="1452653"/>
                </a:lnTo>
                <a:lnTo>
                  <a:pt x="6179272" y="1473102"/>
                </a:lnTo>
                <a:lnTo>
                  <a:pt x="6136674" y="1491117"/>
                </a:lnTo>
                <a:lnTo>
                  <a:pt x="6092818" y="1506609"/>
                </a:lnTo>
                <a:lnTo>
                  <a:pt x="6047793" y="1519486"/>
                </a:lnTo>
                <a:lnTo>
                  <a:pt x="6001691" y="1529660"/>
                </a:lnTo>
                <a:lnTo>
                  <a:pt x="5954602" y="1537038"/>
                </a:lnTo>
                <a:lnTo>
                  <a:pt x="5906616" y="1541532"/>
                </a:lnTo>
                <a:lnTo>
                  <a:pt x="5857824" y="1543049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800425" y="3887397"/>
            <a:ext cx="6629400" cy="1663064"/>
          </a:xfrm>
          <a:custGeom>
            <a:avLst/>
            <a:gdLst/>
            <a:ahLst/>
            <a:cxnLst/>
            <a:rect l="l" t="t" r="r" b="b"/>
            <a:pathLst>
              <a:path w="6629400" h="1663064">
                <a:moveTo>
                  <a:pt x="5857824" y="1662785"/>
                </a:moveTo>
                <a:lnTo>
                  <a:pt x="771525" y="1662785"/>
                </a:lnTo>
                <a:lnTo>
                  <a:pt x="724525" y="1661268"/>
                </a:lnTo>
                <a:lnTo>
                  <a:pt x="678271" y="1656774"/>
                </a:lnTo>
                <a:lnTo>
                  <a:pt x="632842" y="1649390"/>
                </a:lnTo>
                <a:lnTo>
                  <a:pt x="588319" y="1639204"/>
                </a:lnTo>
                <a:lnTo>
                  <a:pt x="544783" y="1626302"/>
                </a:lnTo>
                <a:lnTo>
                  <a:pt x="502314" y="1610771"/>
                </a:lnTo>
                <a:lnTo>
                  <a:pt x="460994" y="1592698"/>
                </a:lnTo>
                <a:lnTo>
                  <a:pt x="420903" y="1572171"/>
                </a:lnTo>
                <a:lnTo>
                  <a:pt x="382121" y="1549275"/>
                </a:lnTo>
                <a:lnTo>
                  <a:pt x="344730" y="1524099"/>
                </a:lnTo>
                <a:lnTo>
                  <a:pt x="308809" y="1496729"/>
                </a:lnTo>
                <a:lnTo>
                  <a:pt x="274441" y="1467252"/>
                </a:lnTo>
                <a:lnTo>
                  <a:pt x="241705" y="1435754"/>
                </a:lnTo>
                <a:lnTo>
                  <a:pt x="210682" y="1402324"/>
                </a:lnTo>
                <a:lnTo>
                  <a:pt x="181452" y="1367048"/>
                </a:lnTo>
                <a:lnTo>
                  <a:pt x="154098" y="1330012"/>
                </a:lnTo>
                <a:lnTo>
                  <a:pt x="128699" y="1291305"/>
                </a:lnTo>
                <a:lnTo>
                  <a:pt x="105335" y="1251012"/>
                </a:lnTo>
                <a:lnTo>
                  <a:pt x="84089" y="1209221"/>
                </a:lnTo>
                <a:lnTo>
                  <a:pt x="65039" y="1166018"/>
                </a:lnTo>
                <a:lnTo>
                  <a:pt x="48268" y="1121492"/>
                </a:lnTo>
                <a:lnTo>
                  <a:pt x="33856" y="1075728"/>
                </a:lnTo>
                <a:lnTo>
                  <a:pt x="21883" y="1028814"/>
                </a:lnTo>
                <a:lnTo>
                  <a:pt x="12430" y="980836"/>
                </a:lnTo>
                <a:lnTo>
                  <a:pt x="5578" y="931882"/>
                </a:lnTo>
                <a:lnTo>
                  <a:pt x="1408" y="882038"/>
                </a:lnTo>
                <a:lnTo>
                  <a:pt x="0" y="831392"/>
                </a:lnTo>
                <a:lnTo>
                  <a:pt x="1408" y="780746"/>
                </a:lnTo>
                <a:lnTo>
                  <a:pt x="5578" y="730902"/>
                </a:lnTo>
                <a:lnTo>
                  <a:pt x="12430" y="681948"/>
                </a:lnTo>
                <a:lnTo>
                  <a:pt x="21883" y="633971"/>
                </a:lnTo>
                <a:lnTo>
                  <a:pt x="33856" y="587056"/>
                </a:lnTo>
                <a:lnTo>
                  <a:pt x="48268" y="541292"/>
                </a:lnTo>
                <a:lnTo>
                  <a:pt x="65039" y="496766"/>
                </a:lnTo>
                <a:lnTo>
                  <a:pt x="84089" y="453563"/>
                </a:lnTo>
                <a:lnTo>
                  <a:pt x="105335" y="411772"/>
                </a:lnTo>
                <a:lnTo>
                  <a:pt x="128699" y="371480"/>
                </a:lnTo>
                <a:lnTo>
                  <a:pt x="154098" y="332772"/>
                </a:lnTo>
                <a:lnTo>
                  <a:pt x="181452" y="295736"/>
                </a:lnTo>
                <a:lnTo>
                  <a:pt x="210682" y="260460"/>
                </a:lnTo>
                <a:lnTo>
                  <a:pt x="241705" y="227030"/>
                </a:lnTo>
                <a:lnTo>
                  <a:pt x="274441" y="195533"/>
                </a:lnTo>
                <a:lnTo>
                  <a:pt x="308809" y="166055"/>
                </a:lnTo>
                <a:lnTo>
                  <a:pt x="344730" y="138685"/>
                </a:lnTo>
                <a:lnTo>
                  <a:pt x="382121" y="113509"/>
                </a:lnTo>
                <a:lnTo>
                  <a:pt x="420903" y="90614"/>
                </a:lnTo>
                <a:lnTo>
                  <a:pt x="460994" y="70086"/>
                </a:lnTo>
                <a:lnTo>
                  <a:pt x="502314" y="52014"/>
                </a:lnTo>
                <a:lnTo>
                  <a:pt x="544783" y="36483"/>
                </a:lnTo>
                <a:lnTo>
                  <a:pt x="588319" y="23581"/>
                </a:lnTo>
                <a:lnTo>
                  <a:pt x="632842" y="13394"/>
                </a:lnTo>
                <a:lnTo>
                  <a:pt x="678271" y="6011"/>
                </a:lnTo>
                <a:lnTo>
                  <a:pt x="724525" y="1517"/>
                </a:lnTo>
                <a:lnTo>
                  <a:pt x="771525" y="0"/>
                </a:lnTo>
                <a:lnTo>
                  <a:pt x="5857824" y="0"/>
                </a:lnTo>
                <a:lnTo>
                  <a:pt x="5904823" y="1517"/>
                </a:lnTo>
                <a:lnTo>
                  <a:pt x="5951078" y="6011"/>
                </a:lnTo>
                <a:lnTo>
                  <a:pt x="5996507" y="13394"/>
                </a:lnTo>
                <a:lnTo>
                  <a:pt x="6041030" y="23581"/>
                </a:lnTo>
                <a:lnTo>
                  <a:pt x="6084566" y="36483"/>
                </a:lnTo>
                <a:lnTo>
                  <a:pt x="6127034" y="52014"/>
                </a:lnTo>
                <a:lnTo>
                  <a:pt x="6168355" y="70086"/>
                </a:lnTo>
                <a:lnTo>
                  <a:pt x="6208446" y="90614"/>
                </a:lnTo>
                <a:lnTo>
                  <a:pt x="6247228" y="113509"/>
                </a:lnTo>
                <a:lnTo>
                  <a:pt x="6284619" y="138685"/>
                </a:lnTo>
                <a:lnTo>
                  <a:pt x="6320539" y="166055"/>
                </a:lnTo>
                <a:lnTo>
                  <a:pt x="6354908" y="195533"/>
                </a:lnTo>
                <a:lnTo>
                  <a:pt x="6387644" y="227030"/>
                </a:lnTo>
                <a:lnTo>
                  <a:pt x="6418667" y="260460"/>
                </a:lnTo>
                <a:lnTo>
                  <a:pt x="6447896" y="295736"/>
                </a:lnTo>
                <a:lnTo>
                  <a:pt x="6475251" y="332772"/>
                </a:lnTo>
                <a:lnTo>
                  <a:pt x="6500650" y="371480"/>
                </a:lnTo>
                <a:lnTo>
                  <a:pt x="6524013" y="411772"/>
                </a:lnTo>
                <a:lnTo>
                  <a:pt x="6545260" y="453563"/>
                </a:lnTo>
                <a:lnTo>
                  <a:pt x="6564309" y="496766"/>
                </a:lnTo>
                <a:lnTo>
                  <a:pt x="6581081" y="541292"/>
                </a:lnTo>
                <a:lnTo>
                  <a:pt x="6595493" y="587056"/>
                </a:lnTo>
                <a:lnTo>
                  <a:pt x="6607466" y="633971"/>
                </a:lnTo>
                <a:lnTo>
                  <a:pt x="6616919" y="681948"/>
                </a:lnTo>
                <a:lnTo>
                  <a:pt x="6623771" y="730902"/>
                </a:lnTo>
                <a:lnTo>
                  <a:pt x="6627941" y="780746"/>
                </a:lnTo>
                <a:lnTo>
                  <a:pt x="6629349" y="831392"/>
                </a:lnTo>
                <a:lnTo>
                  <a:pt x="6627941" y="882038"/>
                </a:lnTo>
                <a:lnTo>
                  <a:pt x="6623771" y="931882"/>
                </a:lnTo>
                <a:lnTo>
                  <a:pt x="6616919" y="980836"/>
                </a:lnTo>
                <a:lnTo>
                  <a:pt x="6607466" y="1028814"/>
                </a:lnTo>
                <a:lnTo>
                  <a:pt x="6595493" y="1075728"/>
                </a:lnTo>
                <a:lnTo>
                  <a:pt x="6581081" y="1121492"/>
                </a:lnTo>
                <a:lnTo>
                  <a:pt x="6564309" y="1166018"/>
                </a:lnTo>
                <a:lnTo>
                  <a:pt x="6545260" y="1209221"/>
                </a:lnTo>
                <a:lnTo>
                  <a:pt x="6524013" y="1251012"/>
                </a:lnTo>
                <a:lnTo>
                  <a:pt x="6500650" y="1291305"/>
                </a:lnTo>
                <a:lnTo>
                  <a:pt x="6475251" y="1330012"/>
                </a:lnTo>
                <a:lnTo>
                  <a:pt x="6447896" y="1367048"/>
                </a:lnTo>
                <a:lnTo>
                  <a:pt x="6418667" y="1402324"/>
                </a:lnTo>
                <a:lnTo>
                  <a:pt x="6387644" y="1435754"/>
                </a:lnTo>
                <a:lnTo>
                  <a:pt x="6354908" y="1467252"/>
                </a:lnTo>
                <a:lnTo>
                  <a:pt x="6320539" y="1496729"/>
                </a:lnTo>
                <a:lnTo>
                  <a:pt x="6284619" y="1524099"/>
                </a:lnTo>
                <a:lnTo>
                  <a:pt x="6247228" y="1549275"/>
                </a:lnTo>
                <a:lnTo>
                  <a:pt x="6208446" y="1572171"/>
                </a:lnTo>
                <a:lnTo>
                  <a:pt x="6168355" y="1592698"/>
                </a:lnTo>
                <a:lnTo>
                  <a:pt x="6127034" y="1610771"/>
                </a:lnTo>
                <a:lnTo>
                  <a:pt x="6084566" y="1626302"/>
                </a:lnTo>
                <a:lnTo>
                  <a:pt x="6041030" y="1639204"/>
                </a:lnTo>
                <a:lnTo>
                  <a:pt x="5996507" y="1649390"/>
                </a:lnTo>
                <a:lnTo>
                  <a:pt x="5951078" y="1656774"/>
                </a:lnTo>
                <a:lnTo>
                  <a:pt x="5904823" y="1661268"/>
                </a:lnTo>
                <a:lnTo>
                  <a:pt x="5857824" y="1662785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6230" y="1973181"/>
            <a:ext cx="10391774" cy="14477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148" y="3660888"/>
            <a:ext cx="3133724" cy="388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3410" y="3660888"/>
            <a:ext cx="2952749" cy="38862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7089006" y="3660888"/>
            <a:ext cx="5319395" cy="6423025"/>
            <a:chOff x="7089006" y="3660888"/>
            <a:chExt cx="5319395" cy="6423025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9006" y="3660888"/>
              <a:ext cx="3362324" cy="38861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45540" y="6559263"/>
              <a:ext cx="3162299" cy="3524249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628820" y="6059458"/>
            <a:ext cx="5657849" cy="422754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116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35"/>
              </a:spcBef>
            </a:pPr>
            <a:r>
              <a:rPr dirty="0" sz="4650" spc="-515"/>
              <a:t>D</a:t>
            </a:r>
            <a:r>
              <a:rPr dirty="0" sz="4650" spc="-830"/>
              <a:t>A</a:t>
            </a:r>
            <a:r>
              <a:rPr dirty="0" sz="4650" spc="-865"/>
              <a:t>T</a:t>
            </a:r>
            <a:r>
              <a:rPr dirty="0" sz="4650" spc="-315"/>
              <a:t>A</a:t>
            </a:r>
            <a:r>
              <a:rPr dirty="0" sz="4650" spc="-270"/>
              <a:t> </a:t>
            </a:r>
            <a:r>
              <a:rPr dirty="0" sz="4650" spc="-345"/>
              <a:t>PRE</a:t>
            </a:r>
            <a:r>
              <a:rPr dirty="0" sz="4650" spc="-844"/>
              <a:t>P</a:t>
            </a:r>
            <a:r>
              <a:rPr dirty="0" sz="4650" spc="-345"/>
              <a:t>AR</a:t>
            </a:r>
            <a:r>
              <a:rPr dirty="0" sz="4650" spc="-850"/>
              <a:t>A</a:t>
            </a:r>
            <a:r>
              <a:rPr dirty="0" sz="4650" spc="-345"/>
              <a:t>TIO</a:t>
            </a:r>
            <a:r>
              <a:rPr dirty="0" sz="4650" spc="-335"/>
              <a:t>N</a:t>
            </a:r>
            <a:r>
              <a:rPr dirty="0" sz="4650" spc="-254"/>
              <a:t> </a:t>
            </a:r>
            <a:r>
              <a:rPr dirty="0" sz="4650" spc="-830"/>
              <a:t>&amp;</a:t>
            </a:r>
            <a:r>
              <a:rPr dirty="0" sz="4650" spc="-260"/>
              <a:t> </a:t>
            </a:r>
            <a:r>
              <a:rPr dirty="0" sz="4650" spc="-340"/>
              <a:t>MODELLING</a:t>
            </a:r>
            <a:r>
              <a:rPr dirty="0" sz="4650" spc="-260"/>
              <a:t> </a:t>
            </a:r>
            <a:r>
              <a:rPr dirty="0" sz="4650" spc="-455"/>
              <a:t>IN</a:t>
            </a:r>
            <a:r>
              <a:rPr dirty="0" sz="4650" spc="-254"/>
              <a:t> </a:t>
            </a:r>
            <a:r>
              <a:rPr dirty="0" sz="4650" spc="-305"/>
              <a:t>SQL</a:t>
            </a:r>
            <a:endParaRPr sz="4650"/>
          </a:p>
        </p:txBody>
      </p:sp>
      <p:sp>
        <p:nvSpPr>
          <p:cNvPr id="14" name="object 14" descr=""/>
          <p:cNvSpPr txBox="1"/>
          <p:nvPr/>
        </p:nvSpPr>
        <p:spPr>
          <a:xfrm>
            <a:off x="1671616" y="2075100"/>
            <a:ext cx="3872865" cy="1079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7269" marR="5080" indent="-1005205">
              <a:lnSpc>
                <a:spcPct val="125699"/>
              </a:lnSpc>
              <a:spcBef>
                <a:spcPts val="95"/>
              </a:spcBef>
            </a:pPr>
            <a:r>
              <a:rPr dirty="0" sz="2750" spc="-250">
                <a:solidFill>
                  <a:srgbClr val="FFFFFF"/>
                </a:solidFill>
                <a:latin typeface="Arial Black"/>
                <a:cs typeface="Arial Black"/>
              </a:rPr>
              <a:t>CREATE</a:t>
            </a:r>
            <a:r>
              <a:rPr dirty="0" sz="275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215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275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210">
                <a:solidFill>
                  <a:srgbClr val="FFFFFF"/>
                </a:solidFill>
                <a:latin typeface="Arial Black"/>
                <a:cs typeface="Arial Black"/>
              </a:rPr>
              <a:t>USE</a:t>
            </a:r>
            <a:r>
              <a:rPr dirty="0" sz="275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280">
                <a:solidFill>
                  <a:srgbClr val="FFFFFF"/>
                </a:solidFill>
                <a:latin typeface="Arial Black"/>
                <a:cs typeface="Arial Black"/>
              </a:rPr>
              <a:t>THE </a:t>
            </a:r>
            <a:r>
              <a:rPr dirty="0" sz="2750" spc="-295">
                <a:solidFill>
                  <a:srgbClr val="FFFFFF"/>
                </a:solidFill>
                <a:latin typeface="Arial Black"/>
                <a:cs typeface="Arial Black"/>
              </a:rPr>
              <a:t>DATABASE</a:t>
            </a:r>
            <a:endParaRPr sz="2750">
              <a:latin typeface="Arial Black"/>
              <a:cs typeface="Arial Black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156334" y="4240344"/>
            <a:ext cx="5922645" cy="1079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66315" marR="5080" indent="-2254250">
              <a:lnSpc>
                <a:spcPct val="125699"/>
              </a:lnSpc>
              <a:spcBef>
                <a:spcPts val="95"/>
              </a:spcBef>
            </a:pPr>
            <a:r>
              <a:rPr dirty="0" sz="2750" spc="-200">
                <a:solidFill>
                  <a:srgbClr val="FFFFFF"/>
                </a:solidFill>
                <a:latin typeface="Arial Black"/>
                <a:cs typeface="Arial Black"/>
              </a:rPr>
              <a:t>CREATED</a:t>
            </a:r>
            <a:r>
              <a:rPr dirty="0" sz="27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225">
                <a:solidFill>
                  <a:srgbClr val="FFFFFF"/>
                </a:solidFill>
                <a:latin typeface="Arial Black"/>
                <a:cs typeface="Arial Black"/>
              </a:rPr>
              <a:t>STRUCTURED</a:t>
            </a:r>
            <a:r>
              <a:rPr dirty="0" sz="27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175">
                <a:solidFill>
                  <a:srgbClr val="FFFFFF"/>
                </a:solidFill>
                <a:latin typeface="Arial Black"/>
                <a:cs typeface="Arial Black"/>
              </a:rPr>
              <a:t>STAGING </a:t>
            </a:r>
            <a:r>
              <a:rPr dirty="0" sz="2750" spc="-45">
                <a:solidFill>
                  <a:srgbClr val="FFFFFF"/>
                </a:solidFill>
                <a:latin typeface="Arial Black"/>
                <a:cs typeface="Arial Black"/>
              </a:rPr>
              <a:t>TABLES</a:t>
            </a:r>
            <a:endParaRPr sz="2750">
              <a:latin typeface="Arial Black"/>
              <a:cs typeface="Arial Black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863805" y="8063896"/>
            <a:ext cx="4239895" cy="1079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42085" marR="5080" indent="-1430020">
              <a:lnSpc>
                <a:spcPct val="125699"/>
              </a:lnSpc>
              <a:spcBef>
                <a:spcPts val="95"/>
              </a:spcBef>
            </a:pPr>
            <a:r>
              <a:rPr dirty="0" sz="2750" spc="-254">
                <a:solidFill>
                  <a:srgbClr val="FFFFFF"/>
                </a:solidFill>
                <a:latin typeface="Arial Black"/>
                <a:cs typeface="Arial Black"/>
              </a:rPr>
              <a:t>CREATING</a:t>
            </a:r>
            <a:r>
              <a:rPr dirty="0" sz="275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229">
                <a:solidFill>
                  <a:srgbClr val="FFFFFF"/>
                </a:solidFill>
                <a:latin typeface="Arial Black"/>
                <a:cs typeface="Arial Black"/>
              </a:rPr>
              <a:t>FINAL</a:t>
            </a:r>
            <a:r>
              <a:rPr dirty="0" sz="275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750" spc="-145">
                <a:solidFill>
                  <a:srgbClr val="FFFFFF"/>
                </a:solidFill>
                <a:latin typeface="Arial Black"/>
                <a:cs typeface="Arial Black"/>
              </a:rPr>
              <a:t>CLEAR </a:t>
            </a:r>
            <a:r>
              <a:rPr dirty="0" sz="2750" spc="-90">
                <a:solidFill>
                  <a:srgbClr val="FFFFFF"/>
                </a:solidFill>
                <a:latin typeface="Arial Black"/>
                <a:cs typeface="Arial Black"/>
              </a:rPr>
              <a:t>TABLES</a:t>
            </a:r>
            <a:endParaRPr sz="27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64" y="1504134"/>
            <a:ext cx="7934324" cy="32956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6663" y="1435818"/>
            <a:ext cx="4286249" cy="4343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00234" y="1469976"/>
            <a:ext cx="5191124" cy="4276724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87877" y="138223"/>
            <a:ext cx="18077815" cy="1066800"/>
          </a:xfrm>
          <a:custGeom>
            <a:avLst/>
            <a:gdLst/>
            <a:ahLst/>
            <a:cxnLst/>
            <a:rect l="l" t="t" r="r" b="b"/>
            <a:pathLst>
              <a:path w="18077815" h="1066800">
                <a:moveTo>
                  <a:pt x="17830227" y="1066805"/>
                </a:moveTo>
                <a:lnTo>
                  <a:pt x="247635" y="1066805"/>
                </a:lnTo>
                <a:lnTo>
                  <a:pt x="199098" y="1062003"/>
                </a:lnTo>
                <a:lnTo>
                  <a:pt x="152869" y="1047955"/>
                </a:lnTo>
                <a:lnTo>
                  <a:pt x="110247" y="1025199"/>
                </a:lnTo>
                <a:lnTo>
                  <a:pt x="72530" y="994274"/>
                </a:lnTo>
                <a:lnTo>
                  <a:pt x="41605" y="956558"/>
                </a:lnTo>
                <a:lnTo>
                  <a:pt x="18850" y="913936"/>
                </a:lnTo>
                <a:lnTo>
                  <a:pt x="4802" y="867706"/>
                </a:lnTo>
                <a:lnTo>
                  <a:pt x="0" y="819170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4" y="4802"/>
                </a:lnTo>
                <a:lnTo>
                  <a:pt x="17924993" y="18850"/>
                </a:lnTo>
                <a:lnTo>
                  <a:pt x="17967616" y="41605"/>
                </a:lnTo>
                <a:lnTo>
                  <a:pt x="18005333" y="72530"/>
                </a:lnTo>
                <a:lnTo>
                  <a:pt x="18036257" y="110247"/>
                </a:lnTo>
                <a:lnTo>
                  <a:pt x="18059012" y="152869"/>
                </a:lnTo>
                <a:lnTo>
                  <a:pt x="18073060" y="199098"/>
                </a:lnTo>
                <a:lnTo>
                  <a:pt x="18077352" y="242486"/>
                </a:lnTo>
                <a:lnTo>
                  <a:pt x="18077352" y="824319"/>
                </a:lnTo>
                <a:lnTo>
                  <a:pt x="18073060" y="867706"/>
                </a:lnTo>
                <a:lnTo>
                  <a:pt x="18059012" y="913936"/>
                </a:lnTo>
                <a:lnTo>
                  <a:pt x="18036257" y="956558"/>
                </a:lnTo>
                <a:lnTo>
                  <a:pt x="18005333" y="994274"/>
                </a:lnTo>
                <a:lnTo>
                  <a:pt x="17967616" y="1025199"/>
                </a:lnTo>
                <a:lnTo>
                  <a:pt x="17924993" y="1047955"/>
                </a:lnTo>
                <a:lnTo>
                  <a:pt x="17878764" y="1062003"/>
                </a:lnTo>
                <a:lnTo>
                  <a:pt x="17830227" y="1066805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7064" y="5099376"/>
            <a:ext cx="7936865" cy="5019040"/>
          </a:xfrm>
          <a:custGeom>
            <a:avLst/>
            <a:gdLst/>
            <a:ahLst/>
            <a:cxnLst/>
            <a:rect l="l" t="t" r="r" b="b"/>
            <a:pathLst>
              <a:path w="7936865" h="5019040">
                <a:moveTo>
                  <a:pt x="7451007" y="5018780"/>
                </a:moveTo>
                <a:lnTo>
                  <a:pt x="485774" y="5018780"/>
                </a:lnTo>
                <a:lnTo>
                  <a:pt x="437762" y="5016403"/>
                </a:lnTo>
                <a:lnTo>
                  <a:pt x="390562" y="5009360"/>
                </a:lnTo>
                <a:lnTo>
                  <a:pt x="344494" y="4997783"/>
                </a:lnTo>
                <a:lnTo>
                  <a:pt x="299876" y="4981803"/>
                </a:lnTo>
                <a:lnTo>
                  <a:pt x="257028" y="4961553"/>
                </a:lnTo>
                <a:lnTo>
                  <a:pt x="216266" y="4937165"/>
                </a:lnTo>
                <a:lnTo>
                  <a:pt x="177911" y="4908770"/>
                </a:lnTo>
                <a:lnTo>
                  <a:pt x="142280" y="4876500"/>
                </a:lnTo>
                <a:lnTo>
                  <a:pt x="110010" y="4840869"/>
                </a:lnTo>
                <a:lnTo>
                  <a:pt x="81615" y="4802514"/>
                </a:lnTo>
                <a:lnTo>
                  <a:pt x="57227" y="4761752"/>
                </a:lnTo>
                <a:lnTo>
                  <a:pt x="36977" y="4718904"/>
                </a:lnTo>
                <a:lnTo>
                  <a:pt x="20997" y="4674286"/>
                </a:lnTo>
                <a:lnTo>
                  <a:pt x="9420" y="4628218"/>
                </a:lnTo>
                <a:lnTo>
                  <a:pt x="2377" y="4581018"/>
                </a:lnTo>
                <a:lnTo>
                  <a:pt x="0" y="4533005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7451007" y="0"/>
                </a:lnTo>
                <a:lnTo>
                  <a:pt x="7499019" y="2377"/>
                </a:lnTo>
                <a:lnTo>
                  <a:pt x="7546219" y="9420"/>
                </a:lnTo>
                <a:lnTo>
                  <a:pt x="7592287" y="20997"/>
                </a:lnTo>
                <a:lnTo>
                  <a:pt x="7636904" y="36977"/>
                </a:lnTo>
                <a:lnTo>
                  <a:pt x="7679753" y="57227"/>
                </a:lnTo>
                <a:lnTo>
                  <a:pt x="7720514" y="81615"/>
                </a:lnTo>
                <a:lnTo>
                  <a:pt x="7758870" y="110010"/>
                </a:lnTo>
                <a:lnTo>
                  <a:pt x="7794501" y="142280"/>
                </a:lnTo>
                <a:lnTo>
                  <a:pt x="7826770" y="177911"/>
                </a:lnTo>
                <a:lnTo>
                  <a:pt x="7855165" y="216266"/>
                </a:lnTo>
                <a:lnTo>
                  <a:pt x="7879553" y="257028"/>
                </a:lnTo>
                <a:lnTo>
                  <a:pt x="7899803" y="299876"/>
                </a:lnTo>
                <a:lnTo>
                  <a:pt x="7915783" y="344494"/>
                </a:lnTo>
                <a:lnTo>
                  <a:pt x="7927360" y="390562"/>
                </a:lnTo>
                <a:lnTo>
                  <a:pt x="7934404" y="437762"/>
                </a:lnTo>
                <a:lnTo>
                  <a:pt x="7936781" y="485774"/>
                </a:lnTo>
                <a:lnTo>
                  <a:pt x="7936781" y="4533005"/>
                </a:lnTo>
                <a:lnTo>
                  <a:pt x="7934404" y="4581018"/>
                </a:lnTo>
                <a:lnTo>
                  <a:pt x="7927360" y="4628218"/>
                </a:lnTo>
                <a:lnTo>
                  <a:pt x="7915783" y="4674286"/>
                </a:lnTo>
                <a:lnTo>
                  <a:pt x="7899803" y="4718904"/>
                </a:lnTo>
                <a:lnTo>
                  <a:pt x="7879553" y="4761752"/>
                </a:lnTo>
                <a:lnTo>
                  <a:pt x="7855165" y="4802514"/>
                </a:lnTo>
                <a:lnTo>
                  <a:pt x="7826770" y="4840869"/>
                </a:lnTo>
                <a:lnTo>
                  <a:pt x="7794501" y="4876500"/>
                </a:lnTo>
                <a:lnTo>
                  <a:pt x="7758870" y="4908770"/>
                </a:lnTo>
                <a:lnTo>
                  <a:pt x="7720514" y="4937165"/>
                </a:lnTo>
                <a:lnTo>
                  <a:pt x="7679753" y="4961553"/>
                </a:lnTo>
                <a:lnTo>
                  <a:pt x="7636904" y="4981803"/>
                </a:lnTo>
                <a:lnTo>
                  <a:pt x="7592287" y="4997783"/>
                </a:lnTo>
                <a:lnTo>
                  <a:pt x="7546219" y="5009360"/>
                </a:lnTo>
                <a:lnTo>
                  <a:pt x="7499019" y="5016403"/>
                </a:lnTo>
                <a:lnTo>
                  <a:pt x="7451007" y="5018780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396662" y="6010709"/>
            <a:ext cx="9607550" cy="4107815"/>
            <a:chOff x="8396662" y="6010709"/>
            <a:chExt cx="9607550" cy="4107815"/>
          </a:xfrm>
        </p:grpSpPr>
        <p:sp>
          <p:nvSpPr>
            <p:cNvPr id="8" name="object 8" descr=""/>
            <p:cNvSpPr/>
            <p:nvPr/>
          </p:nvSpPr>
          <p:spPr>
            <a:xfrm>
              <a:off x="8396662" y="6010709"/>
              <a:ext cx="9607550" cy="4107815"/>
            </a:xfrm>
            <a:custGeom>
              <a:avLst/>
              <a:gdLst/>
              <a:ahLst/>
              <a:cxnLst/>
              <a:rect l="l" t="t" r="r" b="b"/>
              <a:pathLst>
                <a:path w="9607550" h="4107815">
                  <a:moveTo>
                    <a:pt x="9121190" y="4107447"/>
                  </a:moveTo>
                  <a:lnTo>
                    <a:pt x="485774" y="4107447"/>
                  </a:lnTo>
                  <a:lnTo>
                    <a:pt x="437762" y="4105070"/>
                  </a:lnTo>
                  <a:lnTo>
                    <a:pt x="390562" y="4098027"/>
                  </a:lnTo>
                  <a:lnTo>
                    <a:pt x="344494" y="4086450"/>
                  </a:lnTo>
                  <a:lnTo>
                    <a:pt x="299876" y="4070470"/>
                  </a:lnTo>
                  <a:lnTo>
                    <a:pt x="257028" y="4050220"/>
                  </a:lnTo>
                  <a:lnTo>
                    <a:pt x="216266" y="4025831"/>
                  </a:lnTo>
                  <a:lnTo>
                    <a:pt x="177911" y="3997437"/>
                  </a:lnTo>
                  <a:lnTo>
                    <a:pt x="142280" y="3965167"/>
                  </a:lnTo>
                  <a:lnTo>
                    <a:pt x="110010" y="3929536"/>
                  </a:lnTo>
                  <a:lnTo>
                    <a:pt x="81616" y="3891180"/>
                  </a:lnTo>
                  <a:lnTo>
                    <a:pt x="57227" y="3850419"/>
                  </a:lnTo>
                  <a:lnTo>
                    <a:pt x="36977" y="3807570"/>
                  </a:lnTo>
                  <a:lnTo>
                    <a:pt x="20997" y="3762953"/>
                  </a:lnTo>
                  <a:lnTo>
                    <a:pt x="9420" y="3716885"/>
                  </a:lnTo>
                  <a:lnTo>
                    <a:pt x="2377" y="3669685"/>
                  </a:lnTo>
                  <a:lnTo>
                    <a:pt x="0" y="3621672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9121190" y="0"/>
                  </a:lnTo>
                  <a:lnTo>
                    <a:pt x="9169203" y="2377"/>
                  </a:lnTo>
                  <a:lnTo>
                    <a:pt x="9216403" y="9420"/>
                  </a:lnTo>
                  <a:lnTo>
                    <a:pt x="9262470" y="20997"/>
                  </a:lnTo>
                  <a:lnTo>
                    <a:pt x="9307088" y="36977"/>
                  </a:lnTo>
                  <a:lnTo>
                    <a:pt x="9349936" y="57227"/>
                  </a:lnTo>
                  <a:lnTo>
                    <a:pt x="9390698" y="81615"/>
                  </a:lnTo>
                  <a:lnTo>
                    <a:pt x="9429053" y="110010"/>
                  </a:lnTo>
                  <a:lnTo>
                    <a:pt x="9464684" y="142280"/>
                  </a:lnTo>
                  <a:lnTo>
                    <a:pt x="9496953" y="177911"/>
                  </a:lnTo>
                  <a:lnTo>
                    <a:pt x="9525348" y="216266"/>
                  </a:lnTo>
                  <a:lnTo>
                    <a:pt x="9549736" y="257028"/>
                  </a:lnTo>
                  <a:lnTo>
                    <a:pt x="9569986" y="299876"/>
                  </a:lnTo>
                  <a:lnTo>
                    <a:pt x="9585966" y="344494"/>
                  </a:lnTo>
                  <a:lnTo>
                    <a:pt x="9597543" y="390562"/>
                  </a:lnTo>
                  <a:lnTo>
                    <a:pt x="9604586" y="437761"/>
                  </a:lnTo>
                  <a:lnTo>
                    <a:pt x="9606963" y="485774"/>
                  </a:lnTo>
                  <a:lnTo>
                    <a:pt x="9606963" y="3621672"/>
                  </a:lnTo>
                  <a:lnTo>
                    <a:pt x="9604586" y="3669685"/>
                  </a:lnTo>
                  <a:lnTo>
                    <a:pt x="9597543" y="3716885"/>
                  </a:lnTo>
                  <a:lnTo>
                    <a:pt x="9585966" y="3762953"/>
                  </a:lnTo>
                  <a:lnTo>
                    <a:pt x="9569986" y="3807570"/>
                  </a:lnTo>
                  <a:lnTo>
                    <a:pt x="9549736" y="3850419"/>
                  </a:lnTo>
                  <a:lnTo>
                    <a:pt x="9525348" y="3891180"/>
                  </a:lnTo>
                  <a:lnTo>
                    <a:pt x="9496953" y="3929536"/>
                  </a:lnTo>
                  <a:lnTo>
                    <a:pt x="9464684" y="3965167"/>
                  </a:lnTo>
                  <a:lnTo>
                    <a:pt x="9429053" y="3997437"/>
                  </a:lnTo>
                  <a:lnTo>
                    <a:pt x="9390698" y="4025831"/>
                  </a:lnTo>
                  <a:lnTo>
                    <a:pt x="9349936" y="4050220"/>
                  </a:lnTo>
                  <a:lnTo>
                    <a:pt x="9307088" y="4070470"/>
                  </a:lnTo>
                  <a:lnTo>
                    <a:pt x="9262470" y="4086450"/>
                  </a:lnTo>
                  <a:lnTo>
                    <a:pt x="9216403" y="4098027"/>
                  </a:lnTo>
                  <a:lnTo>
                    <a:pt x="9169203" y="4105070"/>
                  </a:lnTo>
                  <a:lnTo>
                    <a:pt x="9121190" y="4107447"/>
                  </a:lnTo>
                  <a:close/>
                </a:path>
              </a:pathLst>
            </a:custGeom>
            <a:solidFill>
              <a:srgbClr val="58429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3492" y="6925744"/>
              <a:ext cx="85725" cy="857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3492" y="7668694"/>
              <a:ext cx="85725" cy="857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3492" y="8411644"/>
              <a:ext cx="85725" cy="857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83492" y="9154594"/>
              <a:ext cx="85725" cy="8572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376" rIns="0" bIns="0" rtlCol="0" vert="horz">
            <a:spAutoFit/>
          </a:bodyPr>
          <a:lstStyle/>
          <a:p>
            <a:pPr marL="1357630">
              <a:lnSpc>
                <a:spcPct val="100000"/>
              </a:lnSpc>
              <a:spcBef>
                <a:spcPts val="130"/>
              </a:spcBef>
            </a:pPr>
            <a:r>
              <a:rPr dirty="0" sz="2650">
                <a:latin typeface="Microsoft Sans Serif"/>
                <a:cs typeface="Microsoft Sans Serif"/>
              </a:rPr>
              <a:t>DEMAND</a:t>
            </a:r>
            <a:r>
              <a:rPr dirty="0" sz="2650" spc="-1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TRENDS</a:t>
            </a:r>
            <a:r>
              <a:rPr dirty="0" sz="2650" spc="-5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&amp;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 spc="-75">
                <a:latin typeface="Microsoft Sans Serif"/>
                <a:cs typeface="Microsoft Sans Serif"/>
              </a:rPr>
              <a:t>HIGH-</a:t>
            </a:r>
            <a:r>
              <a:rPr dirty="0" sz="2650">
                <a:latin typeface="Microsoft Sans Serif"/>
                <a:cs typeface="Microsoft Sans Serif"/>
              </a:rPr>
              <a:t>TRAFFIC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LOT</a:t>
            </a:r>
            <a:r>
              <a:rPr dirty="0" sz="2650" spc="-50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IDENTIFICATION</a:t>
            </a:r>
            <a:endParaRPr sz="2650">
              <a:latin typeface="Microsoft Sans Serif"/>
              <a:cs typeface="Microsoft Sans Serif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0968" y="6088814"/>
            <a:ext cx="133350" cy="1333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0968" y="7250864"/>
            <a:ext cx="133350" cy="13334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0968" y="8412914"/>
            <a:ext cx="133350" cy="13334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447743" y="5188289"/>
            <a:ext cx="7330440" cy="467360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dirty="0" sz="3300" spc="-1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SQL</a:t>
            </a:r>
            <a:r>
              <a:rPr dirty="0" sz="3300" spc="-1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5">
                <a:solidFill>
                  <a:srgbClr val="FFFFFF"/>
                </a:solidFill>
                <a:latin typeface="Microsoft Sans Serif"/>
                <a:cs typeface="Microsoft Sans Serif"/>
              </a:rPr>
              <a:t>Did</a:t>
            </a:r>
            <a:endParaRPr sz="3300">
              <a:latin typeface="Microsoft Sans Serif"/>
              <a:cs typeface="Microsoft Sans Serif"/>
            </a:endParaRPr>
          </a:p>
          <a:p>
            <a:pPr marL="723900" marR="5080">
              <a:lnSpc>
                <a:spcPct val="115500"/>
              </a:lnSpc>
            </a:pP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3300" spc="-1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daily</a:t>
            </a:r>
            <a:r>
              <a:rPr dirty="0" sz="3300" spc="-1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3300" spc="-1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dirty="0" sz="3300" spc="-1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5">
                <a:solidFill>
                  <a:srgbClr val="FFFFFF"/>
                </a:solidFill>
                <a:latin typeface="Microsoft Sans Serif"/>
                <a:cs typeface="Microsoft Sans Serif"/>
              </a:rPr>
              <a:t>7-day </a:t>
            </a:r>
            <a:r>
              <a:rPr dirty="0" sz="3300" spc="-20">
                <a:solidFill>
                  <a:srgbClr val="FFFFFF"/>
                </a:solidFill>
                <a:latin typeface="Microsoft Sans Serif"/>
                <a:cs typeface="Microsoft Sans Serif"/>
              </a:rPr>
              <a:t>rolling</a:t>
            </a:r>
            <a:r>
              <a:rPr dirty="0" sz="3300" spc="-1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40">
                <a:solidFill>
                  <a:srgbClr val="FFFFFF"/>
                </a:solidFill>
                <a:latin typeface="Microsoft Sans Serif"/>
                <a:cs typeface="Microsoft Sans Serif"/>
              </a:rPr>
              <a:t>average</a:t>
            </a:r>
            <a:r>
              <a:rPr dirty="0" sz="3300" spc="-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dirty="0" sz="3300" spc="-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trend</a:t>
            </a:r>
            <a:r>
              <a:rPr dirty="0" sz="3300" spc="-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smoothing Measured</a:t>
            </a:r>
            <a:r>
              <a:rPr dirty="0" sz="3300" spc="-1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40">
                <a:solidFill>
                  <a:srgbClr val="FFFFFF"/>
                </a:solidFill>
                <a:latin typeface="Microsoft Sans Serif"/>
                <a:cs typeface="Microsoft Sans Serif"/>
              </a:rPr>
              <a:t>week-</a:t>
            </a:r>
            <a:r>
              <a:rPr dirty="0" sz="3300" spc="-50">
                <a:solidFill>
                  <a:srgbClr val="FFFFFF"/>
                </a:solidFill>
                <a:latin typeface="Microsoft Sans Serif"/>
                <a:cs typeface="Microsoft Sans Serif"/>
              </a:rPr>
              <a:t>over-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week</a:t>
            </a:r>
            <a:r>
              <a:rPr dirty="0" sz="3300" spc="-1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demand </a:t>
            </a:r>
            <a:r>
              <a:rPr dirty="0" sz="3300" spc="-20">
                <a:solidFill>
                  <a:srgbClr val="FFFFFF"/>
                </a:solidFill>
                <a:latin typeface="Microsoft Sans Serif"/>
                <a:cs typeface="Microsoft Sans Serif"/>
              </a:rPr>
              <a:t>growth</a:t>
            </a:r>
            <a:r>
              <a:rPr dirty="0" sz="3300" spc="-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%</a:t>
            </a:r>
            <a:r>
              <a:rPr dirty="0" sz="3300" spc="-1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using</a:t>
            </a:r>
            <a:r>
              <a:rPr dirty="0" sz="3300" spc="-1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window</a:t>
            </a:r>
            <a:r>
              <a:rPr dirty="0" sz="3300" spc="-1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functions </a:t>
            </a:r>
            <a:r>
              <a:rPr dirty="0" sz="3300" spc="-25">
                <a:solidFill>
                  <a:srgbClr val="FFFFFF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3300" spc="-2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35">
                <a:solidFill>
                  <a:srgbClr val="FFFFFF"/>
                </a:solidFill>
                <a:latin typeface="Microsoft Sans Serif"/>
                <a:cs typeface="Microsoft Sans Serif"/>
              </a:rPr>
              <a:t>Top</a:t>
            </a:r>
            <a:r>
              <a:rPr dirty="0" sz="330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r>
              <a:rPr dirty="0" sz="3300" spc="-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busiest</a:t>
            </a:r>
            <a:r>
              <a:rPr dirty="0" sz="33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33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0">
                <a:solidFill>
                  <a:srgbClr val="FFFFFF"/>
                </a:solidFill>
                <a:latin typeface="Microsoft Sans Serif"/>
                <a:cs typeface="Microsoft Sans Serif"/>
              </a:rPr>
              <a:t>lots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330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computed</a:t>
            </a:r>
            <a:r>
              <a:rPr dirty="0" sz="3300" spc="-1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their</a:t>
            </a:r>
            <a:r>
              <a:rPr dirty="0" sz="330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20">
                <a:solidFill>
                  <a:srgbClr val="FFFFFF"/>
                </a:solidFill>
                <a:latin typeface="Microsoft Sans Serif"/>
                <a:cs typeface="Microsoft Sans Serif"/>
              </a:rPr>
              <a:t>share</a:t>
            </a:r>
            <a:r>
              <a:rPr dirty="0" sz="3300" spc="-1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3300" spc="-1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Microsoft Sans Serif"/>
                <a:cs typeface="Microsoft Sans Serif"/>
              </a:rPr>
              <a:t>total sessions</a:t>
            </a:r>
            <a:endParaRPr sz="330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095968" y="6373807"/>
            <a:ext cx="8649335" cy="334264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R="445134">
              <a:lnSpc>
                <a:spcPct val="100000"/>
              </a:lnSpc>
              <a:spcBef>
                <a:spcPts val="345"/>
              </a:spcBef>
            </a:pPr>
            <a:r>
              <a:rPr dirty="0" sz="2200" spc="-254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2200" spc="-1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200" spc="-75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2200">
              <a:latin typeface="Arial Black"/>
              <a:cs typeface="Arial Black"/>
            </a:endParaRPr>
          </a:p>
          <a:p>
            <a:pPr algn="ctr" marL="407670" marR="400050">
              <a:lnSpc>
                <a:spcPts val="2920"/>
              </a:lnSpc>
            </a:pP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1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SHOWS</a:t>
            </a:r>
            <a:r>
              <a:rPr dirty="0" sz="21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icrosoft Sans Serif"/>
                <a:cs typeface="Microsoft Sans Serif"/>
              </a:rPr>
              <a:t>CLEAR</a:t>
            </a:r>
            <a:r>
              <a:rPr dirty="0" sz="21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70">
                <a:solidFill>
                  <a:srgbClr val="FFFFFF"/>
                </a:solidFill>
                <a:latin typeface="Microsoft Sans Serif"/>
                <a:cs typeface="Microsoft Sans Serif"/>
              </a:rPr>
              <a:t>WEEKLY</a:t>
            </a:r>
            <a:r>
              <a:rPr dirty="0" sz="21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MOMENTUM,</a:t>
            </a:r>
            <a:r>
              <a:rPr dirty="0" sz="21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SUPPORTING </a:t>
            </a:r>
            <a:r>
              <a:rPr dirty="0" sz="2100" spc="-120">
                <a:solidFill>
                  <a:srgbClr val="FFFFFF"/>
                </a:solidFill>
                <a:latin typeface="Microsoft Sans Serif"/>
                <a:cs typeface="Microsoft Sans Serif"/>
              </a:rPr>
              <a:t>SHORT-</a:t>
            </a: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TERM</a:t>
            </a:r>
            <a:r>
              <a:rPr dirty="0" sz="21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FORECASTING</a:t>
            </a:r>
            <a:endParaRPr sz="2100">
              <a:latin typeface="Microsoft Sans Serif"/>
              <a:cs typeface="Microsoft Sans Serif"/>
            </a:endParaRPr>
          </a:p>
          <a:p>
            <a:pPr algn="ctr" marL="178435" marR="170815">
              <a:lnSpc>
                <a:spcPts val="2930"/>
              </a:lnSpc>
            </a:pPr>
            <a:r>
              <a:rPr dirty="0" sz="2100" spc="-5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21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icrosoft Sans Serif"/>
                <a:cs typeface="Microsoft Sans Serif"/>
              </a:rPr>
              <a:t>USAGE</a:t>
            </a:r>
            <a:r>
              <a:rPr dirty="0" sz="21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70">
                <a:solidFill>
                  <a:srgbClr val="FFFFFF"/>
                </a:solidFill>
                <a:latin typeface="Microsoft Sans Serif"/>
                <a:cs typeface="Microsoft Sans Serif"/>
              </a:rPr>
              <a:t>HIGHLY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Microsoft Sans Serif"/>
                <a:cs typeface="Microsoft Sans Serif"/>
              </a:rPr>
              <a:t>CONCENTRATED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3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dirty="0" sz="2100" spc="-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0">
                <a:solidFill>
                  <a:srgbClr val="FFFFFF"/>
                </a:solidFill>
                <a:latin typeface="Microsoft Sans Serif"/>
                <a:cs typeface="Microsoft Sans Serif"/>
              </a:rPr>
              <a:t>TOP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Microsoft Sans Serif"/>
                <a:cs typeface="Microsoft Sans Serif"/>
              </a:rPr>
              <a:t>LOTS</a:t>
            </a:r>
            <a:r>
              <a:rPr dirty="0" sz="21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icrosoft Sans Serif"/>
                <a:cs typeface="Microsoft Sans Serif"/>
              </a:rPr>
              <a:t>(NOT </a:t>
            </a:r>
            <a:r>
              <a:rPr dirty="0" sz="2100" spc="-80">
                <a:solidFill>
                  <a:srgbClr val="FFFFFF"/>
                </a:solidFill>
                <a:latin typeface="Microsoft Sans Serif"/>
                <a:cs typeface="Microsoft Sans Serif"/>
              </a:rPr>
              <a:t>EVENLY</a:t>
            </a:r>
            <a:r>
              <a:rPr dirty="0" sz="21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DISTRIBUTED)</a:t>
            </a:r>
            <a:endParaRPr sz="21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ROLLING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AVERAGES </a:t>
            </a:r>
            <a:r>
              <a:rPr dirty="0" sz="2100" spc="-20">
                <a:solidFill>
                  <a:srgbClr val="FFFFFF"/>
                </a:solidFill>
                <a:latin typeface="Microsoft Sans Serif"/>
                <a:cs typeface="Microsoft Sans Serif"/>
              </a:rPr>
              <a:t>REVEAL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icrosoft Sans Serif"/>
                <a:cs typeface="Microsoft Sans Serif"/>
              </a:rPr>
              <a:t>STABLE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75">
                <a:solidFill>
                  <a:srgbClr val="FFFFFF"/>
                </a:solidFill>
                <a:latin typeface="Microsoft Sans Serif"/>
                <a:cs typeface="Microsoft Sans Serif"/>
              </a:rPr>
              <a:t>PATTERNS</a:t>
            </a:r>
            <a:r>
              <a:rPr dirty="0" sz="21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BEYOND</a:t>
            </a:r>
            <a:endParaRPr sz="21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2100" spc="-105">
                <a:solidFill>
                  <a:srgbClr val="FFFFFF"/>
                </a:solidFill>
                <a:latin typeface="Microsoft Sans Serif"/>
                <a:cs typeface="Microsoft Sans Serif"/>
              </a:rPr>
              <a:t>DAILY</a:t>
            </a:r>
            <a:r>
              <a:rPr dirty="0" sz="21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NOISE</a:t>
            </a:r>
            <a:endParaRPr sz="2100">
              <a:latin typeface="Microsoft Sans Serif"/>
              <a:cs typeface="Microsoft Sans Serif"/>
            </a:endParaRPr>
          </a:p>
          <a:p>
            <a:pPr algn="ctr" marL="12700" marR="5080">
              <a:lnSpc>
                <a:spcPct val="116100"/>
              </a:lnSpc>
            </a:pPr>
            <a:r>
              <a:rPr dirty="0" sz="2100" spc="-20">
                <a:solidFill>
                  <a:srgbClr val="FFFFFF"/>
                </a:solidFill>
                <a:latin typeface="Microsoft Sans Serif"/>
                <a:cs typeface="Microsoft Sans Serif"/>
              </a:rPr>
              <a:t>GROWTH</a:t>
            </a:r>
            <a:r>
              <a:rPr dirty="0" sz="210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45">
                <a:solidFill>
                  <a:srgbClr val="FFFFFF"/>
                </a:solidFill>
                <a:latin typeface="Microsoft Sans Serif"/>
                <a:cs typeface="Microsoft Sans Serif"/>
              </a:rPr>
              <a:t>FLUCTUATIONS</a:t>
            </a:r>
            <a:r>
              <a:rPr dirty="0" sz="21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HIGHLIGHT</a:t>
            </a:r>
            <a:r>
              <a:rPr dirty="0" sz="210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icrosoft Sans Serif"/>
                <a:cs typeface="Microsoft Sans Serif"/>
              </a:rPr>
              <a:t>PERIODS</a:t>
            </a:r>
            <a:r>
              <a:rPr dirty="0" sz="21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NEEDING</a:t>
            </a:r>
            <a:r>
              <a:rPr dirty="0" sz="21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35">
                <a:solidFill>
                  <a:srgbClr val="FFFFFF"/>
                </a:solidFill>
                <a:latin typeface="Microsoft Sans Serif"/>
                <a:cs typeface="Microsoft Sans Serif"/>
              </a:rPr>
              <a:t>CAPACITY </a:t>
            </a:r>
            <a:r>
              <a:rPr dirty="0" sz="21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1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icrosoft Sans Serif"/>
                <a:cs typeface="Microsoft Sans Serif"/>
              </a:rPr>
              <a:t>PRICING</a:t>
            </a:r>
            <a:r>
              <a:rPr dirty="0" sz="21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icrosoft Sans Serif"/>
                <a:cs typeface="Microsoft Sans Serif"/>
              </a:rPr>
              <a:t>ATTENTION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877" y="138223"/>
            <a:ext cx="18077815" cy="1066800"/>
          </a:xfrm>
          <a:custGeom>
            <a:avLst/>
            <a:gdLst/>
            <a:ahLst/>
            <a:cxnLst/>
            <a:rect l="l" t="t" r="r" b="b"/>
            <a:pathLst>
              <a:path w="18077815" h="1066800">
                <a:moveTo>
                  <a:pt x="17830227" y="1066805"/>
                </a:moveTo>
                <a:lnTo>
                  <a:pt x="247635" y="1066805"/>
                </a:lnTo>
                <a:lnTo>
                  <a:pt x="199098" y="1062003"/>
                </a:lnTo>
                <a:lnTo>
                  <a:pt x="152869" y="1047955"/>
                </a:lnTo>
                <a:lnTo>
                  <a:pt x="110247" y="1025199"/>
                </a:lnTo>
                <a:lnTo>
                  <a:pt x="72530" y="994274"/>
                </a:lnTo>
                <a:lnTo>
                  <a:pt x="41605" y="956558"/>
                </a:lnTo>
                <a:lnTo>
                  <a:pt x="18850" y="913936"/>
                </a:lnTo>
                <a:lnTo>
                  <a:pt x="4802" y="867706"/>
                </a:lnTo>
                <a:lnTo>
                  <a:pt x="0" y="819170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4" y="4802"/>
                </a:lnTo>
                <a:lnTo>
                  <a:pt x="17924993" y="18850"/>
                </a:lnTo>
                <a:lnTo>
                  <a:pt x="17967616" y="41605"/>
                </a:lnTo>
                <a:lnTo>
                  <a:pt x="18005333" y="72530"/>
                </a:lnTo>
                <a:lnTo>
                  <a:pt x="18036257" y="110247"/>
                </a:lnTo>
                <a:lnTo>
                  <a:pt x="18059012" y="152869"/>
                </a:lnTo>
                <a:lnTo>
                  <a:pt x="18073060" y="199098"/>
                </a:lnTo>
                <a:lnTo>
                  <a:pt x="18077352" y="242486"/>
                </a:lnTo>
                <a:lnTo>
                  <a:pt x="18077352" y="824319"/>
                </a:lnTo>
                <a:lnTo>
                  <a:pt x="18073060" y="867706"/>
                </a:lnTo>
                <a:lnTo>
                  <a:pt x="18059012" y="913936"/>
                </a:lnTo>
                <a:lnTo>
                  <a:pt x="18036257" y="956558"/>
                </a:lnTo>
                <a:lnTo>
                  <a:pt x="18005333" y="994274"/>
                </a:lnTo>
                <a:lnTo>
                  <a:pt x="17967616" y="1025199"/>
                </a:lnTo>
                <a:lnTo>
                  <a:pt x="17924993" y="1047955"/>
                </a:lnTo>
                <a:lnTo>
                  <a:pt x="17878764" y="1062003"/>
                </a:lnTo>
                <a:lnTo>
                  <a:pt x="17830227" y="1066805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335554" y="1298502"/>
            <a:ext cx="6668134" cy="4627880"/>
          </a:xfrm>
          <a:custGeom>
            <a:avLst/>
            <a:gdLst/>
            <a:ahLst/>
            <a:cxnLst/>
            <a:rect l="l" t="t" r="r" b="b"/>
            <a:pathLst>
              <a:path w="6668134" h="4627880">
                <a:moveTo>
                  <a:pt x="6182300" y="4627643"/>
                </a:moveTo>
                <a:lnTo>
                  <a:pt x="485774" y="4627643"/>
                </a:lnTo>
                <a:lnTo>
                  <a:pt x="437762" y="4625266"/>
                </a:lnTo>
                <a:lnTo>
                  <a:pt x="390562" y="4618223"/>
                </a:lnTo>
                <a:lnTo>
                  <a:pt x="344494" y="4606645"/>
                </a:lnTo>
                <a:lnTo>
                  <a:pt x="299876" y="4590666"/>
                </a:lnTo>
                <a:lnTo>
                  <a:pt x="257028" y="4570416"/>
                </a:lnTo>
                <a:lnTo>
                  <a:pt x="216266" y="4546027"/>
                </a:lnTo>
                <a:lnTo>
                  <a:pt x="177911" y="4517632"/>
                </a:lnTo>
                <a:lnTo>
                  <a:pt x="142280" y="4485363"/>
                </a:lnTo>
                <a:lnTo>
                  <a:pt x="110010" y="4449732"/>
                </a:lnTo>
                <a:lnTo>
                  <a:pt x="81616" y="4411377"/>
                </a:lnTo>
                <a:lnTo>
                  <a:pt x="57227" y="4370615"/>
                </a:lnTo>
                <a:lnTo>
                  <a:pt x="36977" y="4327766"/>
                </a:lnTo>
                <a:lnTo>
                  <a:pt x="20997" y="4283149"/>
                </a:lnTo>
                <a:lnTo>
                  <a:pt x="9420" y="4237081"/>
                </a:lnTo>
                <a:lnTo>
                  <a:pt x="2377" y="4189881"/>
                </a:lnTo>
                <a:lnTo>
                  <a:pt x="0" y="4141868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6182300" y="0"/>
                </a:lnTo>
                <a:lnTo>
                  <a:pt x="6230313" y="2377"/>
                </a:lnTo>
                <a:lnTo>
                  <a:pt x="6277512" y="9420"/>
                </a:lnTo>
                <a:lnTo>
                  <a:pt x="6323580" y="20997"/>
                </a:lnTo>
                <a:lnTo>
                  <a:pt x="6368198" y="36977"/>
                </a:lnTo>
                <a:lnTo>
                  <a:pt x="6411047" y="57227"/>
                </a:lnTo>
                <a:lnTo>
                  <a:pt x="6451808" y="81615"/>
                </a:lnTo>
                <a:lnTo>
                  <a:pt x="6490164" y="110010"/>
                </a:lnTo>
                <a:lnTo>
                  <a:pt x="6525795" y="142280"/>
                </a:lnTo>
                <a:lnTo>
                  <a:pt x="6558064" y="177911"/>
                </a:lnTo>
                <a:lnTo>
                  <a:pt x="6586459" y="216266"/>
                </a:lnTo>
                <a:lnTo>
                  <a:pt x="6610848" y="257028"/>
                </a:lnTo>
                <a:lnTo>
                  <a:pt x="6631098" y="299876"/>
                </a:lnTo>
                <a:lnTo>
                  <a:pt x="6647078" y="344494"/>
                </a:lnTo>
                <a:lnTo>
                  <a:pt x="6658656" y="390562"/>
                </a:lnTo>
                <a:lnTo>
                  <a:pt x="6665699" y="437762"/>
                </a:lnTo>
                <a:lnTo>
                  <a:pt x="6668076" y="485774"/>
                </a:lnTo>
                <a:lnTo>
                  <a:pt x="6668076" y="4141868"/>
                </a:lnTo>
                <a:lnTo>
                  <a:pt x="6665699" y="4189881"/>
                </a:lnTo>
                <a:lnTo>
                  <a:pt x="6658656" y="4237081"/>
                </a:lnTo>
                <a:lnTo>
                  <a:pt x="6647078" y="4283149"/>
                </a:lnTo>
                <a:lnTo>
                  <a:pt x="6631098" y="4327766"/>
                </a:lnTo>
                <a:lnTo>
                  <a:pt x="6610848" y="4370615"/>
                </a:lnTo>
                <a:lnTo>
                  <a:pt x="6586459" y="4411377"/>
                </a:lnTo>
                <a:lnTo>
                  <a:pt x="6558064" y="4449732"/>
                </a:lnTo>
                <a:lnTo>
                  <a:pt x="6525795" y="4485363"/>
                </a:lnTo>
                <a:lnTo>
                  <a:pt x="6490164" y="4517632"/>
                </a:lnTo>
                <a:lnTo>
                  <a:pt x="6451808" y="4546027"/>
                </a:lnTo>
                <a:lnTo>
                  <a:pt x="6411047" y="4570416"/>
                </a:lnTo>
                <a:lnTo>
                  <a:pt x="6368198" y="4590666"/>
                </a:lnTo>
                <a:lnTo>
                  <a:pt x="6323580" y="4606645"/>
                </a:lnTo>
                <a:lnTo>
                  <a:pt x="6277512" y="4618223"/>
                </a:lnTo>
                <a:lnTo>
                  <a:pt x="6230313" y="4625266"/>
                </a:lnTo>
                <a:lnTo>
                  <a:pt x="6182300" y="4627643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1335554" y="6021396"/>
            <a:ext cx="6660515" cy="4265930"/>
          </a:xfrm>
          <a:custGeom>
            <a:avLst/>
            <a:gdLst/>
            <a:ahLst/>
            <a:cxnLst/>
            <a:rect l="l" t="t" r="r" b="b"/>
            <a:pathLst>
              <a:path w="6660515" h="4265930">
                <a:moveTo>
                  <a:pt x="6469799" y="4265603"/>
                </a:moveTo>
                <a:lnTo>
                  <a:pt x="198276" y="4265603"/>
                </a:lnTo>
                <a:lnTo>
                  <a:pt x="177911" y="4250526"/>
                </a:lnTo>
                <a:lnTo>
                  <a:pt x="142280" y="4218257"/>
                </a:lnTo>
                <a:lnTo>
                  <a:pt x="110011" y="4182626"/>
                </a:lnTo>
                <a:lnTo>
                  <a:pt x="81616" y="4144271"/>
                </a:lnTo>
                <a:lnTo>
                  <a:pt x="57227" y="4103509"/>
                </a:lnTo>
                <a:lnTo>
                  <a:pt x="36977" y="4060661"/>
                </a:lnTo>
                <a:lnTo>
                  <a:pt x="20997" y="4016043"/>
                </a:lnTo>
                <a:lnTo>
                  <a:pt x="9420" y="3969975"/>
                </a:lnTo>
                <a:lnTo>
                  <a:pt x="2377" y="3922775"/>
                </a:lnTo>
                <a:lnTo>
                  <a:pt x="0" y="387476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6182300" y="0"/>
                </a:lnTo>
                <a:lnTo>
                  <a:pt x="6230313" y="2377"/>
                </a:lnTo>
                <a:lnTo>
                  <a:pt x="6277513" y="9420"/>
                </a:lnTo>
                <a:lnTo>
                  <a:pt x="6323581" y="20997"/>
                </a:lnTo>
                <a:lnTo>
                  <a:pt x="6368198" y="36977"/>
                </a:lnTo>
                <a:lnTo>
                  <a:pt x="6411047" y="57227"/>
                </a:lnTo>
                <a:lnTo>
                  <a:pt x="6451808" y="81615"/>
                </a:lnTo>
                <a:lnTo>
                  <a:pt x="6490163" y="110010"/>
                </a:lnTo>
                <a:lnTo>
                  <a:pt x="6525794" y="142280"/>
                </a:lnTo>
                <a:lnTo>
                  <a:pt x="6558063" y="177911"/>
                </a:lnTo>
                <a:lnTo>
                  <a:pt x="6586458" y="216266"/>
                </a:lnTo>
                <a:lnTo>
                  <a:pt x="6610847" y="257028"/>
                </a:lnTo>
                <a:lnTo>
                  <a:pt x="6631097" y="299876"/>
                </a:lnTo>
                <a:lnTo>
                  <a:pt x="6647077" y="344494"/>
                </a:lnTo>
                <a:lnTo>
                  <a:pt x="6658655" y="390562"/>
                </a:lnTo>
                <a:lnTo>
                  <a:pt x="6660039" y="399841"/>
                </a:lnTo>
                <a:lnTo>
                  <a:pt x="6660039" y="3960696"/>
                </a:lnTo>
                <a:lnTo>
                  <a:pt x="6647077" y="4016043"/>
                </a:lnTo>
                <a:lnTo>
                  <a:pt x="6631097" y="4060661"/>
                </a:lnTo>
                <a:lnTo>
                  <a:pt x="6610847" y="4103509"/>
                </a:lnTo>
                <a:lnTo>
                  <a:pt x="6586458" y="4144271"/>
                </a:lnTo>
                <a:lnTo>
                  <a:pt x="6558063" y="4182626"/>
                </a:lnTo>
                <a:lnTo>
                  <a:pt x="6525794" y="4218257"/>
                </a:lnTo>
                <a:lnTo>
                  <a:pt x="6490163" y="4250526"/>
                </a:lnTo>
                <a:lnTo>
                  <a:pt x="6469799" y="4265603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064" y="1398047"/>
            <a:ext cx="5105399" cy="58388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2745" y="4208103"/>
            <a:ext cx="5372099" cy="583882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376" rIns="0" bIns="0" rtlCol="0" vert="horz">
            <a:spAutoFit/>
          </a:bodyPr>
          <a:lstStyle/>
          <a:p>
            <a:pPr marL="3270250">
              <a:lnSpc>
                <a:spcPct val="100000"/>
              </a:lnSpc>
              <a:spcBef>
                <a:spcPts val="130"/>
              </a:spcBef>
            </a:pPr>
            <a:r>
              <a:rPr dirty="0" sz="2650">
                <a:latin typeface="Microsoft Sans Serif"/>
                <a:cs typeface="Microsoft Sans Serif"/>
              </a:rPr>
              <a:t>REVENUE</a:t>
            </a:r>
            <a:r>
              <a:rPr dirty="0" sz="2650" spc="-16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DRIVER</a:t>
            </a:r>
            <a:r>
              <a:rPr dirty="0" sz="2650" spc="-16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BREAKDOWN</a:t>
            </a:r>
            <a:endParaRPr sz="2650">
              <a:latin typeface="Microsoft Sans Serif"/>
              <a:cs typeface="Microsoft Sans Serif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70238" y="2084987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70238" y="2732687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70238" y="3380387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70238" y="3704237"/>
            <a:ext cx="66675" cy="666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65526" y="4023324"/>
            <a:ext cx="76200" cy="761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65526" y="4347174"/>
            <a:ext cx="76200" cy="761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065526" y="4671024"/>
            <a:ext cx="76200" cy="761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65526" y="4994874"/>
            <a:ext cx="76200" cy="7619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65526" y="5318724"/>
            <a:ext cx="76200" cy="7619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65526" y="5642574"/>
            <a:ext cx="76200" cy="7619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79763" y="6859391"/>
            <a:ext cx="76200" cy="7619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79763" y="7621391"/>
            <a:ext cx="76200" cy="761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79763" y="8383391"/>
            <a:ext cx="76200" cy="7619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79763" y="9145390"/>
            <a:ext cx="76200" cy="761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1457514" y="1566929"/>
            <a:ext cx="6353175" cy="813752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SQL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Did</a:t>
            </a:r>
            <a:endParaRPr sz="1850">
              <a:latin typeface="Microsoft Sans Serif"/>
              <a:cs typeface="Microsoft Sans Serif"/>
            </a:endParaRPr>
          </a:p>
          <a:p>
            <a:pPr marL="412750" marR="472440">
              <a:lnSpc>
                <a:spcPct val="114900"/>
              </a:lnSpc>
            </a:pP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Joined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events,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lots,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slots,</a:t>
            </a:r>
            <a:r>
              <a:rPr dirty="0" sz="18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payments,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violations</a:t>
            </a:r>
            <a:r>
              <a:rPr dirty="0" sz="18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to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build</a:t>
            </a:r>
            <a:r>
              <a:rPr dirty="0" sz="18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18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unified</a:t>
            </a:r>
            <a:r>
              <a:rPr dirty="0" sz="18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18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view</a:t>
            </a:r>
            <a:endParaRPr sz="1850">
              <a:latin typeface="Microsoft Sans Serif"/>
              <a:cs typeface="Microsoft Sans Serif"/>
            </a:endParaRPr>
          </a:p>
          <a:p>
            <a:pPr marL="412750" marR="312420">
              <a:lnSpc>
                <a:spcPct val="114900"/>
              </a:lnSpc>
            </a:pP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Bucketed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duration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into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bands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95">
                <a:solidFill>
                  <a:srgbClr val="FFFFFF"/>
                </a:solidFill>
                <a:latin typeface="Microsoft Sans Serif"/>
                <a:cs typeface="Microsoft Sans Serif"/>
              </a:rPr>
              <a:t>(0–1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hr,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100">
                <a:solidFill>
                  <a:srgbClr val="FFFFFF"/>
                </a:solidFill>
                <a:latin typeface="Microsoft Sans Serif"/>
                <a:cs typeface="Microsoft Sans Serif"/>
              </a:rPr>
              <a:t>1–8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hrs,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90">
                <a:solidFill>
                  <a:srgbClr val="FFFFFF"/>
                </a:solidFill>
                <a:latin typeface="Microsoft Sans Serif"/>
                <a:cs typeface="Microsoft Sans Serif"/>
              </a:rPr>
              <a:t>8–24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hrs,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weeks,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months)</a:t>
            </a:r>
            <a:endParaRPr sz="1850">
              <a:latin typeface="Microsoft Sans Serif"/>
              <a:cs typeface="Microsoft Sans Serif"/>
            </a:endParaRPr>
          </a:p>
          <a:p>
            <a:pPr marL="412750" marR="890905">
              <a:lnSpc>
                <a:spcPct val="114900"/>
              </a:lnSpc>
            </a:pP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Normalized</a:t>
            </a:r>
            <a:r>
              <a:rPr dirty="0" sz="18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payment</a:t>
            </a:r>
            <a:r>
              <a:rPr dirty="0" sz="18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methods</a:t>
            </a:r>
            <a:r>
              <a:rPr dirty="0" sz="18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using</a:t>
            </a:r>
            <a:r>
              <a:rPr dirty="0" sz="18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COALESCE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Aggregated</a:t>
            </a:r>
            <a:r>
              <a:rPr dirty="0" sz="18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final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across:</a:t>
            </a:r>
            <a:endParaRPr sz="1850">
              <a:latin typeface="Microsoft Sans Serif"/>
              <a:cs typeface="Microsoft Sans Serif"/>
            </a:endParaRPr>
          </a:p>
          <a:p>
            <a:pPr marL="812800" marR="5039995">
              <a:lnSpc>
                <a:spcPct val="114900"/>
              </a:lnSpc>
            </a:pP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Lot Area</a:t>
            </a:r>
            <a:endParaRPr sz="1850">
              <a:latin typeface="Microsoft Sans Serif"/>
              <a:cs typeface="Microsoft Sans Serif"/>
            </a:endParaRPr>
          </a:p>
          <a:p>
            <a:pPr marL="812800" marR="3782695">
              <a:lnSpc>
                <a:spcPct val="114900"/>
              </a:lnSpc>
            </a:pP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Vehicle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type </a:t>
            </a: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Payment</a:t>
            </a:r>
            <a:r>
              <a:rPr dirty="0" sz="18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method Duration</a:t>
            </a:r>
            <a:r>
              <a:rPr dirty="0" sz="18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bucket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18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outcome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000" spc="-23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200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2000">
              <a:latin typeface="Arial Black"/>
              <a:cs typeface="Arial Black"/>
            </a:endParaRPr>
          </a:p>
          <a:p>
            <a:pPr marL="443865">
              <a:lnSpc>
                <a:spcPct val="100000"/>
              </a:lnSpc>
              <a:spcBef>
                <a:spcPts val="375"/>
              </a:spcBef>
            </a:pPr>
            <a:r>
              <a:rPr dirty="0" sz="2000" spc="-180">
                <a:solidFill>
                  <a:srgbClr val="FFFFFF"/>
                </a:solidFill>
                <a:latin typeface="Arial Black"/>
                <a:cs typeface="Arial Black"/>
              </a:rPr>
              <a:t>Revenue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5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40">
                <a:solidFill>
                  <a:srgbClr val="FFFFFF"/>
                </a:solidFill>
                <a:latin typeface="Arial Black"/>
                <a:cs typeface="Arial Black"/>
              </a:rPr>
              <a:t>primarily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40">
                <a:solidFill>
                  <a:srgbClr val="FFFFFF"/>
                </a:solidFill>
                <a:latin typeface="Arial Black"/>
                <a:cs typeface="Arial Black"/>
              </a:rPr>
              <a:t>driven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40">
                <a:solidFill>
                  <a:srgbClr val="FFFFFF"/>
                </a:solidFill>
                <a:latin typeface="Arial Black"/>
                <a:cs typeface="Arial Black"/>
              </a:rPr>
              <a:t>by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60">
                <a:solidFill>
                  <a:srgbClr val="FFFFFF"/>
                </a:solidFill>
                <a:latin typeface="Arial Black"/>
                <a:cs typeface="Arial Black"/>
              </a:rPr>
              <a:t>specific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50">
                <a:solidFill>
                  <a:srgbClr val="FFFFFF"/>
                </a:solidFill>
                <a:latin typeface="Arial Black"/>
                <a:cs typeface="Arial Black"/>
              </a:rPr>
              <a:t>lots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 Black"/>
                <a:cs typeface="Arial Black"/>
              </a:rPr>
              <a:t>+</a:t>
            </a:r>
            <a:endParaRPr sz="2000">
              <a:latin typeface="Arial Black"/>
              <a:cs typeface="Arial Black"/>
            </a:endParaRPr>
          </a:p>
          <a:p>
            <a:pPr marL="443865" marR="1688464">
              <a:lnSpc>
                <a:spcPct val="125000"/>
              </a:lnSpc>
            </a:pPr>
            <a:r>
              <a:rPr dirty="0" sz="2000" spc="-155">
                <a:solidFill>
                  <a:srgbClr val="FFFFFF"/>
                </a:solidFill>
                <a:latin typeface="Arial Black"/>
                <a:cs typeface="Arial Black"/>
              </a:rPr>
              <a:t>medium-</a:t>
            </a:r>
            <a:r>
              <a:rPr dirty="0" sz="2000" spc="-150">
                <a:solidFill>
                  <a:srgbClr val="FFFFFF"/>
                </a:solidFill>
                <a:latin typeface="Arial Black"/>
                <a:cs typeface="Arial Black"/>
              </a:rPr>
              <a:t>duration</a:t>
            </a:r>
            <a:r>
              <a:rPr dirty="0" sz="2000" spc="-1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stays</a:t>
            </a:r>
            <a:r>
              <a:rPr dirty="0" sz="20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05">
                <a:solidFill>
                  <a:srgbClr val="FFFFFF"/>
                </a:solidFill>
                <a:latin typeface="Arial Black"/>
                <a:cs typeface="Arial Black"/>
              </a:rPr>
              <a:t>(1–8</a:t>
            </a:r>
            <a:r>
              <a:rPr dirty="0" sz="20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 Black"/>
                <a:cs typeface="Arial Black"/>
              </a:rPr>
              <a:t>hrs)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Overstayed</a:t>
            </a:r>
            <a:r>
              <a:rPr dirty="0" sz="20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outcomes</a:t>
            </a:r>
            <a:r>
              <a:rPr dirty="0" sz="2000" spc="-1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 Black"/>
                <a:cs typeface="Arial Black"/>
              </a:rPr>
              <a:t>contribute </a:t>
            </a:r>
            <a:r>
              <a:rPr dirty="0" sz="2000" spc="-145">
                <a:solidFill>
                  <a:srgbClr val="FFFFFF"/>
                </a:solidFill>
                <a:latin typeface="Arial Black"/>
                <a:cs typeface="Arial Black"/>
              </a:rPr>
              <a:t>disproportionately</a:t>
            </a:r>
            <a:r>
              <a:rPr dirty="0" sz="20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8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20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80">
                <a:solidFill>
                  <a:srgbClr val="FFFFFF"/>
                </a:solidFill>
                <a:latin typeface="Arial Black"/>
                <a:cs typeface="Arial Black"/>
              </a:rPr>
              <a:t>total</a:t>
            </a:r>
            <a:r>
              <a:rPr dirty="0" sz="20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Arial Black"/>
                <a:cs typeface="Arial Black"/>
              </a:rPr>
              <a:t>revenue</a:t>
            </a:r>
            <a:endParaRPr sz="2000">
              <a:latin typeface="Arial Black"/>
              <a:cs typeface="Arial Black"/>
            </a:endParaRPr>
          </a:p>
          <a:p>
            <a:pPr marL="443865" marR="5080">
              <a:lnSpc>
                <a:spcPct val="125000"/>
              </a:lnSpc>
            </a:pPr>
            <a:r>
              <a:rPr dirty="0" sz="2000" spc="-145">
                <a:solidFill>
                  <a:srgbClr val="FFFFFF"/>
                </a:solidFill>
                <a:latin typeface="Arial Black"/>
                <a:cs typeface="Arial Black"/>
              </a:rPr>
              <a:t>Digital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payments</a:t>
            </a:r>
            <a:r>
              <a:rPr dirty="0" sz="200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0">
                <a:solidFill>
                  <a:srgbClr val="FFFFFF"/>
                </a:solidFill>
                <a:latin typeface="Arial Black"/>
                <a:cs typeface="Arial Black"/>
              </a:rPr>
              <a:t>dominate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revenue</a:t>
            </a:r>
            <a:r>
              <a:rPr dirty="0" sz="200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0">
                <a:solidFill>
                  <a:srgbClr val="FFFFFF"/>
                </a:solidFill>
                <a:latin typeface="Arial Black"/>
                <a:cs typeface="Arial Black"/>
              </a:rPr>
              <a:t>compared</a:t>
            </a:r>
            <a:r>
              <a:rPr dirty="0" sz="200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 Black"/>
                <a:cs typeface="Arial Black"/>
              </a:rPr>
              <a:t>to </a:t>
            </a:r>
            <a:r>
              <a:rPr dirty="0" sz="2000" spc="-20">
                <a:solidFill>
                  <a:srgbClr val="FFFFFF"/>
                </a:solidFill>
                <a:latin typeface="Arial Black"/>
                <a:cs typeface="Arial Black"/>
              </a:rPr>
              <a:t>cash</a:t>
            </a:r>
            <a:endParaRPr sz="2000">
              <a:latin typeface="Arial Black"/>
              <a:cs typeface="Arial Black"/>
            </a:endParaRPr>
          </a:p>
          <a:p>
            <a:pPr marL="443865" marR="24130">
              <a:lnSpc>
                <a:spcPct val="125000"/>
              </a:lnSpc>
            </a:pPr>
            <a:r>
              <a:rPr dirty="0" sz="2000" spc="-180">
                <a:solidFill>
                  <a:srgbClr val="FFFFFF"/>
                </a:solidFill>
                <a:latin typeface="Arial Black"/>
                <a:cs typeface="Arial Black"/>
              </a:rPr>
              <a:t>Revenue</a:t>
            </a:r>
            <a:r>
              <a:rPr dirty="0" sz="20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concentration</a:t>
            </a:r>
            <a:r>
              <a:rPr dirty="0" sz="20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80">
                <a:solidFill>
                  <a:srgbClr val="FFFFFF"/>
                </a:solidFill>
                <a:latin typeface="Arial Black"/>
                <a:cs typeface="Arial Black"/>
              </a:rPr>
              <a:t>shows</a:t>
            </a:r>
            <a:r>
              <a:rPr dirty="0" sz="20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245">
                <a:solidFill>
                  <a:srgbClr val="FFFFFF"/>
                </a:solidFill>
                <a:latin typeface="Arial Black"/>
                <a:cs typeface="Arial Black"/>
              </a:rPr>
              <a:t>few</a:t>
            </a:r>
            <a:r>
              <a:rPr dirty="0" sz="2000" spc="-1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30">
                <a:solidFill>
                  <a:srgbClr val="FFFFFF"/>
                </a:solidFill>
                <a:latin typeface="Arial Black"/>
                <a:cs typeface="Arial Black"/>
              </a:rPr>
              <a:t>combinations </a:t>
            </a:r>
            <a:r>
              <a:rPr dirty="0" sz="2000" spc="-180">
                <a:solidFill>
                  <a:srgbClr val="FFFFFF"/>
                </a:solidFill>
                <a:latin typeface="Arial Black"/>
                <a:cs typeface="Arial Black"/>
              </a:rPr>
              <a:t>generate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75">
                <a:solidFill>
                  <a:srgbClr val="FFFFFF"/>
                </a:solidFill>
                <a:latin typeface="Arial Black"/>
                <a:cs typeface="Arial Black"/>
              </a:rPr>
              <a:t>most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 Black"/>
                <a:cs typeface="Arial Black"/>
              </a:rPr>
              <a:t>earnings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877" y="138223"/>
            <a:ext cx="18077815" cy="1066800"/>
          </a:xfrm>
          <a:custGeom>
            <a:avLst/>
            <a:gdLst/>
            <a:ahLst/>
            <a:cxnLst/>
            <a:rect l="l" t="t" r="r" b="b"/>
            <a:pathLst>
              <a:path w="18077815" h="1066800">
                <a:moveTo>
                  <a:pt x="17830227" y="1066805"/>
                </a:moveTo>
                <a:lnTo>
                  <a:pt x="247635" y="1066805"/>
                </a:lnTo>
                <a:lnTo>
                  <a:pt x="199098" y="1062003"/>
                </a:lnTo>
                <a:lnTo>
                  <a:pt x="152869" y="1047955"/>
                </a:lnTo>
                <a:lnTo>
                  <a:pt x="110247" y="1025199"/>
                </a:lnTo>
                <a:lnTo>
                  <a:pt x="72530" y="994274"/>
                </a:lnTo>
                <a:lnTo>
                  <a:pt x="41605" y="956558"/>
                </a:lnTo>
                <a:lnTo>
                  <a:pt x="18850" y="913936"/>
                </a:lnTo>
                <a:lnTo>
                  <a:pt x="4802" y="867706"/>
                </a:lnTo>
                <a:lnTo>
                  <a:pt x="0" y="819170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4" y="4802"/>
                </a:lnTo>
                <a:lnTo>
                  <a:pt x="17924993" y="18850"/>
                </a:lnTo>
                <a:lnTo>
                  <a:pt x="17967616" y="41605"/>
                </a:lnTo>
                <a:lnTo>
                  <a:pt x="18005333" y="72530"/>
                </a:lnTo>
                <a:lnTo>
                  <a:pt x="18036257" y="110247"/>
                </a:lnTo>
                <a:lnTo>
                  <a:pt x="18059012" y="152869"/>
                </a:lnTo>
                <a:lnTo>
                  <a:pt x="18073060" y="199098"/>
                </a:lnTo>
                <a:lnTo>
                  <a:pt x="18077352" y="242486"/>
                </a:lnTo>
                <a:lnTo>
                  <a:pt x="18077352" y="824319"/>
                </a:lnTo>
                <a:lnTo>
                  <a:pt x="18073060" y="867706"/>
                </a:lnTo>
                <a:lnTo>
                  <a:pt x="18059012" y="913936"/>
                </a:lnTo>
                <a:lnTo>
                  <a:pt x="18036257" y="956558"/>
                </a:lnTo>
                <a:lnTo>
                  <a:pt x="18005333" y="994274"/>
                </a:lnTo>
                <a:lnTo>
                  <a:pt x="17967616" y="1025199"/>
                </a:lnTo>
                <a:lnTo>
                  <a:pt x="17924993" y="1047955"/>
                </a:lnTo>
                <a:lnTo>
                  <a:pt x="17878764" y="1062003"/>
                </a:lnTo>
                <a:lnTo>
                  <a:pt x="17830227" y="1066805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319785" y="1298502"/>
            <a:ext cx="11679555" cy="3417570"/>
          </a:xfrm>
          <a:custGeom>
            <a:avLst/>
            <a:gdLst/>
            <a:ahLst/>
            <a:cxnLst/>
            <a:rect l="l" t="t" r="r" b="b"/>
            <a:pathLst>
              <a:path w="11679555" h="3417570">
                <a:moveTo>
                  <a:pt x="11198068" y="3417009"/>
                </a:moveTo>
                <a:lnTo>
                  <a:pt x="485775" y="3417009"/>
                </a:lnTo>
                <a:lnTo>
                  <a:pt x="437762" y="3414632"/>
                </a:lnTo>
                <a:lnTo>
                  <a:pt x="390562" y="3407589"/>
                </a:lnTo>
                <a:lnTo>
                  <a:pt x="344494" y="3396011"/>
                </a:lnTo>
                <a:lnTo>
                  <a:pt x="299877" y="3380032"/>
                </a:lnTo>
                <a:lnTo>
                  <a:pt x="257028" y="3359781"/>
                </a:lnTo>
                <a:lnTo>
                  <a:pt x="216266" y="3335393"/>
                </a:lnTo>
                <a:lnTo>
                  <a:pt x="177911" y="3306998"/>
                </a:lnTo>
                <a:lnTo>
                  <a:pt x="142280" y="3274729"/>
                </a:lnTo>
                <a:lnTo>
                  <a:pt x="110011" y="3239098"/>
                </a:lnTo>
                <a:lnTo>
                  <a:pt x="81616" y="3200742"/>
                </a:lnTo>
                <a:lnTo>
                  <a:pt x="57227" y="3159981"/>
                </a:lnTo>
                <a:lnTo>
                  <a:pt x="36977" y="3117132"/>
                </a:lnTo>
                <a:lnTo>
                  <a:pt x="20997" y="3072514"/>
                </a:lnTo>
                <a:lnTo>
                  <a:pt x="9420" y="3026447"/>
                </a:lnTo>
                <a:lnTo>
                  <a:pt x="2377" y="2979247"/>
                </a:lnTo>
                <a:lnTo>
                  <a:pt x="0" y="293123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1198068" y="0"/>
                </a:lnTo>
                <a:lnTo>
                  <a:pt x="11246081" y="2377"/>
                </a:lnTo>
                <a:lnTo>
                  <a:pt x="11293281" y="9420"/>
                </a:lnTo>
                <a:lnTo>
                  <a:pt x="11339349" y="20997"/>
                </a:lnTo>
                <a:lnTo>
                  <a:pt x="11383966" y="36977"/>
                </a:lnTo>
                <a:lnTo>
                  <a:pt x="11426815" y="57227"/>
                </a:lnTo>
                <a:lnTo>
                  <a:pt x="11467576" y="81615"/>
                </a:lnTo>
                <a:lnTo>
                  <a:pt x="11505931" y="110010"/>
                </a:lnTo>
                <a:lnTo>
                  <a:pt x="11541562" y="142280"/>
                </a:lnTo>
                <a:lnTo>
                  <a:pt x="11573832" y="177911"/>
                </a:lnTo>
                <a:lnTo>
                  <a:pt x="11602227" y="216266"/>
                </a:lnTo>
                <a:lnTo>
                  <a:pt x="11626615" y="257028"/>
                </a:lnTo>
                <a:lnTo>
                  <a:pt x="11646866" y="299877"/>
                </a:lnTo>
                <a:lnTo>
                  <a:pt x="11662845" y="344494"/>
                </a:lnTo>
                <a:lnTo>
                  <a:pt x="11674423" y="390562"/>
                </a:lnTo>
                <a:lnTo>
                  <a:pt x="11679231" y="422782"/>
                </a:lnTo>
                <a:lnTo>
                  <a:pt x="11679231" y="2994226"/>
                </a:lnTo>
                <a:lnTo>
                  <a:pt x="11662845" y="3072514"/>
                </a:lnTo>
                <a:lnTo>
                  <a:pt x="11646866" y="3117132"/>
                </a:lnTo>
                <a:lnTo>
                  <a:pt x="11626615" y="3159981"/>
                </a:lnTo>
                <a:lnTo>
                  <a:pt x="11602227" y="3200742"/>
                </a:lnTo>
                <a:lnTo>
                  <a:pt x="11573832" y="3239098"/>
                </a:lnTo>
                <a:lnTo>
                  <a:pt x="11541562" y="3274729"/>
                </a:lnTo>
                <a:lnTo>
                  <a:pt x="11505931" y="3306998"/>
                </a:lnTo>
                <a:lnTo>
                  <a:pt x="11467576" y="3335393"/>
                </a:lnTo>
                <a:lnTo>
                  <a:pt x="11426815" y="3359781"/>
                </a:lnTo>
                <a:lnTo>
                  <a:pt x="11383966" y="3380032"/>
                </a:lnTo>
                <a:lnTo>
                  <a:pt x="11339349" y="3396011"/>
                </a:lnTo>
                <a:lnTo>
                  <a:pt x="11293281" y="3407589"/>
                </a:lnTo>
                <a:lnTo>
                  <a:pt x="11246081" y="3414632"/>
                </a:lnTo>
                <a:lnTo>
                  <a:pt x="11198068" y="3417009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7877" y="6401539"/>
            <a:ext cx="12252325" cy="3885565"/>
          </a:xfrm>
          <a:custGeom>
            <a:avLst/>
            <a:gdLst/>
            <a:ahLst/>
            <a:cxnLst/>
            <a:rect l="l" t="t" r="r" b="b"/>
            <a:pathLst>
              <a:path w="12252325" h="3885565">
                <a:moveTo>
                  <a:pt x="12060771" y="3885459"/>
                </a:moveTo>
                <a:lnTo>
                  <a:pt x="198275" y="3885459"/>
                </a:lnTo>
                <a:lnTo>
                  <a:pt x="177911" y="3870383"/>
                </a:lnTo>
                <a:lnTo>
                  <a:pt x="142280" y="3838114"/>
                </a:lnTo>
                <a:lnTo>
                  <a:pt x="110010" y="3802483"/>
                </a:lnTo>
                <a:lnTo>
                  <a:pt x="81615" y="3764127"/>
                </a:lnTo>
                <a:lnTo>
                  <a:pt x="57227" y="3723366"/>
                </a:lnTo>
                <a:lnTo>
                  <a:pt x="36977" y="3680517"/>
                </a:lnTo>
                <a:lnTo>
                  <a:pt x="20997" y="3635899"/>
                </a:lnTo>
                <a:lnTo>
                  <a:pt x="9420" y="3589831"/>
                </a:lnTo>
                <a:lnTo>
                  <a:pt x="2377" y="3542632"/>
                </a:lnTo>
                <a:lnTo>
                  <a:pt x="0" y="3494619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1773271" y="0"/>
                </a:lnTo>
                <a:lnTo>
                  <a:pt x="11821284" y="2377"/>
                </a:lnTo>
                <a:lnTo>
                  <a:pt x="11868484" y="9420"/>
                </a:lnTo>
                <a:lnTo>
                  <a:pt x="11914552" y="20997"/>
                </a:lnTo>
                <a:lnTo>
                  <a:pt x="11959169" y="36977"/>
                </a:lnTo>
                <a:lnTo>
                  <a:pt x="12002018" y="57227"/>
                </a:lnTo>
                <a:lnTo>
                  <a:pt x="12042779" y="81616"/>
                </a:lnTo>
                <a:lnTo>
                  <a:pt x="12081135" y="110011"/>
                </a:lnTo>
                <a:lnTo>
                  <a:pt x="12116766" y="142280"/>
                </a:lnTo>
                <a:lnTo>
                  <a:pt x="12149035" y="177911"/>
                </a:lnTo>
                <a:lnTo>
                  <a:pt x="12177430" y="216266"/>
                </a:lnTo>
                <a:lnTo>
                  <a:pt x="12201819" y="257028"/>
                </a:lnTo>
                <a:lnTo>
                  <a:pt x="12222069" y="299877"/>
                </a:lnTo>
                <a:lnTo>
                  <a:pt x="12238049" y="344494"/>
                </a:lnTo>
                <a:lnTo>
                  <a:pt x="12249626" y="390562"/>
                </a:lnTo>
                <a:lnTo>
                  <a:pt x="12252151" y="407481"/>
                </a:lnTo>
                <a:lnTo>
                  <a:pt x="12252151" y="3572913"/>
                </a:lnTo>
                <a:lnTo>
                  <a:pt x="12238049" y="3635899"/>
                </a:lnTo>
                <a:lnTo>
                  <a:pt x="12222069" y="3680517"/>
                </a:lnTo>
                <a:lnTo>
                  <a:pt x="12201819" y="3723366"/>
                </a:lnTo>
                <a:lnTo>
                  <a:pt x="12177430" y="3764127"/>
                </a:lnTo>
                <a:lnTo>
                  <a:pt x="12149035" y="3802483"/>
                </a:lnTo>
                <a:lnTo>
                  <a:pt x="12116766" y="3838114"/>
                </a:lnTo>
                <a:lnTo>
                  <a:pt x="12081135" y="3870383"/>
                </a:lnTo>
                <a:lnTo>
                  <a:pt x="12060771" y="3885459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77" y="1298503"/>
            <a:ext cx="6019799" cy="49148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2886" y="4973556"/>
            <a:ext cx="5362574" cy="52292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376" rIns="0" bIns="0" rtlCol="0" vert="horz">
            <a:spAutoFit/>
          </a:bodyPr>
          <a:lstStyle/>
          <a:p>
            <a:pPr marL="1894839">
              <a:lnSpc>
                <a:spcPct val="100000"/>
              </a:lnSpc>
              <a:spcBef>
                <a:spcPts val="130"/>
              </a:spcBef>
            </a:pPr>
            <a:r>
              <a:rPr dirty="0" sz="2650" spc="-114">
                <a:latin typeface="Microsoft Sans Serif"/>
                <a:cs typeface="Microsoft Sans Serif"/>
              </a:rPr>
              <a:t>LOT-</a:t>
            </a:r>
            <a:r>
              <a:rPr dirty="0" sz="2650">
                <a:latin typeface="Microsoft Sans Serif"/>
                <a:cs typeface="Microsoft Sans Serif"/>
              </a:rPr>
              <a:t>LEVEL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 spc="-25">
                <a:latin typeface="Microsoft Sans Serif"/>
                <a:cs typeface="Microsoft Sans Serif"/>
              </a:rPr>
              <a:t>UTILIZATION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>
                <a:latin typeface="Microsoft Sans Serif"/>
                <a:cs typeface="Microsoft Sans Serif"/>
              </a:rPr>
              <a:t>&amp;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 spc="-50">
                <a:latin typeface="Microsoft Sans Serif"/>
                <a:cs typeface="Microsoft Sans Serif"/>
              </a:rPr>
              <a:t>CAPACITY</a:t>
            </a:r>
            <a:r>
              <a:rPr dirty="0" sz="2650" spc="-85">
                <a:latin typeface="Microsoft Sans Serif"/>
                <a:cs typeface="Microsoft Sans Serif"/>
              </a:rPr>
              <a:t> </a:t>
            </a:r>
            <a:r>
              <a:rPr dirty="0" sz="2650" spc="-10">
                <a:latin typeface="Microsoft Sans Serif"/>
                <a:cs typeface="Microsoft Sans Serif"/>
              </a:rPr>
              <a:t>ANALYSIS</a:t>
            </a:r>
            <a:endParaRPr sz="2650">
              <a:latin typeface="Microsoft Sans Serif"/>
              <a:cs typeface="Microsoft Sans Serif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2125" y="2162887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2125" y="2505787"/>
            <a:ext cx="76200" cy="761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5988" y="2843925"/>
            <a:ext cx="85724" cy="857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55988" y="3186825"/>
            <a:ext cx="85724" cy="857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2125" y="3534487"/>
            <a:ext cx="76200" cy="761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2125" y="3877387"/>
            <a:ext cx="76200" cy="761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2125" y="4220287"/>
            <a:ext cx="76200" cy="761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6809875" y="1606786"/>
            <a:ext cx="6075045" cy="2780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225">
                <a:solidFill>
                  <a:srgbClr val="FFFFFF"/>
                </a:solidFill>
                <a:latin typeface="Arial Black"/>
                <a:cs typeface="Arial Black"/>
              </a:rPr>
              <a:t>What</a:t>
            </a:r>
            <a:r>
              <a:rPr dirty="0" sz="255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550" spc="-175">
                <a:solidFill>
                  <a:srgbClr val="FFFFFF"/>
                </a:solidFill>
                <a:latin typeface="Arial Black"/>
                <a:cs typeface="Arial Black"/>
              </a:rPr>
              <a:t>SQL</a:t>
            </a:r>
            <a:r>
              <a:rPr dirty="0" sz="2550" spc="-1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550" spc="-25">
                <a:solidFill>
                  <a:srgbClr val="FFFFFF"/>
                </a:solidFill>
                <a:latin typeface="Arial Black"/>
                <a:cs typeface="Arial Black"/>
              </a:rPr>
              <a:t>Did</a:t>
            </a:r>
            <a:endParaRPr sz="2550">
              <a:latin typeface="Arial Black"/>
              <a:cs typeface="Arial Black"/>
            </a:endParaRPr>
          </a:p>
          <a:p>
            <a:pPr marL="43434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19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Microsoft Sans Serif"/>
                <a:cs typeface="Microsoft Sans Serif"/>
              </a:rPr>
              <a:t>average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duration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Microsoft Sans Serif"/>
                <a:cs typeface="Microsoft Sans Serif"/>
              </a:rPr>
              <a:t>lot</a:t>
            </a:r>
            <a:endParaRPr sz="1950">
              <a:latin typeface="Microsoft Sans Serif"/>
              <a:cs typeface="Microsoft Sans Serif"/>
            </a:endParaRPr>
          </a:p>
          <a:p>
            <a:pPr marL="855980" marR="2151380" indent="-422275">
              <a:lnSpc>
                <a:spcPct val="115399"/>
              </a:lnSpc>
            </a:pP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Derived</a:t>
            </a:r>
            <a:r>
              <a:rPr dirty="0" sz="19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area</a:t>
            </a:r>
            <a:r>
              <a:rPr dirty="0" sz="19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Microsoft Sans Serif"/>
                <a:cs typeface="Microsoft Sans Serif"/>
              </a:rPr>
              <a:t>utilization</a:t>
            </a:r>
            <a:r>
              <a:rPr dirty="0" sz="19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%</a:t>
            </a:r>
            <a:r>
              <a:rPr dirty="0" sz="19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using: </a:t>
            </a:r>
            <a:r>
              <a:rPr dirty="0" sz="1950" spc="-65">
                <a:solidFill>
                  <a:srgbClr val="FFFFFF"/>
                </a:solidFill>
                <a:latin typeface="Microsoft Sans Serif"/>
                <a:cs typeface="Microsoft Sans Serif"/>
              </a:rPr>
              <a:t>Total</a:t>
            </a:r>
            <a:r>
              <a:rPr dirty="0" sz="1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actual</a:t>
            </a:r>
            <a:r>
              <a:rPr dirty="0" sz="1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1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minutes</a:t>
            </a:r>
            <a:endParaRPr sz="1950">
              <a:latin typeface="Microsoft Sans Serif"/>
              <a:cs typeface="Microsoft Sans Serif"/>
            </a:endParaRPr>
          </a:p>
          <a:p>
            <a:pPr marL="434340" marR="5080" indent="421640">
              <a:lnSpc>
                <a:spcPct val="115399"/>
              </a:lnSpc>
            </a:pPr>
            <a:r>
              <a:rPr dirty="0" sz="1950" spc="-30">
                <a:solidFill>
                  <a:srgbClr val="FFFFFF"/>
                </a:solidFill>
                <a:latin typeface="Microsoft Sans Serif"/>
                <a:cs typeface="Microsoft Sans Serif"/>
              </a:rPr>
              <a:t>Available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minutes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slot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day</a:t>
            </a:r>
            <a:r>
              <a:rPr dirty="0" sz="19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(1440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×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slots)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Computed</a:t>
            </a:r>
            <a:r>
              <a:rPr dirty="0" sz="19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5">
                <a:solidFill>
                  <a:srgbClr val="FFFFFF"/>
                </a:solidFill>
                <a:latin typeface="Microsoft Sans Serif"/>
                <a:cs typeface="Microsoft Sans Serif"/>
              </a:rPr>
              <a:t>average</a:t>
            </a:r>
            <a:r>
              <a:rPr dirty="0" sz="19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daily</a:t>
            </a:r>
            <a:r>
              <a:rPr dirty="0" sz="19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idle</a:t>
            </a:r>
            <a:r>
              <a:rPr dirty="0" sz="19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dirty="0" sz="19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dirty="0" sz="19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Microsoft Sans Serif"/>
                <a:cs typeface="Microsoft Sans Serif"/>
              </a:rPr>
              <a:t>slot</a:t>
            </a:r>
            <a:r>
              <a:rPr dirty="0" sz="1950" spc="500">
                <a:solidFill>
                  <a:srgbClr val="FFFFFF"/>
                </a:solidFill>
                <a:latin typeface="Microsoft Sans Serif"/>
                <a:cs typeface="Microsoft Sans Serif"/>
              </a:rPr>
              <a:t> 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Classified</a:t>
            </a:r>
            <a:r>
              <a:rPr dirty="0" sz="19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sessions</a:t>
            </a:r>
            <a:r>
              <a:rPr dirty="0" sz="1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Microsoft Sans Serif"/>
                <a:cs typeface="Microsoft Sans Serif"/>
              </a:rPr>
              <a:t>into</a:t>
            </a:r>
            <a:r>
              <a:rPr dirty="0" sz="19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30">
                <a:solidFill>
                  <a:srgbClr val="FFFFFF"/>
                </a:solidFill>
                <a:latin typeface="Microsoft Sans Serif"/>
                <a:cs typeface="Microsoft Sans Serif"/>
              </a:rPr>
              <a:t>Weekday</a:t>
            </a:r>
            <a:r>
              <a:rPr dirty="0" sz="19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Microsoft Sans Serif"/>
                <a:cs typeface="Microsoft Sans Serif"/>
              </a:rPr>
              <a:t>vs</a:t>
            </a:r>
            <a:r>
              <a:rPr dirty="0" sz="19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Weekend Compared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20">
                <a:solidFill>
                  <a:srgbClr val="FFFFFF"/>
                </a:solidFill>
                <a:latin typeface="Microsoft Sans Serif"/>
                <a:cs typeface="Microsoft Sans Serif"/>
              </a:rPr>
              <a:t>utilization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patterns</a:t>
            </a:r>
            <a:r>
              <a:rPr dirty="0" sz="19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across</a:t>
            </a:r>
            <a:r>
              <a:rPr dirty="0" sz="19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day</a:t>
            </a:r>
            <a:r>
              <a:rPr dirty="0" sz="195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types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130" y="7236973"/>
            <a:ext cx="95250" cy="952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130" y="8208523"/>
            <a:ext cx="95250" cy="9524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130" y="8694298"/>
            <a:ext cx="95250" cy="9524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130" y="9665848"/>
            <a:ext cx="95250" cy="9524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442205" y="6553524"/>
            <a:ext cx="11202035" cy="333057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5"/>
              </a:spcBef>
            </a:pPr>
            <a:r>
              <a:rPr dirty="0" sz="2450" spc="-26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2450" spc="-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45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2450">
              <a:latin typeface="Arial Black"/>
              <a:cs typeface="Arial Black"/>
            </a:endParaRPr>
          </a:p>
          <a:p>
            <a:pPr algn="just" marL="544830">
              <a:lnSpc>
                <a:spcPct val="100000"/>
              </a:lnSpc>
              <a:spcBef>
                <a:spcPts val="509"/>
              </a:spcBef>
            </a:pPr>
            <a:r>
              <a:rPr dirty="0" sz="2450" spc="-195">
                <a:solidFill>
                  <a:srgbClr val="FFFFFF"/>
                </a:solidFill>
                <a:latin typeface="Arial Black"/>
                <a:cs typeface="Arial Black"/>
              </a:rPr>
              <a:t>Parking</a:t>
            </a:r>
            <a:r>
              <a:rPr dirty="0" sz="24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Arial Black"/>
                <a:cs typeface="Arial Black"/>
              </a:rPr>
              <a:t>utilization</a:t>
            </a:r>
            <a:r>
              <a:rPr dirty="0" sz="245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80">
                <a:solidFill>
                  <a:srgbClr val="FFFFFF"/>
                </a:solidFill>
                <a:latin typeface="Arial Black"/>
                <a:cs typeface="Arial Black"/>
              </a:rPr>
              <a:t>varies</a:t>
            </a:r>
            <a:r>
              <a:rPr dirty="0" sz="24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70">
                <a:solidFill>
                  <a:srgbClr val="FFFFFF"/>
                </a:solidFill>
                <a:latin typeface="Arial Black"/>
                <a:cs typeface="Arial Black"/>
              </a:rPr>
              <a:t>significantly</a:t>
            </a:r>
            <a:r>
              <a:rPr dirty="0" sz="24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55">
                <a:solidFill>
                  <a:srgbClr val="FFFFFF"/>
                </a:solidFill>
                <a:latin typeface="Arial Black"/>
                <a:cs typeface="Arial Black"/>
              </a:rPr>
              <a:t>by</a:t>
            </a:r>
            <a:r>
              <a:rPr dirty="0" sz="245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Arial Black"/>
                <a:cs typeface="Arial Black"/>
              </a:rPr>
              <a:t>lot,</a:t>
            </a:r>
            <a:r>
              <a:rPr dirty="0" sz="24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85">
                <a:solidFill>
                  <a:srgbClr val="FFFFFF"/>
                </a:solidFill>
                <a:latin typeface="Arial Black"/>
                <a:cs typeface="Arial Black"/>
              </a:rPr>
              <a:t>revealing</a:t>
            </a:r>
            <a:r>
              <a:rPr dirty="0" sz="245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50">
                <a:solidFill>
                  <a:srgbClr val="FFFFFF"/>
                </a:solidFill>
                <a:latin typeface="Arial Black"/>
                <a:cs typeface="Arial Black"/>
              </a:rPr>
              <a:t>high</a:t>
            </a:r>
            <a:r>
              <a:rPr dirty="0" sz="245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245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Black"/>
                <a:cs typeface="Arial Black"/>
              </a:rPr>
              <a:t>under-</a:t>
            </a:r>
            <a:endParaRPr sz="2450">
              <a:latin typeface="Arial Black"/>
              <a:cs typeface="Arial Black"/>
            </a:endParaRPr>
          </a:p>
          <a:p>
            <a:pPr algn="just" marL="544830">
              <a:lnSpc>
                <a:spcPct val="100000"/>
              </a:lnSpc>
              <a:spcBef>
                <a:spcPts val="885"/>
              </a:spcBef>
            </a:pPr>
            <a:r>
              <a:rPr dirty="0" sz="2450" spc="-160">
                <a:solidFill>
                  <a:srgbClr val="FFFFFF"/>
                </a:solidFill>
                <a:latin typeface="Arial Black"/>
                <a:cs typeface="Arial Black"/>
              </a:rPr>
              <a:t>performing</a:t>
            </a:r>
            <a:r>
              <a:rPr dirty="0" sz="245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Arial Black"/>
                <a:cs typeface="Arial Black"/>
              </a:rPr>
              <a:t>areas</a:t>
            </a:r>
            <a:endParaRPr sz="2450">
              <a:latin typeface="Arial Black"/>
              <a:cs typeface="Arial Black"/>
            </a:endParaRPr>
          </a:p>
          <a:p>
            <a:pPr algn="just" marL="544830" marR="144780">
              <a:lnSpc>
                <a:spcPct val="130100"/>
              </a:lnSpc>
            </a:pPr>
            <a:r>
              <a:rPr dirty="0" sz="2450" spc="-245">
                <a:solidFill>
                  <a:srgbClr val="FFFFFF"/>
                </a:solidFill>
                <a:latin typeface="Arial Black"/>
                <a:cs typeface="Arial Black"/>
              </a:rPr>
              <a:t>Even</a:t>
            </a:r>
            <a:r>
              <a:rPr dirty="0" sz="2450" spc="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40">
                <a:solidFill>
                  <a:srgbClr val="FFFFFF"/>
                </a:solidFill>
                <a:latin typeface="Arial Black"/>
                <a:cs typeface="Arial Black"/>
              </a:rPr>
              <a:t>top</a:t>
            </a:r>
            <a:r>
              <a:rPr dirty="0" sz="2450" spc="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10">
                <a:solidFill>
                  <a:srgbClr val="FFFFFF"/>
                </a:solidFill>
                <a:latin typeface="Arial Black"/>
                <a:cs typeface="Arial Black"/>
              </a:rPr>
              <a:t>lots</a:t>
            </a:r>
            <a:r>
              <a:rPr dirty="0" sz="2450" spc="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75">
                <a:solidFill>
                  <a:srgbClr val="FFFFFF"/>
                </a:solidFill>
                <a:latin typeface="Arial Black"/>
                <a:cs typeface="Arial Black"/>
              </a:rPr>
              <a:t>show</a:t>
            </a:r>
            <a:r>
              <a:rPr dirty="0" sz="2450" spc="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95">
                <a:solidFill>
                  <a:srgbClr val="FFFFFF"/>
                </a:solidFill>
                <a:latin typeface="Arial Black"/>
                <a:cs typeface="Arial Black"/>
              </a:rPr>
              <a:t>substantial</a:t>
            </a:r>
            <a:r>
              <a:rPr dirty="0" sz="2450" spc="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95">
                <a:solidFill>
                  <a:srgbClr val="FFFFFF"/>
                </a:solidFill>
                <a:latin typeface="Arial Black"/>
                <a:cs typeface="Arial Black"/>
              </a:rPr>
              <a:t>idle</a:t>
            </a:r>
            <a:r>
              <a:rPr dirty="0" sz="2450" spc="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35">
                <a:solidFill>
                  <a:srgbClr val="FFFFFF"/>
                </a:solidFill>
                <a:latin typeface="Arial Black"/>
                <a:cs typeface="Arial Black"/>
              </a:rPr>
              <a:t>capacity</a:t>
            </a:r>
            <a:r>
              <a:rPr dirty="0" sz="245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04">
                <a:solidFill>
                  <a:srgbClr val="FFFFFF"/>
                </a:solidFill>
                <a:latin typeface="Arial Black"/>
                <a:cs typeface="Arial Black"/>
              </a:rPr>
              <a:t>(~20+</a:t>
            </a:r>
            <a:r>
              <a:rPr dirty="0" sz="245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45">
                <a:solidFill>
                  <a:srgbClr val="FFFFFF"/>
                </a:solidFill>
                <a:latin typeface="Arial Black"/>
                <a:cs typeface="Arial Black"/>
              </a:rPr>
              <a:t>hours/day</a:t>
            </a:r>
            <a:r>
              <a:rPr dirty="0" sz="245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20">
                <a:solidFill>
                  <a:srgbClr val="FFFFFF"/>
                </a:solidFill>
                <a:latin typeface="Arial Black"/>
                <a:cs typeface="Arial Black"/>
              </a:rPr>
              <a:t>per</a:t>
            </a:r>
            <a:r>
              <a:rPr dirty="0" sz="245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Black"/>
                <a:cs typeface="Arial Black"/>
              </a:rPr>
              <a:t>slot) </a:t>
            </a:r>
            <a:r>
              <a:rPr dirty="0" sz="2450" spc="-265">
                <a:solidFill>
                  <a:srgbClr val="FFFFFF"/>
                </a:solidFill>
                <a:latin typeface="Arial Black"/>
                <a:cs typeface="Arial Black"/>
              </a:rPr>
              <a:t>Weekday</a:t>
            </a:r>
            <a:r>
              <a:rPr dirty="0" sz="2450" spc="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90">
                <a:solidFill>
                  <a:srgbClr val="FFFFFF"/>
                </a:solidFill>
                <a:latin typeface="Arial Black"/>
                <a:cs typeface="Arial Black"/>
              </a:rPr>
              <a:t>utilization</a:t>
            </a:r>
            <a:r>
              <a:rPr dirty="0" sz="245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65">
                <a:solidFill>
                  <a:srgbClr val="FFFFFF"/>
                </a:solidFill>
                <a:latin typeface="Arial Black"/>
                <a:cs typeface="Arial Black"/>
              </a:rPr>
              <a:t>exceeds</a:t>
            </a:r>
            <a:r>
              <a:rPr dirty="0" sz="2450" spc="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60">
                <a:solidFill>
                  <a:srgbClr val="FFFFFF"/>
                </a:solidFill>
                <a:latin typeface="Arial Black"/>
                <a:cs typeface="Arial Black"/>
              </a:rPr>
              <a:t>weekend,</a:t>
            </a:r>
            <a:r>
              <a:rPr dirty="0" sz="2450" spc="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90">
                <a:solidFill>
                  <a:srgbClr val="FFFFFF"/>
                </a:solidFill>
                <a:latin typeface="Arial Black"/>
                <a:cs typeface="Arial Black"/>
              </a:rPr>
              <a:t>indicating</a:t>
            </a:r>
            <a:r>
              <a:rPr dirty="0" sz="2450" spc="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20">
                <a:solidFill>
                  <a:srgbClr val="FFFFFF"/>
                </a:solidFill>
                <a:latin typeface="Arial Black"/>
                <a:cs typeface="Arial Black"/>
              </a:rPr>
              <a:t>demand</a:t>
            </a:r>
            <a:r>
              <a:rPr dirty="0" sz="245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25">
                <a:solidFill>
                  <a:srgbClr val="FFFFFF"/>
                </a:solidFill>
                <a:latin typeface="Arial Black"/>
                <a:cs typeface="Arial Black"/>
              </a:rPr>
              <a:t>is</a:t>
            </a:r>
            <a:r>
              <a:rPr dirty="0" sz="2450" spc="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70">
                <a:solidFill>
                  <a:srgbClr val="FFFFFF"/>
                </a:solidFill>
                <a:latin typeface="Arial Black"/>
                <a:cs typeface="Arial Black"/>
              </a:rPr>
              <a:t>business- </a:t>
            </a:r>
            <a:r>
              <a:rPr dirty="0" sz="2450" spc="-10">
                <a:solidFill>
                  <a:srgbClr val="FFFFFF"/>
                </a:solidFill>
                <a:latin typeface="Arial Black"/>
                <a:cs typeface="Arial Black"/>
              </a:rPr>
              <a:t>driven</a:t>
            </a:r>
            <a:endParaRPr sz="2450">
              <a:latin typeface="Arial Black"/>
              <a:cs typeface="Arial Black"/>
            </a:endParaRPr>
          </a:p>
          <a:p>
            <a:pPr algn="just" marL="544830">
              <a:lnSpc>
                <a:spcPct val="100000"/>
              </a:lnSpc>
              <a:spcBef>
                <a:spcPts val="885"/>
              </a:spcBef>
            </a:pPr>
            <a:r>
              <a:rPr dirty="0" sz="2450" spc="-185">
                <a:solidFill>
                  <a:srgbClr val="FFFFFF"/>
                </a:solidFill>
                <a:latin typeface="Arial Black"/>
                <a:cs typeface="Arial Black"/>
              </a:rPr>
              <a:t>Overall</a:t>
            </a:r>
            <a:r>
              <a:rPr dirty="0" sz="245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75">
                <a:solidFill>
                  <a:srgbClr val="FFFFFF"/>
                </a:solidFill>
                <a:latin typeface="Arial Black"/>
                <a:cs typeface="Arial Black"/>
              </a:rPr>
              <a:t>utilization</a:t>
            </a:r>
            <a:r>
              <a:rPr dirty="0" sz="2450" spc="-1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90">
                <a:solidFill>
                  <a:srgbClr val="FFFFFF"/>
                </a:solidFill>
                <a:latin typeface="Arial Black"/>
                <a:cs typeface="Arial Black"/>
              </a:rPr>
              <a:t>remains</a:t>
            </a:r>
            <a:r>
              <a:rPr dirty="0" sz="245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250">
                <a:solidFill>
                  <a:srgbClr val="FFFFFF"/>
                </a:solidFill>
                <a:latin typeface="Arial Black"/>
                <a:cs typeface="Arial Black"/>
              </a:rPr>
              <a:t>low,</a:t>
            </a:r>
            <a:r>
              <a:rPr dirty="0" sz="2450" spc="-1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55">
                <a:solidFill>
                  <a:srgbClr val="FFFFFF"/>
                </a:solidFill>
                <a:latin typeface="Arial Black"/>
                <a:cs typeface="Arial Black"/>
              </a:rPr>
              <a:t>highlighting</a:t>
            </a:r>
            <a:r>
              <a:rPr dirty="0" sz="245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85">
                <a:solidFill>
                  <a:srgbClr val="FFFFFF"/>
                </a:solidFill>
                <a:latin typeface="Arial Black"/>
                <a:cs typeface="Arial Black"/>
              </a:rPr>
              <a:t>large</a:t>
            </a:r>
            <a:r>
              <a:rPr dirty="0" sz="2450" spc="-1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85">
                <a:solidFill>
                  <a:srgbClr val="FFFFFF"/>
                </a:solidFill>
                <a:latin typeface="Arial Black"/>
                <a:cs typeface="Arial Black"/>
              </a:rPr>
              <a:t>optimization</a:t>
            </a:r>
            <a:r>
              <a:rPr dirty="0" sz="2450" spc="-1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105">
                <a:solidFill>
                  <a:srgbClr val="FFFFFF"/>
                </a:solidFill>
                <a:latin typeface="Arial Black"/>
                <a:cs typeface="Arial Black"/>
              </a:rPr>
              <a:t>potential</a:t>
            </a:r>
            <a:endParaRPr sz="2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877" y="138223"/>
            <a:ext cx="18077815" cy="1066800"/>
          </a:xfrm>
          <a:custGeom>
            <a:avLst/>
            <a:gdLst/>
            <a:ahLst/>
            <a:cxnLst/>
            <a:rect l="l" t="t" r="r" b="b"/>
            <a:pathLst>
              <a:path w="18077815" h="1066800">
                <a:moveTo>
                  <a:pt x="17830227" y="1066805"/>
                </a:moveTo>
                <a:lnTo>
                  <a:pt x="247635" y="1066805"/>
                </a:lnTo>
                <a:lnTo>
                  <a:pt x="199098" y="1062003"/>
                </a:lnTo>
                <a:lnTo>
                  <a:pt x="152869" y="1047955"/>
                </a:lnTo>
                <a:lnTo>
                  <a:pt x="110247" y="1025199"/>
                </a:lnTo>
                <a:lnTo>
                  <a:pt x="72530" y="994274"/>
                </a:lnTo>
                <a:lnTo>
                  <a:pt x="41605" y="956558"/>
                </a:lnTo>
                <a:lnTo>
                  <a:pt x="18850" y="913936"/>
                </a:lnTo>
                <a:lnTo>
                  <a:pt x="4802" y="867706"/>
                </a:lnTo>
                <a:lnTo>
                  <a:pt x="0" y="819170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4" y="4802"/>
                </a:lnTo>
                <a:lnTo>
                  <a:pt x="17924993" y="18850"/>
                </a:lnTo>
                <a:lnTo>
                  <a:pt x="17967616" y="41605"/>
                </a:lnTo>
                <a:lnTo>
                  <a:pt x="18005333" y="72530"/>
                </a:lnTo>
                <a:lnTo>
                  <a:pt x="18036257" y="110247"/>
                </a:lnTo>
                <a:lnTo>
                  <a:pt x="18059012" y="152869"/>
                </a:lnTo>
                <a:lnTo>
                  <a:pt x="18073060" y="199098"/>
                </a:lnTo>
                <a:lnTo>
                  <a:pt x="18077352" y="242486"/>
                </a:lnTo>
                <a:lnTo>
                  <a:pt x="18077352" y="824319"/>
                </a:lnTo>
                <a:lnTo>
                  <a:pt x="18073060" y="867706"/>
                </a:lnTo>
                <a:lnTo>
                  <a:pt x="18059012" y="913936"/>
                </a:lnTo>
                <a:lnTo>
                  <a:pt x="18036257" y="956558"/>
                </a:lnTo>
                <a:lnTo>
                  <a:pt x="18005333" y="994274"/>
                </a:lnTo>
                <a:lnTo>
                  <a:pt x="17967616" y="1025199"/>
                </a:lnTo>
                <a:lnTo>
                  <a:pt x="17924993" y="1047955"/>
                </a:lnTo>
                <a:lnTo>
                  <a:pt x="17878764" y="1062003"/>
                </a:lnTo>
                <a:lnTo>
                  <a:pt x="17830227" y="1066805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7877" y="1306633"/>
            <a:ext cx="12259310" cy="4060825"/>
          </a:xfrm>
          <a:custGeom>
            <a:avLst/>
            <a:gdLst/>
            <a:ahLst/>
            <a:cxnLst/>
            <a:rect l="l" t="t" r="r" b="b"/>
            <a:pathLst>
              <a:path w="12259310" h="4060825">
                <a:moveTo>
                  <a:pt x="11773271" y="4060727"/>
                </a:moveTo>
                <a:lnTo>
                  <a:pt x="485774" y="4060727"/>
                </a:lnTo>
                <a:lnTo>
                  <a:pt x="437762" y="4058350"/>
                </a:lnTo>
                <a:lnTo>
                  <a:pt x="390562" y="4051307"/>
                </a:lnTo>
                <a:lnTo>
                  <a:pt x="344494" y="4039730"/>
                </a:lnTo>
                <a:lnTo>
                  <a:pt x="299876" y="4023750"/>
                </a:lnTo>
                <a:lnTo>
                  <a:pt x="257028" y="4003500"/>
                </a:lnTo>
                <a:lnTo>
                  <a:pt x="216266" y="3979112"/>
                </a:lnTo>
                <a:lnTo>
                  <a:pt x="177911" y="3950717"/>
                </a:lnTo>
                <a:lnTo>
                  <a:pt x="142280" y="3918447"/>
                </a:lnTo>
                <a:lnTo>
                  <a:pt x="110010" y="3882816"/>
                </a:lnTo>
                <a:lnTo>
                  <a:pt x="81615" y="3844461"/>
                </a:lnTo>
                <a:lnTo>
                  <a:pt x="57227" y="3803699"/>
                </a:lnTo>
                <a:lnTo>
                  <a:pt x="36977" y="3760850"/>
                </a:lnTo>
                <a:lnTo>
                  <a:pt x="20997" y="3716233"/>
                </a:lnTo>
                <a:lnTo>
                  <a:pt x="9420" y="3670165"/>
                </a:lnTo>
                <a:lnTo>
                  <a:pt x="2377" y="3622965"/>
                </a:lnTo>
                <a:lnTo>
                  <a:pt x="0" y="357495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1773271" y="0"/>
                </a:lnTo>
                <a:lnTo>
                  <a:pt x="11821284" y="2377"/>
                </a:lnTo>
                <a:lnTo>
                  <a:pt x="11868484" y="9420"/>
                </a:lnTo>
                <a:lnTo>
                  <a:pt x="11914552" y="20997"/>
                </a:lnTo>
                <a:lnTo>
                  <a:pt x="11959169" y="36977"/>
                </a:lnTo>
                <a:lnTo>
                  <a:pt x="12002018" y="57227"/>
                </a:lnTo>
                <a:lnTo>
                  <a:pt x="12042779" y="81615"/>
                </a:lnTo>
                <a:lnTo>
                  <a:pt x="12081135" y="110010"/>
                </a:lnTo>
                <a:lnTo>
                  <a:pt x="12116765" y="142280"/>
                </a:lnTo>
                <a:lnTo>
                  <a:pt x="12149035" y="177911"/>
                </a:lnTo>
                <a:lnTo>
                  <a:pt x="12177430" y="216266"/>
                </a:lnTo>
                <a:lnTo>
                  <a:pt x="12201819" y="257028"/>
                </a:lnTo>
                <a:lnTo>
                  <a:pt x="12222069" y="299876"/>
                </a:lnTo>
                <a:lnTo>
                  <a:pt x="12238049" y="344494"/>
                </a:lnTo>
                <a:lnTo>
                  <a:pt x="12249626" y="390562"/>
                </a:lnTo>
                <a:lnTo>
                  <a:pt x="12256670" y="437762"/>
                </a:lnTo>
                <a:lnTo>
                  <a:pt x="12259047" y="485775"/>
                </a:lnTo>
                <a:lnTo>
                  <a:pt x="12259047" y="3574952"/>
                </a:lnTo>
                <a:lnTo>
                  <a:pt x="12256670" y="3622965"/>
                </a:lnTo>
                <a:lnTo>
                  <a:pt x="12249626" y="3670165"/>
                </a:lnTo>
                <a:lnTo>
                  <a:pt x="12238049" y="3716233"/>
                </a:lnTo>
                <a:lnTo>
                  <a:pt x="12222069" y="3760850"/>
                </a:lnTo>
                <a:lnTo>
                  <a:pt x="12201819" y="3803699"/>
                </a:lnTo>
                <a:lnTo>
                  <a:pt x="12177430" y="3844461"/>
                </a:lnTo>
                <a:lnTo>
                  <a:pt x="12149035" y="3882816"/>
                </a:lnTo>
                <a:lnTo>
                  <a:pt x="12116765" y="3918447"/>
                </a:lnTo>
                <a:lnTo>
                  <a:pt x="12081135" y="3950717"/>
                </a:lnTo>
                <a:lnTo>
                  <a:pt x="12042779" y="3979112"/>
                </a:lnTo>
                <a:lnTo>
                  <a:pt x="12002018" y="4003500"/>
                </a:lnTo>
                <a:lnTo>
                  <a:pt x="11959169" y="4023750"/>
                </a:lnTo>
                <a:lnTo>
                  <a:pt x="11914552" y="4039730"/>
                </a:lnTo>
                <a:lnTo>
                  <a:pt x="11868484" y="4051307"/>
                </a:lnTo>
                <a:lnTo>
                  <a:pt x="11821284" y="4058350"/>
                </a:lnTo>
                <a:lnTo>
                  <a:pt x="11773271" y="4060727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7877" y="5823680"/>
            <a:ext cx="12250420" cy="4463415"/>
          </a:xfrm>
          <a:custGeom>
            <a:avLst/>
            <a:gdLst/>
            <a:ahLst/>
            <a:cxnLst/>
            <a:rect l="l" t="t" r="r" b="b"/>
            <a:pathLst>
              <a:path w="12250420" h="4463415">
                <a:moveTo>
                  <a:pt x="12060771" y="4463319"/>
                </a:moveTo>
                <a:lnTo>
                  <a:pt x="198275" y="4463319"/>
                </a:lnTo>
                <a:lnTo>
                  <a:pt x="177911" y="4448243"/>
                </a:lnTo>
                <a:lnTo>
                  <a:pt x="142280" y="4415974"/>
                </a:lnTo>
                <a:lnTo>
                  <a:pt x="110010" y="4380343"/>
                </a:lnTo>
                <a:lnTo>
                  <a:pt x="81615" y="4341987"/>
                </a:lnTo>
                <a:lnTo>
                  <a:pt x="57227" y="4301226"/>
                </a:lnTo>
                <a:lnTo>
                  <a:pt x="36977" y="4258377"/>
                </a:lnTo>
                <a:lnTo>
                  <a:pt x="20997" y="4213759"/>
                </a:lnTo>
                <a:lnTo>
                  <a:pt x="9420" y="4167691"/>
                </a:lnTo>
                <a:lnTo>
                  <a:pt x="2377" y="4120492"/>
                </a:lnTo>
                <a:lnTo>
                  <a:pt x="0" y="4072479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1773271" y="0"/>
                </a:lnTo>
                <a:lnTo>
                  <a:pt x="11821284" y="2377"/>
                </a:lnTo>
                <a:lnTo>
                  <a:pt x="11868484" y="9420"/>
                </a:lnTo>
                <a:lnTo>
                  <a:pt x="11914552" y="20997"/>
                </a:lnTo>
                <a:lnTo>
                  <a:pt x="11959169" y="36977"/>
                </a:lnTo>
                <a:lnTo>
                  <a:pt x="12002018" y="57227"/>
                </a:lnTo>
                <a:lnTo>
                  <a:pt x="12042780" y="81615"/>
                </a:lnTo>
                <a:lnTo>
                  <a:pt x="12081135" y="110010"/>
                </a:lnTo>
                <a:lnTo>
                  <a:pt x="12116766" y="142280"/>
                </a:lnTo>
                <a:lnTo>
                  <a:pt x="12149036" y="177911"/>
                </a:lnTo>
                <a:lnTo>
                  <a:pt x="12177430" y="216266"/>
                </a:lnTo>
                <a:lnTo>
                  <a:pt x="12201819" y="257028"/>
                </a:lnTo>
                <a:lnTo>
                  <a:pt x="12222069" y="299877"/>
                </a:lnTo>
                <a:lnTo>
                  <a:pt x="12238049" y="344494"/>
                </a:lnTo>
                <a:lnTo>
                  <a:pt x="12249626" y="390562"/>
                </a:lnTo>
                <a:lnTo>
                  <a:pt x="12250308" y="395126"/>
                </a:lnTo>
                <a:lnTo>
                  <a:pt x="12250308" y="4163127"/>
                </a:lnTo>
                <a:lnTo>
                  <a:pt x="12238049" y="4213759"/>
                </a:lnTo>
                <a:lnTo>
                  <a:pt x="12222069" y="4258377"/>
                </a:lnTo>
                <a:lnTo>
                  <a:pt x="12201819" y="4301226"/>
                </a:lnTo>
                <a:lnTo>
                  <a:pt x="12177430" y="4341987"/>
                </a:lnTo>
                <a:lnTo>
                  <a:pt x="12149036" y="4380343"/>
                </a:lnTo>
                <a:lnTo>
                  <a:pt x="12116766" y="4415974"/>
                </a:lnTo>
                <a:lnTo>
                  <a:pt x="12081135" y="4448243"/>
                </a:lnTo>
                <a:lnTo>
                  <a:pt x="12060771" y="4463319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32751" y="622991"/>
            <a:ext cx="3543299" cy="19621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5203" y="2727470"/>
            <a:ext cx="4124324" cy="1990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46224" y="4952768"/>
            <a:ext cx="4676774" cy="50387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672736" y="432421"/>
            <a:ext cx="10482580" cy="434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COMPLIANCE</a:t>
            </a:r>
            <a:r>
              <a:rPr dirty="0" sz="26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dirty="0" sz="2650" spc="-1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HOTSPOT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ANALYSIS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2205" y="1751271"/>
            <a:ext cx="2356485" cy="4451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240"/>
              <a:t>What</a:t>
            </a:r>
            <a:r>
              <a:rPr dirty="0" sz="2750" spc="-150"/>
              <a:t> </a:t>
            </a:r>
            <a:r>
              <a:rPr dirty="0" sz="2750" spc="-185"/>
              <a:t>SQL</a:t>
            </a:r>
            <a:r>
              <a:rPr dirty="0" sz="2750" spc="-155"/>
              <a:t> </a:t>
            </a:r>
            <a:r>
              <a:rPr dirty="0" sz="2750" spc="-90"/>
              <a:t>Did</a:t>
            </a:r>
            <a:endParaRPr sz="2750"/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130" y="2418530"/>
            <a:ext cx="95250" cy="952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130" y="2847155"/>
            <a:ext cx="95250" cy="952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130" y="3704405"/>
            <a:ext cx="95250" cy="952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0180" y="4142555"/>
            <a:ext cx="104775" cy="10477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972033" y="2182411"/>
            <a:ext cx="10306050" cy="2669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  <a:tabLst>
                <a:tab pos="1823720" algn="l"/>
                <a:tab pos="3320415" algn="l"/>
                <a:tab pos="3846829" algn="l"/>
                <a:tab pos="5068570" algn="l"/>
                <a:tab pos="6467475" algn="l"/>
                <a:tab pos="7190105" algn="l"/>
                <a:tab pos="8799195" algn="l"/>
              </a:tabLst>
            </a:pP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Grouped</a:t>
            </a:r>
            <a:r>
              <a:rPr dirty="0" sz="2450" spc="-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violations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penalty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Microsoft Sans Serif"/>
                <a:cs typeface="Microsoft Sans Serif"/>
              </a:rPr>
              <a:t>severity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level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understand</a:t>
            </a:r>
            <a:r>
              <a:rPr dirty="0" sz="2450" spc="-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risk</a:t>
            </a:r>
            <a:r>
              <a:rPr dirty="0" sz="24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distribution Aggregated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violations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outcome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associated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penalty</a:t>
            </a:r>
            <a:r>
              <a:rPr dirty="0" sz="2450" spc="-1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endParaRPr sz="2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Computed</a:t>
            </a:r>
            <a:r>
              <a:rPr dirty="0" sz="2450" spc="-1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lot-</a:t>
            </a: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level</a:t>
            </a:r>
            <a:r>
              <a:rPr dirty="0" sz="24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4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rates</a:t>
            </a:r>
            <a:r>
              <a:rPr dirty="0" sz="24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4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joining</a:t>
            </a:r>
            <a:r>
              <a:rPr dirty="0" sz="2450" spc="-1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sessions</a:t>
            </a:r>
            <a:r>
              <a:rPr dirty="0" sz="24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dirty="0" sz="2450" spc="-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violations</a:t>
            </a:r>
            <a:endParaRPr sz="2450">
              <a:latin typeface="Microsoft Sans Serif"/>
              <a:cs typeface="Microsoft Sans Serif"/>
            </a:endParaRPr>
          </a:p>
          <a:p>
            <a:pPr marL="57785" marR="5080">
              <a:lnSpc>
                <a:spcPts val="3679"/>
              </a:lnSpc>
              <a:spcBef>
                <a:spcPts val="55"/>
              </a:spcBef>
              <a:tabLst>
                <a:tab pos="1534795" algn="l"/>
                <a:tab pos="2317750" algn="l"/>
                <a:tab pos="4104004" algn="l"/>
                <a:tab pos="4828540" algn="l"/>
                <a:tab pos="5761990" algn="l"/>
                <a:tab pos="6874509" algn="l"/>
                <a:tab pos="8366759" algn="l"/>
                <a:tab pos="10009505" algn="l"/>
              </a:tabLst>
            </a:pP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Flagged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lots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exceeding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10%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target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to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generate</a:t>
            </a:r>
            <a:r>
              <a:rPr dirty="0" sz="26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dirty="0" sz="26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actionable</a:t>
            </a:r>
            <a:r>
              <a:rPr dirty="0" sz="265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enforcement</a:t>
            </a:r>
            <a:r>
              <a:rPr dirty="0" sz="26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list</a:t>
            </a:r>
            <a:endParaRPr sz="2650">
              <a:latin typeface="Microsoft Sans Serif"/>
              <a:cs typeface="Microsoft Sans Serif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096" y="6682948"/>
            <a:ext cx="104775" cy="10477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096" y="7635448"/>
            <a:ext cx="104775" cy="10477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1096" y="8587948"/>
            <a:ext cx="104775" cy="10477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1571" y="9521398"/>
            <a:ext cx="104775" cy="1047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403596" y="5893591"/>
            <a:ext cx="11334750" cy="4336415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2850" spc="-300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285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850" spc="-60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2850">
              <a:latin typeface="Arial Black"/>
              <a:cs typeface="Arial Black"/>
            </a:endParaRPr>
          </a:p>
          <a:p>
            <a:pPr marL="591820" marR="535305">
              <a:lnSpc>
                <a:spcPct val="117900"/>
              </a:lnSpc>
              <a:spcBef>
                <a:spcPts val="35"/>
              </a:spcBef>
            </a:pP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Higher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penalty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severity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levels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account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disproportionate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share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5">
                <a:solidFill>
                  <a:srgbClr val="FFFFFF"/>
                </a:solidFill>
                <a:latin typeface="Microsoft Sans Serif"/>
                <a:cs typeface="Microsoft Sans Serif"/>
              </a:rPr>
              <a:t>of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violations</a:t>
            </a:r>
            <a:endParaRPr sz="2650">
              <a:latin typeface="Microsoft Sans Serif"/>
              <a:cs typeface="Microsoft Sans Serif"/>
            </a:endParaRPr>
          </a:p>
          <a:p>
            <a:pPr marL="591820" marR="892810">
              <a:lnSpc>
                <a:spcPct val="117900"/>
              </a:lnSpc>
            </a:pP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Overstayed</a:t>
            </a:r>
            <a:r>
              <a:rPr dirty="0" sz="26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outcomes</a:t>
            </a:r>
            <a:r>
              <a:rPr dirty="0" sz="26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dominate</a:t>
            </a:r>
            <a:r>
              <a:rPr dirty="0" sz="26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both</a:t>
            </a:r>
            <a:r>
              <a:rPr dirty="0" sz="26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6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volume</a:t>
            </a:r>
            <a:r>
              <a:rPr dirty="0" sz="26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6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penalty revenue</a:t>
            </a:r>
            <a:endParaRPr sz="2650">
              <a:latin typeface="Microsoft Sans Serif"/>
              <a:cs typeface="Microsoft Sans Serif"/>
            </a:endParaRPr>
          </a:p>
          <a:p>
            <a:pPr marL="591820" marR="22225">
              <a:lnSpc>
                <a:spcPct val="117900"/>
              </a:lnSpc>
            </a:pP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Several</a:t>
            </a:r>
            <a:r>
              <a:rPr dirty="0" sz="26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lots</a:t>
            </a:r>
            <a:r>
              <a:rPr dirty="0" sz="26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breach</a:t>
            </a:r>
            <a:r>
              <a:rPr dirty="0" sz="26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6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10%</a:t>
            </a:r>
            <a:r>
              <a:rPr dirty="0" sz="26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6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benchmark,</a:t>
            </a:r>
            <a:r>
              <a:rPr dirty="0" sz="26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26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compliance hotspots</a:t>
            </a:r>
            <a:endParaRPr sz="2650">
              <a:latin typeface="Microsoft Sans Serif"/>
              <a:cs typeface="Microsoft Sans Serif"/>
            </a:endParaRPr>
          </a:p>
          <a:p>
            <a:pPr marL="581025" marR="5080">
              <a:lnSpc>
                <a:spcPts val="3679"/>
              </a:lnSpc>
              <a:spcBef>
                <a:spcPts val="90"/>
              </a:spcBef>
            </a:pP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rates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vary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significantly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60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location,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enabling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>
                <a:solidFill>
                  <a:srgbClr val="FFFFFF"/>
                </a:solidFill>
                <a:latin typeface="Microsoft Sans Serif"/>
                <a:cs typeface="Microsoft Sans Serif"/>
              </a:rPr>
              <a:t>targeted</a:t>
            </a:r>
            <a:r>
              <a:rPr dirty="0" sz="26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Microsoft Sans Serif"/>
                <a:cs typeface="Microsoft Sans Serif"/>
              </a:rPr>
              <a:t>operational intervention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877" y="138223"/>
            <a:ext cx="18077815" cy="1066800"/>
          </a:xfrm>
          <a:custGeom>
            <a:avLst/>
            <a:gdLst/>
            <a:ahLst/>
            <a:cxnLst/>
            <a:rect l="l" t="t" r="r" b="b"/>
            <a:pathLst>
              <a:path w="18077815" h="1066800">
                <a:moveTo>
                  <a:pt x="17830227" y="1066805"/>
                </a:moveTo>
                <a:lnTo>
                  <a:pt x="247635" y="1066805"/>
                </a:lnTo>
                <a:lnTo>
                  <a:pt x="199098" y="1062003"/>
                </a:lnTo>
                <a:lnTo>
                  <a:pt x="152869" y="1047955"/>
                </a:lnTo>
                <a:lnTo>
                  <a:pt x="110247" y="1025199"/>
                </a:lnTo>
                <a:lnTo>
                  <a:pt x="72530" y="994274"/>
                </a:lnTo>
                <a:lnTo>
                  <a:pt x="41605" y="956558"/>
                </a:lnTo>
                <a:lnTo>
                  <a:pt x="18850" y="913936"/>
                </a:lnTo>
                <a:lnTo>
                  <a:pt x="4802" y="867706"/>
                </a:lnTo>
                <a:lnTo>
                  <a:pt x="0" y="819170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830227" y="0"/>
                </a:lnTo>
                <a:lnTo>
                  <a:pt x="17878764" y="4802"/>
                </a:lnTo>
                <a:lnTo>
                  <a:pt x="17924993" y="18850"/>
                </a:lnTo>
                <a:lnTo>
                  <a:pt x="17967616" y="41605"/>
                </a:lnTo>
                <a:lnTo>
                  <a:pt x="18005333" y="72530"/>
                </a:lnTo>
                <a:lnTo>
                  <a:pt x="18036257" y="110247"/>
                </a:lnTo>
                <a:lnTo>
                  <a:pt x="18059012" y="152869"/>
                </a:lnTo>
                <a:lnTo>
                  <a:pt x="18073060" y="199098"/>
                </a:lnTo>
                <a:lnTo>
                  <a:pt x="18077352" y="242486"/>
                </a:lnTo>
                <a:lnTo>
                  <a:pt x="18077352" y="824319"/>
                </a:lnTo>
                <a:lnTo>
                  <a:pt x="18073060" y="867706"/>
                </a:lnTo>
                <a:lnTo>
                  <a:pt x="18059012" y="913936"/>
                </a:lnTo>
                <a:lnTo>
                  <a:pt x="18036257" y="956558"/>
                </a:lnTo>
                <a:lnTo>
                  <a:pt x="18005333" y="994274"/>
                </a:lnTo>
                <a:lnTo>
                  <a:pt x="17967616" y="1025199"/>
                </a:lnTo>
                <a:lnTo>
                  <a:pt x="17924993" y="1047955"/>
                </a:lnTo>
                <a:lnTo>
                  <a:pt x="17878764" y="1062003"/>
                </a:lnTo>
                <a:lnTo>
                  <a:pt x="17830227" y="1066805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7877" y="1306633"/>
            <a:ext cx="12259310" cy="4060825"/>
          </a:xfrm>
          <a:custGeom>
            <a:avLst/>
            <a:gdLst/>
            <a:ahLst/>
            <a:cxnLst/>
            <a:rect l="l" t="t" r="r" b="b"/>
            <a:pathLst>
              <a:path w="12259310" h="4060825">
                <a:moveTo>
                  <a:pt x="11773271" y="4060727"/>
                </a:moveTo>
                <a:lnTo>
                  <a:pt x="485774" y="4060727"/>
                </a:lnTo>
                <a:lnTo>
                  <a:pt x="437762" y="4058350"/>
                </a:lnTo>
                <a:lnTo>
                  <a:pt x="390562" y="4051307"/>
                </a:lnTo>
                <a:lnTo>
                  <a:pt x="344494" y="4039730"/>
                </a:lnTo>
                <a:lnTo>
                  <a:pt x="299876" y="4023750"/>
                </a:lnTo>
                <a:lnTo>
                  <a:pt x="257028" y="4003500"/>
                </a:lnTo>
                <a:lnTo>
                  <a:pt x="216266" y="3979112"/>
                </a:lnTo>
                <a:lnTo>
                  <a:pt x="177911" y="3950717"/>
                </a:lnTo>
                <a:lnTo>
                  <a:pt x="142280" y="3918447"/>
                </a:lnTo>
                <a:lnTo>
                  <a:pt x="110010" y="3882816"/>
                </a:lnTo>
                <a:lnTo>
                  <a:pt x="81615" y="3844461"/>
                </a:lnTo>
                <a:lnTo>
                  <a:pt x="57227" y="3803699"/>
                </a:lnTo>
                <a:lnTo>
                  <a:pt x="36977" y="3760850"/>
                </a:lnTo>
                <a:lnTo>
                  <a:pt x="20997" y="3716233"/>
                </a:lnTo>
                <a:lnTo>
                  <a:pt x="9420" y="3670165"/>
                </a:lnTo>
                <a:lnTo>
                  <a:pt x="2377" y="3622965"/>
                </a:lnTo>
                <a:lnTo>
                  <a:pt x="0" y="3574952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1773271" y="0"/>
                </a:lnTo>
                <a:lnTo>
                  <a:pt x="11821284" y="2377"/>
                </a:lnTo>
                <a:lnTo>
                  <a:pt x="11868484" y="9420"/>
                </a:lnTo>
                <a:lnTo>
                  <a:pt x="11914552" y="20997"/>
                </a:lnTo>
                <a:lnTo>
                  <a:pt x="11959169" y="36977"/>
                </a:lnTo>
                <a:lnTo>
                  <a:pt x="12002018" y="57227"/>
                </a:lnTo>
                <a:lnTo>
                  <a:pt x="12042779" y="81615"/>
                </a:lnTo>
                <a:lnTo>
                  <a:pt x="12081135" y="110010"/>
                </a:lnTo>
                <a:lnTo>
                  <a:pt x="12116765" y="142280"/>
                </a:lnTo>
                <a:lnTo>
                  <a:pt x="12149035" y="177911"/>
                </a:lnTo>
                <a:lnTo>
                  <a:pt x="12177430" y="216266"/>
                </a:lnTo>
                <a:lnTo>
                  <a:pt x="12201819" y="257028"/>
                </a:lnTo>
                <a:lnTo>
                  <a:pt x="12222069" y="299876"/>
                </a:lnTo>
                <a:lnTo>
                  <a:pt x="12238049" y="344494"/>
                </a:lnTo>
                <a:lnTo>
                  <a:pt x="12249626" y="390562"/>
                </a:lnTo>
                <a:lnTo>
                  <a:pt x="12256670" y="437762"/>
                </a:lnTo>
                <a:lnTo>
                  <a:pt x="12259047" y="485775"/>
                </a:lnTo>
                <a:lnTo>
                  <a:pt x="12259047" y="3574952"/>
                </a:lnTo>
                <a:lnTo>
                  <a:pt x="12256670" y="3622965"/>
                </a:lnTo>
                <a:lnTo>
                  <a:pt x="12249626" y="3670165"/>
                </a:lnTo>
                <a:lnTo>
                  <a:pt x="12238049" y="3716233"/>
                </a:lnTo>
                <a:lnTo>
                  <a:pt x="12222069" y="3760850"/>
                </a:lnTo>
                <a:lnTo>
                  <a:pt x="12201819" y="3803699"/>
                </a:lnTo>
                <a:lnTo>
                  <a:pt x="12177430" y="3844461"/>
                </a:lnTo>
                <a:lnTo>
                  <a:pt x="12149035" y="3882816"/>
                </a:lnTo>
                <a:lnTo>
                  <a:pt x="12116765" y="3918447"/>
                </a:lnTo>
                <a:lnTo>
                  <a:pt x="12081135" y="3950717"/>
                </a:lnTo>
                <a:lnTo>
                  <a:pt x="12042779" y="3979112"/>
                </a:lnTo>
                <a:lnTo>
                  <a:pt x="12002018" y="4003500"/>
                </a:lnTo>
                <a:lnTo>
                  <a:pt x="11959169" y="4023750"/>
                </a:lnTo>
                <a:lnTo>
                  <a:pt x="11914552" y="4039730"/>
                </a:lnTo>
                <a:lnTo>
                  <a:pt x="11868484" y="4051307"/>
                </a:lnTo>
                <a:lnTo>
                  <a:pt x="11821284" y="4058350"/>
                </a:lnTo>
                <a:lnTo>
                  <a:pt x="11773271" y="4060727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7877" y="5823680"/>
            <a:ext cx="12250420" cy="4463415"/>
          </a:xfrm>
          <a:custGeom>
            <a:avLst/>
            <a:gdLst/>
            <a:ahLst/>
            <a:cxnLst/>
            <a:rect l="l" t="t" r="r" b="b"/>
            <a:pathLst>
              <a:path w="12250420" h="4463415">
                <a:moveTo>
                  <a:pt x="12060771" y="4463319"/>
                </a:moveTo>
                <a:lnTo>
                  <a:pt x="198275" y="4463319"/>
                </a:lnTo>
                <a:lnTo>
                  <a:pt x="177911" y="4448243"/>
                </a:lnTo>
                <a:lnTo>
                  <a:pt x="142280" y="4415974"/>
                </a:lnTo>
                <a:lnTo>
                  <a:pt x="110010" y="4380343"/>
                </a:lnTo>
                <a:lnTo>
                  <a:pt x="81615" y="4341987"/>
                </a:lnTo>
                <a:lnTo>
                  <a:pt x="57227" y="4301226"/>
                </a:lnTo>
                <a:lnTo>
                  <a:pt x="36977" y="4258377"/>
                </a:lnTo>
                <a:lnTo>
                  <a:pt x="20997" y="4213759"/>
                </a:lnTo>
                <a:lnTo>
                  <a:pt x="9420" y="4167691"/>
                </a:lnTo>
                <a:lnTo>
                  <a:pt x="2377" y="4120492"/>
                </a:lnTo>
                <a:lnTo>
                  <a:pt x="0" y="4072479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11773271" y="0"/>
                </a:lnTo>
                <a:lnTo>
                  <a:pt x="11821284" y="2377"/>
                </a:lnTo>
                <a:lnTo>
                  <a:pt x="11868484" y="9420"/>
                </a:lnTo>
                <a:lnTo>
                  <a:pt x="11914552" y="20997"/>
                </a:lnTo>
                <a:lnTo>
                  <a:pt x="11959169" y="36977"/>
                </a:lnTo>
                <a:lnTo>
                  <a:pt x="12002018" y="57227"/>
                </a:lnTo>
                <a:lnTo>
                  <a:pt x="12042780" y="81615"/>
                </a:lnTo>
                <a:lnTo>
                  <a:pt x="12081135" y="110010"/>
                </a:lnTo>
                <a:lnTo>
                  <a:pt x="12116766" y="142280"/>
                </a:lnTo>
                <a:lnTo>
                  <a:pt x="12149036" y="177911"/>
                </a:lnTo>
                <a:lnTo>
                  <a:pt x="12177430" y="216266"/>
                </a:lnTo>
                <a:lnTo>
                  <a:pt x="12201819" y="257028"/>
                </a:lnTo>
                <a:lnTo>
                  <a:pt x="12222069" y="299877"/>
                </a:lnTo>
                <a:lnTo>
                  <a:pt x="12238049" y="344494"/>
                </a:lnTo>
                <a:lnTo>
                  <a:pt x="12249626" y="390562"/>
                </a:lnTo>
                <a:lnTo>
                  <a:pt x="12250308" y="395126"/>
                </a:lnTo>
                <a:lnTo>
                  <a:pt x="12250308" y="4163127"/>
                </a:lnTo>
                <a:lnTo>
                  <a:pt x="12238049" y="4213759"/>
                </a:lnTo>
                <a:lnTo>
                  <a:pt x="12222069" y="4258377"/>
                </a:lnTo>
                <a:lnTo>
                  <a:pt x="12201819" y="4301226"/>
                </a:lnTo>
                <a:lnTo>
                  <a:pt x="12177430" y="4341987"/>
                </a:lnTo>
                <a:lnTo>
                  <a:pt x="12149036" y="4380343"/>
                </a:lnTo>
                <a:lnTo>
                  <a:pt x="12116766" y="4415974"/>
                </a:lnTo>
                <a:lnTo>
                  <a:pt x="12081135" y="4448243"/>
                </a:lnTo>
                <a:lnTo>
                  <a:pt x="12060771" y="4463319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4533" y="1844083"/>
            <a:ext cx="8848724" cy="26574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94712" y="5143500"/>
            <a:ext cx="5381624" cy="48672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140651" y="432421"/>
            <a:ext cx="9546590" cy="434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PRICING</a:t>
            </a:r>
            <a:r>
              <a:rPr dirty="0" sz="26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20">
                <a:solidFill>
                  <a:srgbClr val="FFFFFF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dirty="0" sz="26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650" spc="-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SENSITIVITY</a:t>
            </a:r>
            <a:r>
              <a:rPr dirty="0" sz="26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650" spc="-10">
                <a:solidFill>
                  <a:srgbClr val="FFFFFF"/>
                </a:solidFill>
                <a:latin typeface="Microsoft Sans Serif"/>
                <a:cs typeface="Microsoft Sans Serif"/>
              </a:rPr>
              <a:t>ANALYSIS</a:t>
            </a:r>
            <a:endParaRPr sz="26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8596" y="1521912"/>
            <a:ext cx="2439670" cy="4603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245"/>
              <a:t>What</a:t>
            </a:r>
            <a:r>
              <a:rPr dirty="0" sz="2850" spc="-160"/>
              <a:t> </a:t>
            </a:r>
            <a:r>
              <a:rPr dirty="0" sz="2850" spc="-200"/>
              <a:t>SQL</a:t>
            </a:r>
            <a:r>
              <a:rPr dirty="0" sz="2850" spc="-165"/>
              <a:t> </a:t>
            </a:r>
            <a:r>
              <a:rPr dirty="0" sz="2850" spc="-90"/>
              <a:t>Did</a:t>
            </a:r>
            <a:endParaRPr sz="2850"/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996" y="2201742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996" y="3058992"/>
            <a:ext cx="95250" cy="952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8946" y="3468567"/>
            <a:ext cx="85725" cy="857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4671" y="4306767"/>
            <a:ext cx="104774" cy="10477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771394" y="1965186"/>
            <a:ext cx="8368665" cy="3073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5880" marR="5080">
              <a:lnSpc>
                <a:spcPct val="117200"/>
              </a:lnSpc>
              <a:spcBef>
                <a:spcPts val="90"/>
              </a:spcBef>
              <a:tabLst>
                <a:tab pos="1657350" algn="l"/>
                <a:tab pos="3390265" algn="l"/>
                <a:tab pos="4625975" algn="l"/>
                <a:tab pos="5420995" algn="l"/>
                <a:tab pos="6011545" algn="l"/>
                <a:tab pos="7167245" algn="l"/>
              </a:tabLst>
            </a:pP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Calculated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incremental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uplift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parking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outcome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using</a:t>
            </a:r>
            <a:r>
              <a:rPr dirty="0" sz="24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24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configurable</a:t>
            </a:r>
            <a:r>
              <a:rPr dirty="0" sz="24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pricing</a:t>
            </a:r>
            <a:r>
              <a:rPr dirty="0" sz="24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parameter</a:t>
            </a:r>
            <a:endParaRPr sz="2400">
              <a:latin typeface="Microsoft Sans Serif"/>
              <a:cs typeface="Microsoft Sans Serif"/>
            </a:endParaRPr>
          </a:p>
          <a:p>
            <a:pPr marL="12700" marR="5080" indent="43180">
              <a:lnSpc>
                <a:spcPct val="116399"/>
              </a:lnSpc>
              <a:spcBef>
                <a:spcPts val="25"/>
              </a:spcBef>
            </a:pP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Ranked</a:t>
            </a:r>
            <a:r>
              <a:rPr dirty="0" sz="24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outcomes</a:t>
            </a:r>
            <a:r>
              <a:rPr dirty="0" sz="24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4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highest</a:t>
            </a:r>
            <a:r>
              <a:rPr dirty="0" sz="24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incremental</a:t>
            </a:r>
            <a:r>
              <a:rPr dirty="0" sz="24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value</a:t>
            </a:r>
            <a:r>
              <a:rPr dirty="0" sz="24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potential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Aggregated</a:t>
            </a:r>
            <a:r>
              <a:rPr dirty="0" sz="2200" spc="2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monthly</a:t>
            </a:r>
            <a:r>
              <a:rPr dirty="0" sz="2200" spc="2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sessions</a:t>
            </a:r>
            <a:r>
              <a:rPr dirty="0" sz="2200" spc="2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200" spc="2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200" spc="2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2200" spc="2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derive</a:t>
            </a:r>
            <a:r>
              <a:rPr dirty="0" sz="2200" spc="28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200" spc="2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Microsoft Sans Serif"/>
                <a:cs typeface="Microsoft Sans Serif"/>
              </a:rPr>
              <a:t>per </a:t>
            </a:r>
            <a:r>
              <a:rPr dirty="0" sz="2200" spc="-10">
                <a:solidFill>
                  <a:srgbClr val="FFFFFF"/>
                </a:solidFill>
                <a:latin typeface="Microsoft Sans Serif"/>
                <a:cs typeface="Microsoft Sans Serif"/>
              </a:rPr>
              <a:t>session</a:t>
            </a:r>
            <a:endParaRPr sz="2200">
              <a:latin typeface="Microsoft Sans Serif"/>
              <a:cs typeface="Microsoft Sans Serif"/>
            </a:endParaRPr>
          </a:p>
          <a:p>
            <a:pPr marL="135255" marR="5080">
              <a:lnSpc>
                <a:spcPts val="3900"/>
              </a:lnSpc>
              <a:tabLst>
                <a:tab pos="1071245" algn="l"/>
                <a:tab pos="1513205" algn="l"/>
                <a:tab pos="2616835" algn="l"/>
                <a:tab pos="3270250" algn="l"/>
                <a:tab pos="4291965" algn="l"/>
                <a:tab pos="6074410" algn="l"/>
                <a:tab pos="6690995" algn="l"/>
              </a:tabLst>
            </a:pPr>
            <a:r>
              <a:rPr dirty="0" sz="2800" spc="-10">
                <a:solidFill>
                  <a:srgbClr val="FFFFFF"/>
                </a:solidFill>
                <a:latin typeface="Microsoft Sans Serif"/>
                <a:cs typeface="Microsoft Sans Serif"/>
              </a:rPr>
              <a:t>Built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5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20">
                <a:solidFill>
                  <a:srgbClr val="FFFFFF"/>
                </a:solidFill>
                <a:latin typeface="Microsoft Sans Serif"/>
                <a:cs typeface="Microsoft Sans Serif"/>
              </a:rPr>
              <a:t>proxy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25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Microsoft Sans Serif"/>
                <a:cs typeface="Microsoft Sans Serif"/>
              </a:rPr>
              <a:t>price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Microsoft Sans Serif"/>
                <a:cs typeface="Microsoft Sans Serif"/>
              </a:rPr>
              <a:t>sensitivity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25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dirty="0" sz="2800" spc="-10">
                <a:solidFill>
                  <a:srgbClr val="FFFFFF"/>
                </a:solidFill>
                <a:latin typeface="Microsoft Sans Serif"/>
                <a:cs typeface="Microsoft Sans Serif"/>
              </a:rPr>
              <a:t>comparing 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8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Microsoft Sans Serif"/>
                <a:cs typeface="Microsoft Sans Serif"/>
              </a:rPr>
              <a:t>volume</a:t>
            </a:r>
            <a:r>
              <a:rPr dirty="0" sz="2800" spc="-1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dirty="0" sz="28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800" spc="-1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>
                <a:solidFill>
                  <a:srgbClr val="FFFFFF"/>
                </a:solidFill>
                <a:latin typeface="Microsoft Sans Serif"/>
                <a:cs typeface="Microsoft Sans Serif"/>
              </a:rPr>
              <a:t>trends</a:t>
            </a:r>
            <a:r>
              <a:rPr dirty="0" sz="2800" spc="-1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Microsoft Sans Serif"/>
                <a:cs typeface="Microsoft Sans Serif"/>
              </a:rPr>
              <a:t>over</a:t>
            </a:r>
            <a:r>
              <a:rPr dirty="0" sz="2800" spc="-1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521" y="6792477"/>
            <a:ext cx="95250" cy="9524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521" y="7668777"/>
            <a:ext cx="95250" cy="9524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521" y="8545077"/>
            <a:ext cx="95250" cy="952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7521" y="9469002"/>
            <a:ext cx="95250" cy="9524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288596" y="6109027"/>
            <a:ext cx="11189335" cy="40640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450" spc="-26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2450" spc="-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450" spc="-45">
                <a:solidFill>
                  <a:srgbClr val="FFFFFF"/>
                </a:solidFill>
                <a:latin typeface="Arial Black"/>
                <a:cs typeface="Arial Black"/>
              </a:rPr>
              <a:t>Insights</a:t>
            </a:r>
            <a:endParaRPr sz="2450">
              <a:latin typeface="Arial Black"/>
              <a:cs typeface="Arial Black"/>
            </a:endParaRPr>
          </a:p>
          <a:p>
            <a:pPr marL="544830" marR="365125">
              <a:lnSpc>
                <a:spcPct val="117300"/>
              </a:lnSpc>
            </a:pP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Overstayed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outcomes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generate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highest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incremental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uplift,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making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Microsoft Sans Serif"/>
                <a:cs typeface="Microsoft Sans Serif"/>
              </a:rPr>
              <a:t>them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4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primary</a:t>
            </a:r>
            <a:r>
              <a:rPr dirty="0" sz="24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optimization</a:t>
            </a:r>
            <a:r>
              <a:rPr dirty="0" sz="245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lever</a:t>
            </a:r>
            <a:endParaRPr sz="2450">
              <a:latin typeface="Microsoft Sans Serif"/>
              <a:cs typeface="Microsoft Sans Serif"/>
            </a:endParaRPr>
          </a:p>
          <a:p>
            <a:pPr marL="544830" marR="67945">
              <a:lnSpc>
                <a:spcPct val="117300"/>
              </a:lnSpc>
              <a:spcBef>
                <a:spcPts val="5"/>
              </a:spcBef>
            </a:pP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growth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driven</a:t>
            </a:r>
            <a:r>
              <a:rPr dirty="0" sz="24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more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pricing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than</a:t>
            </a:r>
            <a:r>
              <a:rPr dirty="0" sz="245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session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volume,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low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short-term</a:t>
            </a:r>
            <a:r>
              <a:rPr dirty="0" sz="24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4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elasticity</a:t>
            </a:r>
            <a:endParaRPr sz="2450">
              <a:latin typeface="Microsoft Sans Serif"/>
              <a:cs typeface="Microsoft Sans Serif"/>
            </a:endParaRPr>
          </a:p>
          <a:p>
            <a:pPr marL="544830" marR="5080">
              <a:lnSpc>
                <a:spcPct val="117300"/>
              </a:lnSpc>
            </a:pP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Monthly</a:t>
            </a:r>
            <a:r>
              <a:rPr dirty="0" sz="245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per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session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shows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consistent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upward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movement,</a:t>
            </a:r>
            <a:r>
              <a:rPr dirty="0" sz="245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supporting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controlled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fee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increases</a:t>
            </a:r>
            <a:endParaRPr sz="2450">
              <a:latin typeface="Microsoft Sans Serif"/>
              <a:cs typeface="Microsoft Sans Serif"/>
            </a:endParaRPr>
          </a:p>
          <a:p>
            <a:pPr marL="544830" marR="1287780">
              <a:lnSpc>
                <a:spcPct val="130100"/>
              </a:lnSpc>
            </a:pP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Scenario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analysis</a:t>
            </a:r>
            <a:r>
              <a:rPr dirty="0" sz="24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highlights</a:t>
            </a:r>
            <a:r>
              <a:rPr dirty="0" sz="24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Microsoft Sans Serif"/>
                <a:cs typeface="Microsoft Sans Serif"/>
              </a:rPr>
              <a:t>trade-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off</a:t>
            </a:r>
            <a:r>
              <a:rPr dirty="0" sz="24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dirty="0" sz="24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5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uplift</a:t>
            </a:r>
            <a:r>
              <a:rPr dirty="0" sz="2450" spc="-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dirty="0" sz="2450">
                <a:solidFill>
                  <a:srgbClr val="FFFFFF"/>
                </a:solidFill>
                <a:latin typeface="Microsoft Sans Serif"/>
                <a:cs typeface="Microsoft Sans Serif"/>
              </a:rPr>
              <a:t>operational</a:t>
            </a:r>
            <a:r>
              <a:rPr dirty="0" sz="2450" spc="-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20">
                <a:solidFill>
                  <a:srgbClr val="FFFFFF"/>
                </a:solidFill>
                <a:latin typeface="Microsoft Sans Serif"/>
                <a:cs typeface="Microsoft Sans Serif"/>
              </a:rPr>
              <a:t>risk</a:t>
            </a:r>
            <a:endParaRPr sz="2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8353" y="138222"/>
            <a:ext cx="17753330" cy="1481455"/>
          </a:xfrm>
          <a:custGeom>
            <a:avLst/>
            <a:gdLst/>
            <a:ahLst/>
            <a:cxnLst/>
            <a:rect l="l" t="t" r="r" b="b"/>
            <a:pathLst>
              <a:path w="17753330" h="1481455">
                <a:moveTo>
                  <a:pt x="17505108" y="1480951"/>
                </a:moveTo>
                <a:lnTo>
                  <a:pt x="247635" y="1480951"/>
                </a:lnTo>
                <a:lnTo>
                  <a:pt x="199098" y="1476149"/>
                </a:lnTo>
                <a:lnTo>
                  <a:pt x="152869" y="1462101"/>
                </a:lnTo>
                <a:lnTo>
                  <a:pt x="110247" y="1439346"/>
                </a:lnTo>
                <a:lnTo>
                  <a:pt x="72530" y="1408420"/>
                </a:lnTo>
                <a:lnTo>
                  <a:pt x="41605" y="1370704"/>
                </a:lnTo>
                <a:lnTo>
                  <a:pt x="18850" y="1328082"/>
                </a:lnTo>
                <a:lnTo>
                  <a:pt x="4802" y="1281853"/>
                </a:lnTo>
                <a:lnTo>
                  <a:pt x="0" y="1233316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505108" y="0"/>
                </a:lnTo>
                <a:lnTo>
                  <a:pt x="17553646" y="4802"/>
                </a:lnTo>
                <a:lnTo>
                  <a:pt x="17599875" y="18850"/>
                </a:lnTo>
                <a:lnTo>
                  <a:pt x="17642497" y="41605"/>
                </a:lnTo>
                <a:lnTo>
                  <a:pt x="17680213" y="72530"/>
                </a:lnTo>
                <a:lnTo>
                  <a:pt x="17711139" y="110247"/>
                </a:lnTo>
                <a:lnTo>
                  <a:pt x="17733894" y="152869"/>
                </a:lnTo>
                <a:lnTo>
                  <a:pt x="17747941" y="199098"/>
                </a:lnTo>
                <a:lnTo>
                  <a:pt x="17752743" y="247635"/>
                </a:lnTo>
                <a:lnTo>
                  <a:pt x="17752743" y="1233316"/>
                </a:lnTo>
                <a:lnTo>
                  <a:pt x="17747941" y="1281853"/>
                </a:lnTo>
                <a:lnTo>
                  <a:pt x="17733894" y="1328082"/>
                </a:lnTo>
                <a:lnTo>
                  <a:pt x="17711139" y="1370704"/>
                </a:lnTo>
                <a:lnTo>
                  <a:pt x="17680213" y="1408420"/>
                </a:lnTo>
                <a:lnTo>
                  <a:pt x="17642497" y="1439346"/>
                </a:lnTo>
                <a:lnTo>
                  <a:pt x="17599875" y="1462101"/>
                </a:lnTo>
                <a:lnTo>
                  <a:pt x="17553646" y="1476149"/>
                </a:lnTo>
                <a:lnTo>
                  <a:pt x="17505108" y="1480951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38353" y="2100373"/>
            <a:ext cx="17489805" cy="7927340"/>
            <a:chOff x="238353" y="2100373"/>
            <a:chExt cx="17489805" cy="7927340"/>
          </a:xfrm>
        </p:grpSpPr>
        <p:sp>
          <p:nvSpPr>
            <p:cNvPr id="4" name="object 4" descr=""/>
            <p:cNvSpPr/>
            <p:nvPr/>
          </p:nvSpPr>
          <p:spPr>
            <a:xfrm>
              <a:off x="238353" y="2100373"/>
              <a:ext cx="17489805" cy="7927340"/>
            </a:xfrm>
            <a:custGeom>
              <a:avLst/>
              <a:gdLst/>
              <a:ahLst/>
              <a:cxnLst/>
              <a:rect l="l" t="t" r="r" b="b"/>
              <a:pathLst>
                <a:path w="17489805" h="7927340">
                  <a:moveTo>
                    <a:pt x="17251056" y="7926904"/>
                  </a:moveTo>
                  <a:lnTo>
                    <a:pt x="238125" y="7926904"/>
                  </a:lnTo>
                  <a:lnTo>
                    <a:pt x="191452" y="7922286"/>
                  </a:lnTo>
                  <a:lnTo>
                    <a:pt x="146998" y="7908777"/>
                  </a:lnTo>
                  <a:lnTo>
                    <a:pt x="106013" y="7886896"/>
                  </a:lnTo>
                  <a:lnTo>
                    <a:pt x="69745" y="7857158"/>
                  </a:lnTo>
                  <a:lnTo>
                    <a:pt x="40007" y="7820890"/>
                  </a:lnTo>
                  <a:lnTo>
                    <a:pt x="18126" y="7779905"/>
                  </a:lnTo>
                  <a:lnTo>
                    <a:pt x="4617" y="7735451"/>
                  </a:lnTo>
                  <a:lnTo>
                    <a:pt x="0" y="7688779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17251056" y="0"/>
                  </a:lnTo>
                  <a:lnTo>
                    <a:pt x="17297729" y="4617"/>
                  </a:lnTo>
                  <a:lnTo>
                    <a:pt x="17342182" y="18126"/>
                  </a:lnTo>
                  <a:lnTo>
                    <a:pt x="17383167" y="40007"/>
                  </a:lnTo>
                  <a:lnTo>
                    <a:pt x="17419435" y="69745"/>
                  </a:lnTo>
                  <a:lnTo>
                    <a:pt x="17449172" y="106013"/>
                  </a:lnTo>
                  <a:lnTo>
                    <a:pt x="17471055" y="146998"/>
                  </a:lnTo>
                  <a:lnTo>
                    <a:pt x="17484563" y="191452"/>
                  </a:lnTo>
                  <a:lnTo>
                    <a:pt x="17489181" y="238124"/>
                  </a:lnTo>
                  <a:lnTo>
                    <a:pt x="17489181" y="7688779"/>
                  </a:lnTo>
                  <a:lnTo>
                    <a:pt x="17484563" y="7735451"/>
                  </a:lnTo>
                  <a:lnTo>
                    <a:pt x="17471055" y="7779905"/>
                  </a:lnTo>
                  <a:lnTo>
                    <a:pt x="17449172" y="7820890"/>
                  </a:lnTo>
                  <a:lnTo>
                    <a:pt x="17419435" y="7857158"/>
                  </a:lnTo>
                  <a:lnTo>
                    <a:pt x="17383167" y="7886896"/>
                  </a:lnTo>
                  <a:lnTo>
                    <a:pt x="17342182" y="7908777"/>
                  </a:lnTo>
                  <a:lnTo>
                    <a:pt x="17297729" y="7922286"/>
                  </a:lnTo>
                  <a:lnTo>
                    <a:pt x="17251056" y="7926904"/>
                  </a:lnTo>
                  <a:close/>
                </a:path>
              </a:pathLst>
            </a:custGeom>
            <a:solidFill>
              <a:srgbClr val="182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46605" y="2525674"/>
              <a:ext cx="563245" cy="531495"/>
            </a:xfrm>
            <a:custGeom>
              <a:avLst/>
              <a:gdLst/>
              <a:ahLst/>
              <a:cxnLst/>
              <a:rect l="l" t="t" r="r" b="b"/>
              <a:pathLst>
                <a:path w="563244" h="531494">
                  <a:moveTo>
                    <a:pt x="343900" y="229267"/>
                  </a:moveTo>
                  <a:lnTo>
                    <a:pt x="218845" y="229267"/>
                  </a:lnTo>
                  <a:lnTo>
                    <a:pt x="104212" y="41684"/>
                  </a:lnTo>
                  <a:lnTo>
                    <a:pt x="166739" y="0"/>
                  </a:lnTo>
                  <a:lnTo>
                    <a:pt x="281373" y="198003"/>
                  </a:lnTo>
                  <a:lnTo>
                    <a:pt x="361269" y="198003"/>
                  </a:lnTo>
                  <a:lnTo>
                    <a:pt x="343900" y="229267"/>
                  </a:lnTo>
                  <a:close/>
                </a:path>
                <a:path w="563244" h="531494">
                  <a:moveTo>
                    <a:pt x="361269" y="198003"/>
                  </a:moveTo>
                  <a:lnTo>
                    <a:pt x="281373" y="198003"/>
                  </a:lnTo>
                  <a:lnTo>
                    <a:pt x="385585" y="0"/>
                  </a:lnTo>
                  <a:lnTo>
                    <a:pt x="448113" y="41684"/>
                  </a:lnTo>
                  <a:lnTo>
                    <a:pt x="361269" y="198003"/>
                  </a:lnTo>
                  <a:close/>
                </a:path>
                <a:path w="563244" h="531494">
                  <a:moveTo>
                    <a:pt x="562746" y="302215"/>
                  </a:moveTo>
                  <a:lnTo>
                    <a:pt x="0" y="302215"/>
                  </a:lnTo>
                  <a:lnTo>
                    <a:pt x="0" y="229267"/>
                  </a:lnTo>
                  <a:lnTo>
                    <a:pt x="562746" y="229267"/>
                  </a:lnTo>
                  <a:lnTo>
                    <a:pt x="562746" y="302215"/>
                  </a:lnTo>
                  <a:close/>
                </a:path>
                <a:path w="563244" h="531494">
                  <a:moveTo>
                    <a:pt x="166739" y="531482"/>
                  </a:moveTo>
                  <a:lnTo>
                    <a:pt x="104212" y="489798"/>
                  </a:lnTo>
                  <a:lnTo>
                    <a:pt x="218845" y="302215"/>
                  </a:lnTo>
                  <a:lnTo>
                    <a:pt x="343900" y="302215"/>
                  </a:lnTo>
                  <a:lnTo>
                    <a:pt x="361269" y="333479"/>
                  </a:lnTo>
                  <a:lnTo>
                    <a:pt x="281373" y="333479"/>
                  </a:lnTo>
                  <a:lnTo>
                    <a:pt x="166739" y="531482"/>
                  </a:lnTo>
                  <a:close/>
                </a:path>
                <a:path w="563244" h="531494">
                  <a:moveTo>
                    <a:pt x="385585" y="531482"/>
                  </a:moveTo>
                  <a:lnTo>
                    <a:pt x="281373" y="333479"/>
                  </a:lnTo>
                  <a:lnTo>
                    <a:pt x="361269" y="333479"/>
                  </a:lnTo>
                  <a:lnTo>
                    <a:pt x="448113" y="489798"/>
                  </a:lnTo>
                  <a:lnTo>
                    <a:pt x="385585" y="531482"/>
                  </a:lnTo>
                  <a:close/>
                </a:path>
              </a:pathLst>
            </a:custGeom>
            <a:solidFill>
              <a:srgbClr val="CCA27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11200">
              <a:lnSpc>
                <a:spcPct val="100000"/>
              </a:lnSpc>
              <a:spcBef>
                <a:spcPts val="100"/>
              </a:spcBef>
            </a:pPr>
            <a:r>
              <a:rPr dirty="0" spc="-490"/>
              <a:t>RECOMMENDED</a:t>
            </a:r>
            <a:r>
              <a:rPr dirty="0" spc="-420"/>
              <a:t> </a:t>
            </a:r>
            <a:r>
              <a:rPr dirty="0" spc="-595"/>
              <a:t>ACTIONS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106041" y="2399044"/>
            <a:ext cx="741553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229">
                <a:solidFill>
                  <a:srgbClr val="FFFFFF"/>
                </a:solidFill>
                <a:latin typeface="Arial Black"/>
                <a:cs typeface="Arial Black"/>
              </a:rPr>
              <a:t>Optimize</a:t>
            </a:r>
            <a:r>
              <a:rPr dirty="0" sz="2900" spc="-1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90">
                <a:solidFill>
                  <a:srgbClr val="FFFFFF"/>
                </a:solidFill>
                <a:latin typeface="Arial Black"/>
                <a:cs typeface="Arial Black"/>
              </a:rPr>
              <a:t>pricing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85">
                <a:solidFill>
                  <a:srgbClr val="FFFFFF"/>
                </a:solidFill>
                <a:latin typeface="Arial Black"/>
                <a:cs typeface="Arial Black"/>
              </a:rPr>
              <a:t>on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50">
                <a:solidFill>
                  <a:srgbClr val="FFFFFF"/>
                </a:solidFill>
                <a:latin typeface="Arial Black"/>
                <a:cs typeface="Arial Black"/>
              </a:rPr>
              <a:t>Overstayed</a:t>
            </a:r>
            <a:r>
              <a:rPr dirty="0" sz="2900" spc="-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70">
                <a:solidFill>
                  <a:srgbClr val="FFFFFF"/>
                </a:solidFill>
                <a:latin typeface="Arial Black"/>
                <a:cs typeface="Arial Black"/>
              </a:rPr>
              <a:t>Violations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33372" y="2910251"/>
            <a:ext cx="51885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incremental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uplift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minimal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6000" y="2856796"/>
            <a:ext cx="10219690" cy="1691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4295">
              <a:lnSpc>
                <a:spcPct val="114599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--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Focus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fee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adjustments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Microsoft Sans Serif"/>
                <a:cs typeface="Microsoft Sans Serif"/>
              </a:rPr>
              <a:t>overstayed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cases,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they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contribute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highest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impact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dirty="0" sz="24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demand.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78105">
              <a:lnSpc>
                <a:spcPct val="100000"/>
              </a:lnSpc>
            </a:pPr>
            <a:r>
              <a:rPr dirty="0" sz="2900" spc="-235">
                <a:solidFill>
                  <a:srgbClr val="FFFFFF"/>
                </a:solidFill>
                <a:latin typeface="Arial Black"/>
                <a:cs typeface="Arial Black"/>
              </a:rPr>
              <a:t>Introduce</a:t>
            </a:r>
            <a:r>
              <a:rPr dirty="0" sz="2900" spc="-1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25">
                <a:solidFill>
                  <a:srgbClr val="FFFFFF"/>
                </a:solidFill>
                <a:latin typeface="Arial Black"/>
                <a:cs typeface="Arial Black"/>
              </a:rPr>
              <a:t>peak-</a:t>
            </a:r>
            <a:r>
              <a:rPr dirty="0" sz="2900" spc="-180">
                <a:solidFill>
                  <a:srgbClr val="FFFFFF"/>
                </a:solidFill>
                <a:latin typeface="Arial Black"/>
                <a:cs typeface="Arial Black"/>
              </a:rPr>
              <a:t>hour</a:t>
            </a:r>
            <a:r>
              <a:rPr dirty="0" sz="29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29">
                <a:solidFill>
                  <a:srgbClr val="FFFFFF"/>
                </a:solidFill>
                <a:latin typeface="Arial Black"/>
                <a:cs typeface="Arial Black"/>
              </a:rPr>
              <a:t>dynamic</a:t>
            </a:r>
            <a:r>
              <a:rPr dirty="0" sz="29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90">
                <a:solidFill>
                  <a:srgbClr val="FFFFFF"/>
                </a:solidFill>
                <a:latin typeface="Arial Black"/>
                <a:cs typeface="Arial Black"/>
              </a:rPr>
              <a:t>pricing</a:t>
            </a:r>
            <a:r>
              <a:rPr dirty="0" sz="29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45">
                <a:solidFill>
                  <a:srgbClr val="FFFFFF"/>
                </a:solidFill>
                <a:latin typeface="Arial Black"/>
                <a:cs typeface="Arial Black"/>
              </a:rPr>
              <a:t>(6–9</a:t>
            </a:r>
            <a:r>
              <a:rPr dirty="0" sz="29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5">
                <a:solidFill>
                  <a:srgbClr val="FFFFFF"/>
                </a:solidFill>
                <a:latin typeface="Arial Black"/>
                <a:cs typeface="Arial Black"/>
              </a:rPr>
              <a:t>PM)</a:t>
            </a:r>
            <a:endParaRPr sz="2900">
              <a:latin typeface="Arial Black"/>
              <a:cs typeface="Arial Black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46595" y="4206531"/>
            <a:ext cx="582295" cy="4535805"/>
          </a:xfrm>
          <a:custGeom>
            <a:avLst/>
            <a:gdLst/>
            <a:ahLst/>
            <a:cxnLst/>
            <a:rect l="l" t="t" r="r" b="b"/>
            <a:pathLst>
              <a:path w="582294" h="4535805">
                <a:moveTo>
                  <a:pt x="562749" y="2832112"/>
                </a:moveTo>
                <a:lnTo>
                  <a:pt x="343903" y="2832112"/>
                </a:lnTo>
                <a:lnTo>
                  <a:pt x="361276" y="2800845"/>
                </a:lnTo>
                <a:lnTo>
                  <a:pt x="448119" y="2644533"/>
                </a:lnTo>
                <a:lnTo>
                  <a:pt x="385584" y="2602852"/>
                </a:lnTo>
                <a:lnTo>
                  <a:pt x="281381" y="2800845"/>
                </a:lnTo>
                <a:lnTo>
                  <a:pt x="166738" y="2602852"/>
                </a:lnTo>
                <a:lnTo>
                  <a:pt x="104216" y="2644533"/>
                </a:lnTo>
                <a:lnTo>
                  <a:pt x="218846" y="2832112"/>
                </a:lnTo>
                <a:lnTo>
                  <a:pt x="0" y="2832112"/>
                </a:lnTo>
                <a:lnTo>
                  <a:pt x="0" y="2905061"/>
                </a:lnTo>
                <a:lnTo>
                  <a:pt x="218846" y="2905061"/>
                </a:lnTo>
                <a:lnTo>
                  <a:pt x="104216" y="3092640"/>
                </a:lnTo>
                <a:lnTo>
                  <a:pt x="166738" y="3134334"/>
                </a:lnTo>
                <a:lnTo>
                  <a:pt x="281381" y="2936329"/>
                </a:lnTo>
                <a:lnTo>
                  <a:pt x="385584" y="3134334"/>
                </a:lnTo>
                <a:lnTo>
                  <a:pt x="448119" y="3092640"/>
                </a:lnTo>
                <a:lnTo>
                  <a:pt x="361276" y="2936329"/>
                </a:lnTo>
                <a:lnTo>
                  <a:pt x="343903" y="2905061"/>
                </a:lnTo>
                <a:lnTo>
                  <a:pt x="562749" y="2905061"/>
                </a:lnTo>
                <a:lnTo>
                  <a:pt x="562749" y="2832112"/>
                </a:lnTo>
                <a:close/>
              </a:path>
              <a:path w="582294" h="4535805">
                <a:moveTo>
                  <a:pt x="562749" y="229260"/>
                </a:moveTo>
                <a:lnTo>
                  <a:pt x="343903" y="229260"/>
                </a:lnTo>
                <a:lnTo>
                  <a:pt x="361276" y="197993"/>
                </a:lnTo>
                <a:lnTo>
                  <a:pt x="448119" y="41681"/>
                </a:lnTo>
                <a:lnTo>
                  <a:pt x="385584" y="0"/>
                </a:lnTo>
                <a:lnTo>
                  <a:pt x="281381" y="197993"/>
                </a:lnTo>
                <a:lnTo>
                  <a:pt x="166738" y="0"/>
                </a:lnTo>
                <a:lnTo>
                  <a:pt x="104216" y="41681"/>
                </a:lnTo>
                <a:lnTo>
                  <a:pt x="218846" y="229260"/>
                </a:lnTo>
                <a:lnTo>
                  <a:pt x="0" y="229260"/>
                </a:lnTo>
                <a:lnTo>
                  <a:pt x="0" y="302209"/>
                </a:lnTo>
                <a:lnTo>
                  <a:pt x="218846" y="302209"/>
                </a:lnTo>
                <a:lnTo>
                  <a:pt x="104216" y="489788"/>
                </a:lnTo>
                <a:lnTo>
                  <a:pt x="166738" y="531482"/>
                </a:lnTo>
                <a:lnTo>
                  <a:pt x="281381" y="333476"/>
                </a:lnTo>
                <a:lnTo>
                  <a:pt x="385584" y="531482"/>
                </a:lnTo>
                <a:lnTo>
                  <a:pt x="448119" y="489788"/>
                </a:lnTo>
                <a:lnTo>
                  <a:pt x="361276" y="333476"/>
                </a:lnTo>
                <a:lnTo>
                  <a:pt x="343903" y="302209"/>
                </a:lnTo>
                <a:lnTo>
                  <a:pt x="562749" y="302209"/>
                </a:lnTo>
                <a:lnTo>
                  <a:pt x="562749" y="229260"/>
                </a:lnTo>
                <a:close/>
              </a:path>
              <a:path w="582294" h="4535805">
                <a:moveTo>
                  <a:pt x="582104" y="4233532"/>
                </a:moveTo>
                <a:lnTo>
                  <a:pt x="363258" y="4233532"/>
                </a:lnTo>
                <a:lnTo>
                  <a:pt x="380619" y="4202277"/>
                </a:lnTo>
                <a:lnTo>
                  <a:pt x="467461" y="4045953"/>
                </a:lnTo>
                <a:lnTo>
                  <a:pt x="404939" y="4004272"/>
                </a:lnTo>
                <a:lnTo>
                  <a:pt x="300723" y="4202277"/>
                </a:lnTo>
                <a:lnTo>
                  <a:pt x="186093" y="4004272"/>
                </a:lnTo>
                <a:lnTo>
                  <a:pt x="123558" y="4045953"/>
                </a:lnTo>
                <a:lnTo>
                  <a:pt x="238201" y="4233532"/>
                </a:lnTo>
                <a:lnTo>
                  <a:pt x="19354" y="4233532"/>
                </a:lnTo>
                <a:lnTo>
                  <a:pt x="19354" y="4306481"/>
                </a:lnTo>
                <a:lnTo>
                  <a:pt x="238201" y="4306481"/>
                </a:lnTo>
                <a:lnTo>
                  <a:pt x="123558" y="4494060"/>
                </a:lnTo>
                <a:lnTo>
                  <a:pt x="186093" y="4535754"/>
                </a:lnTo>
                <a:lnTo>
                  <a:pt x="300723" y="4337748"/>
                </a:lnTo>
                <a:lnTo>
                  <a:pt x="404939" y="4535754"/>
                </a:lnTo>
                <a:lnTo>
                  <a:pt x="467461" y="4494060"/>
                </a:lnTo>
                <a:lnTo>
                  <a:pt x="380619" y="4337748"/>
                </a:lnTo>
                <a:lnTo>
                  <a:pt x="363258" y="4306481"/>
                </a:lnTo>
                <a:lnTo>
                  <a:pt x="582104" y="4306481"/>
                </a:lnTo>
                <a:lnTo>
                  <a:pt x="582104" y="4233532"/>
                </a:lnTo>
                <a:close/>
              </a:path>
              <a:path w="582294" h="4535805">
                <a:moveTo>
                  <a:pt x="582104" y="1529105"/>
                </a:moveTo>
                <a:lnTo>
                  <a:pt x="363258" y="1529105"/>
                </a:lnTo>
                <a:lnTo>
                  <a:pt x="380619" y="1497838"/>
                </a:lnTo>
                <a:lnTo>
                  <a:pt x="467461" y="1341526"/>
                </a:lnTo>
                <a:lnTo>
                  <a:pt x="404939" y="1299845"/>
                </a:lnTo>
                <a:lnTo>
                  <a:pt x="300723" y="1497838"/>
                </a:lnTo>
                <a:lnTo>
                  <a:pt x="186093" y="1299845"/>
                </a:lnTo>
                <a:lnTo>
                  <a:pt x="123558" y="1341526"/>
                </a:lnTo>
                <a:lnTo>
                  <a:pt x="238201" y="1529105"/>
                </a:lnTo>
                <a:lnTo>
                  <a:pt x="19354" y="1529105"/>
                </a:lnTo>
                <a:lnTo>
                  <a:pt x="19354" y="1602054"/>
                </a:lnTo>
                <a:lnTo>
                  <a:pt x="238201" y="1602054"/>
                </a:lnTo>
                <a:lnTo>
                  <a:pt x="123558" y="1789633"/>
                </a:lnTo>
                <a:lnTo>
                  <a:pt x="186093" y="1831327"/>
                </a:lnTo>
                <a:lnTo>
                  <a:pt x="300723" y="1633321"/>
                </a:lnTo>
                <a:lnTo>
                  <a:pt x="404939" y="1831327"/>
                </a:lnTo>
                <a:lnTo>
                  <a:pt x="467461" y="1789633"/>
                </a:lnTo>
                <a:lnTo>
                  <a:pt x="380619" y="1633321"/>
                </a:lnTo>
                <a:lnTo>
                  <a:pt x="363258" y="1602054"/>
                </a:lnTo>
                <a:lnTo>
                  <a:pt x="582104" y="1602054"/>
                </a:lnTo>
                <a:lnTo>
                  <a:pt x="582104" y="1529105"/>
                </a:lnTo>
                <a:close/>
              </a:path>
            </a:pathLst>
          </a:custGeom>
          <a:solidFill>
            <a:srgbClr val="CCA2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081695" y="4610146"/>
            <a:ext cx="15127605" cy="4495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2400" spc="-1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Apply</a:t>
            </a:r>
            <a:r>
              <a:rPr dirty="0" sz="2400" spc="-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higher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rates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during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congestion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hours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-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improve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slot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turnover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increase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efficiency.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900" spc="-204">
                <a:solidFill>
                  <a:srgbClr val="FFFFFF"/>
                </a:solidFill>
                <a:latin typeface="Arial Black"/>
                <a:cs typeface="Arial Black"/>
              </a:rPr>
              <a:t>Prioritize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45">
                <a:solidFill>
                  <a:srgbClr val="FFFFFF"/>
                </a:solidFill>
                <a:latin typeface="Arial Black"/>
                <a:cs typeface="Arial Black"/>
              </a:rPr>
              <a:t>high-</a:t>
            </a:r>
            <a:r>
              <a:rPr dirty="0" sz="2900" spc="-21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20">
                <a:solidFill>
                  <a:srgbClr val="FFFFFF"/>
                </a:solidFill>
                <a:latin typeface="Arial Black"/>
                <a:cs typeface="Arial Black"/>
              </a:rPr>
              <a:t>lots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195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70">
                <a:solidFill>
                  <a:srgbClr val="FFFFFF"/>
                </a:solidFill>
                <a:latin typeface="Arial Black"/>
                <a:cs typeface="Arial Black"/>
              </a:rPr>
              <a:t>enforcement</a:t>
            </a:r>
            <a:endParaRPr sz="2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2400" spc="-1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2400" spc="-70">
                <a:solidFill>
                  <a:srgbClr val="FFFFFF"/>
                </a:solidFill>
                <a:latin typeface="Microsoft Sans Serif"/>
                <a:cs typeface="Microsoft Sans Serif"/>
              </a:rPr>
              <a:t>Target</a:t>
            </a:r>
            <a:r>
              <a:rPr dirty="0" sz="2400" spc="-9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lots</a:t>
            </a:r>
            <a:r>
              <a:rPr dirty="0" sz="2400" spc="-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exceeding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10%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violation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rate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threshold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reduce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leakage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improve</a:t>
            </a:r>
            <a:r>
              <a:rPr dirty="0" sz="2400" spc="-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compliance.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900" spc="-250">
                <a:solidFill>
                  <a:srgbClr val="FFFFFF"/>
                </a:solidFill>
                <a:latin typeface="Arial Black"/>
                <a:cs typeface="Arial Black"/>
              </a:rPr>
              <a:t>Rebalance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60">
                <a:solidFill>
                  <a:srgbClr val="FFFFFF"/>
                </a:solidFill>
                <a:latin typeface="Arial Black"/>
                <a:cs typeface="Arial Black"/>
              </a:rPr>
              <a:t>capacity</a:t>
            </a:r>
            <a:r>
              <a:rPr dirty="0" sz="2900" spc="-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35">
                <a:solidFill>
                  <a:srgbClr val="FFFFFF"/>
                </a:solidFill>
                <a:latin typeface="Arial Black"/>
                <a:cs typeface="Arial Black"/>
              </a:rPr>
              <a:t>across</a:t>
            </a:r>
            <a:r>
              <a:rPr dirty="0" sz="2900" spc="-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04">
                <a:solidFill>
                  <a:srgbClr val="FFFFFF"/>
                </a:solidFill>
                <a:latin typeface="Arial Black"/>
                <a:cs typeface="Arial Black"/>
              </a:rPr>
              <a:t>underutilized</a:t>
            </a:r>
            <a:r>
              <a:rPr dirty="0" sz="29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Arial Black"/>
                <a:cs typeface="Arial Black"/>
              </a:rPr>
              <a:t>lots</a:t>
            </a:r>
            <a:endParaRPr sz="2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400" spc="-2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2400" spc="-1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Shift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demand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overcrowded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locations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promoting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Microsoft Sans Serif"/>
                <a:cs typeface="Microsoft Sans Serif"/>
              </a:rPr>
              <a:t>low-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utilization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lots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pricing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signage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strategies.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900" spc="-215">
                <a:solidFill>
                  <a:srgbClr val="FFFFFF"/>
                </a:solidFill>
                <a:latin typeface="Arial Black"/>
                <a:cs typeface="Arial Black"/>
              </a:rPr>
              <a:t>Monitor</a:t>
            </a:r>
            <a:r>
              <a:rPr dirty="0" sz="2900" spc="-1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15">
                <a:solidFill>
                  <a:srgbClr val="FFFFFF"/>
                </a:solidFill>
                <a:latin typeface="Arial Black"/>
                <a:cs typeface="Arial Black"/>
              </a:rPr>
              <a:t>fee-</a:t>
            </a:r>
            <a:r>
              <a:rPr dirty="0" sz="2900" spc="-245">
                <a:solidFill>
                  <a:srgbClr val="FFFFFF"/>
                </a:solidFill>
                <a:latin typeface="Arial Black"/>
                <a:cs typeface="Arial Black"/>
              </a:rPr>
              <a:t>increase</a:t>
            </a:r>
            <a:r>
              <a:rPr dirty="0" sz="2900" spc="-1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10">
                <a:solidFill>
                  <a:srgbClr val="FFFFFF"/>
                </a:solidFill>
                <a:latin typeface="Arial Black"/>
                <a:cs typeface="Arial Black"/>
              </a:rPr>
              <a:t>risk</a:t>
            </a:r>
            <a:r>
              <a:rPr dirty="0" sz="2900" spc="-1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35">
                <a:solidFill>
                  <a:srgbClr val="FFFFFF"/>
                </a:solidFill>
                <a:latin typeface="Arial Black"/>
                <a:cs typeface="Arial Black"/>
              </a:rPr>
              <a:t>levels</a:t>
            </a:r>
            <a:r>
              <a:rPr dirty="0" sz="29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225">
                <a:solidFill>
                  <a:srgbClr val="FFFFFF"/>
                </a:solidFill>
                <a:latin typeface="Arial Black"/>
                <a:cs typeface="Arial Black"/>
              </a:rPr>
              <a:t>before</a:t>
            </a:r>
            <a:r>
              <a:rPr dirty="0" sz="2900" spc="-1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900" spc="-95">
                <a:solidFill>
                  <a:srgbClr val="FFFFFF"/>
                </a:solidFill>
                <a:latin typeface="Arial Black"/>
                <a:cs typeface="Arial Black"/>
              </a:rPr>
              <a:t>deployment</a:t>
            </a:r>
            <a:endParaRPr sz="2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-Keep</a:t>
            </a:r>
            <a:r>
              <a:rPr dirty="0" sz="2400" spc="-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pricing</a:t>
            </a:r>
            <a:r>
              <a:rPr dirty="0" sz="2400" spc="-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scenarios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within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2400" spc="-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“Acceptable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Risk”</a:t>
            </a:r>
            <a:r>
              <a:rPr dirty="0" sz="2400" spc="-1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range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maximize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Microsoft Sans Serif"/>
                <a:cs typeface="Microsoft Sans Serif"/>
              </a:rPr>
              <a:t>revenue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while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Microsoft Sans Serif"/>
                <a:cs typeface="Microsoft Sans Serif"/>
              </a:rPr>
              <a:t>avoiding</a:t>
            </a:r>
            <a:r>
              <a:rPr dirty="0" sz="2400" spc="-10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FFFFFF"/>
                </a:solidFill>
                <a:latin typeface="Microsoft Sans Serif"/>
                <a:cs typeface="Microsoft Sans Serif"/>
              </a:rPr>
              <a:t>customer</a:t>
            </a:r>
            <a:r>
              <a:rPr dirty="0" sz="2400" spc="-10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icrosoft Sans Serif"/>
                <a:cs typeface="Microsoft Sans Serif"/>
              </a:rPr>
              <a:t>drop-</a:t>
            </a:r>
            <a:r>
              <a:rPr dirty="0" sz="2400" spc="-25">
                <a:solidFill>
                  <a:srgbClr val="FFFFFF"/>
                </a:solidFill>
                <a:latin typeface="Microsoft Sans Serif"/>
                <a:cs typeface="Microsoft Sans Serif"/>
              </a:rPr>
              <a:t>off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38353" y="138222"/>
            <a:ext cx="17753330" cy="1481455"/>
          </a:xfrm>
          <a:custGeom>
            <a:avLst/>
            <a:gdLst/>
            <a:ahLst/>
            <a:cxnLst/>
            <a:rect l="l" t="t" r="r" b="b"/>
            <a:pathLst>
              <a:path w="17753330" h="1481455">
                <a:moveTo>
                  <a:pt x="17505108" y="1480951"/>
                </a:moveTo>
                <a:lnTo>
                  <a:pt x="247635" y="1480951"/>
                </a:lnTo>
                <a:lnTo>
                  <a:pt x="199098" y="1476149"/>
                </a:lnTo>
                <a:lnTo>
                  <a:pt x="152869" y="1462101"/>
                </a:lnTo>
                <a:lnTo>
                  <a:pt x="110247" y="1439346"/>
                </a:lnTo>
                <a:lnTo>
                  <a:pt x="72530" y="1408420"/>
                </a:lnTo>
                <a:lnTo>
                  <a:pt x="41605" y="1370704"/>
                </a:lnTo>
                <a:lnTo>
                  <a:pt x="18850" y="1328082"/>
                </a:lnTo>
                <a:lnTo>
                  <a:pt x="4802" y="1281853"/>
                </a:lnTo>
                <a:lnTo>
                  <a:pt x="0" y="1233316"/>
                </a:lnTo>
                <a:lnTo>
                  <a:pt x="0" y="247635"/>
                </a:lnTo>
                <a:lnTo>
                  <a:pt x="4802" y="199098"/>
                </a:lnTo>
                <a:lnTo>
                  <a:pt x="18850" y="152869"/>
                </a:lnTo>
                <a:lnTo>
                  <a:pt x="41605" y="110247"/>
                </a:lnTo>
                <a:lnTo>
                  <a:pt x="72530" y="72530"/>
                </a:lnTo>
                <a:lnTo>
                  <a:pt x="110247" y="41605"/>
                </a:lnTo>
                <a:lnTo>
                  <a:pt x="152869" y="18850"/>
                </a:lnTo>
                <a:lnTo>
                  <a:pt x="199098" y="4802"/>
                </a:lnTo>
                <a:lnTo>
                  <a:pt x="247635" y="0"/>
                </a:lnTo>
                <a:lnTo>
                  <a:pt x="17505108" y="0"/>
                </a:lnTo>
                <a:lnTo>
                  <a:pt x="17553646" y="4802"/>
                </a:lnTo>
                <a:lnTo>
                  <a:pt x="17599875" y="18850"/>
                </a:lnTo>
                <a:lnTo>
                  <a:pt x="17642497" y="41605"/>
                </a:lnTo>
                <a:lnTo>
                  <a:pt x="17680213" y="72530"/>
                </a:lnTo>
                <a:lnTo>
                  <a:pt x="17711139" y="110247"/>
                </a:lnTo>
                <a:lnTo>
                  <a:pt x="17733894" y="152869"/>
                </a:lnTo>
                <a:lnTo>
                  <a:pt x="17747941" y="199098"/>
                </a:lnTo>
                <a:lnTo>
                  <a:pt x="17752743" y="247635"/>
                </a:lnTo>
                <a:lnTo>
                  <a:pt x="17752743" y="1233316"/>
                </a:lnTo>
                <a:lnTo>
                  <a:pt x="17747941" y="1281853"/>
                </a:lnTo>
                <a:lnTo>
                  <a:pt x="17733894" y="1328082"/>
                </a:lnTo>
                <a:lnTo>
                  <a:pt x="17711139" y="1370704"/>
                </a:lnTo>
                <a:lnTo>
                  <a:pt x="17680213" y="1408420"/>
                </a:lnTo>
                <a:lnTo>
                  <a:pt x="17642497" y="1439346"/>
                </a:lnTo>
                <a:lnTo>
                  <a:pt x="17599875" y="1462101"/>
                </a:lnTo>
                <a:lnTo>
                  <a:pt x="17553646" y="1476149"/>
                </a:lnTo>
                <a:lnTo>
                  <a:pt x="17505108" y="1480951"/>
                </a:lnTo>
                <a:close/>
              </a:path>
            </a:pathLst>
          </a:custGeom>
          <a:solidFill>
            <a:srgbClr val="182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900285" y="6634438"/>
            <a:ext cx="1029969" cy="1125220"/>
          </a:xfrm>
          <a:custGeom>
            <a:avLst/>
            <a:gdLst/>
            <a:ahLst/>
            <a:cxnLst/>
            <a:rect l="l" t="t" r="r" b="b"/>
            <a:pathLst>
              <a:path w="1029970" h="1125220">
                <a:moveTo>
                  <a:pt x="0" y="0"/>
                </a:moveTo>
                <a:lnTo>
                  <a:pt x="1029938" y="562581"/>
                </a:lnTo>
                <a:lnTo>
                  <a:pt x="0" y="1125161"/>
                </a:lnTo>
                <a:lnTo>
                  <a:pt x="214226" y="562581"/>
                </a:lnTo>
                <a:lnTo>
                  <a:pt x="0" y="0"/>
                </a:lnTo>
                <a:close/>
              </a:path>
            </a:pathLst>
          </a:custGeom>
          <a:solidFill>
            <a:srgbClr val="58429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717427" y="1930042"/>
            <a:ext cx="15278100" cy="3305175"/>
            <a:chOff x="1717427" y="1930042"/>
            <a:chExt cx="15278100" cy="3305175"/>
          </a:xfrm>
        </p:grpSpPr>
        <p:sp>
          <p:nvSpPr>
            <p:cNvPr id="5" name="object 5" descr=""/>
            <p:cNvSpPr/>
            <p:nvPr/>
          </p:nvSpPr>
          <p:spPr>
            <a:xfrm>
              <a:off x="1812420" y="2025292"/>
              <a:ext cx="15090140" cy="3118485"/>
            </a:xfrm>
            <a:custGeom>
              <a:avLst/>
              <a:gdLst/>
              <a:ahLst/>
              <a:cxnLst/>
              <a:rect l="l" t="t" r="r" b="b"/>
              <a:pathLst>
                <a:path w="15090140" h="3118485">
                  <a:moveTo>
                    <a:pt x="14851869" y="3118207"/>
                  </a:moveTo>
                  <a:lnTo>
                    <a:pt x="238124" y="3118207"/>
                  </a:lnTo>
                  <a:lnTo>
                    <a:pt x="191452" y="3113589"/>
                  </a:lnTo>
                  <a:lnTo>
                    <a:pt x="146998" y="3100081"/>
                  </a:lnTo>
                  <a:lnTo>
                    <a:pt x="106013" y="3078199"/>
                  </a:lnTo>
                  <a:lnTo>
                    <a:pt x="69745" y="3048462"/>
                  </a:lnTo>
                  <a:lnTo>
                    <a:pt x="40007" y="3012194"/>
                  </a:lnTo>
                  <a:lnTo>
                    <a:pt x="18126" y="2971208"/>
                  </a:lnTo>
                  <a:lnTo>
                    <a:pt x="4617" y="2926755"/>
                  </a:lnTo>
                  <a:lnTo>
                    <a:pt x="0" y="2880082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14851869" y="0"/>
                  </a:lnTo>
                  <a:lnTo>
                    <a:pt x="14898542" y="4617"/>
                  </a:lnTo>
                  <a:lnTo>
                    <a:pt x="14942996" y="18126"/>
                  </a:lnTo>
                  <a:lnTo>
                    <a:pt x="14983982" y="40007"/>
                  </a:lnTo>
                  <a:lnTo>
                    <a:pt x="15020251" y="69745"/>
                  </a:lnTo>
                  <a:lnTo>
                    <a:pt x="15049987" y="106013"/>
                  </a:lnTo>
                  <a:lnTo>
                    <a:pt x="15071869" y="146998"/>
                  </a:lnTo>
                  <a:lnTo>
                    <a:pt x="15085377" y="191452"/>
                  </a:lnTo>
                  <a:lnTo>
                    <a:pt x="15089994" y="238124"/>
                  </a:lnTo>
                  <a:lnTo>
                    <a:pt x="15089994" y="2880082"/>
                  </a:lnTo>
                  <a:lnTo>
                    <a:pt x="15085377" y="2926755"/>
                  </a:lnTo>
                  <a:lnTo>
                    <a:pt x="15071869" y="2971208"/>
                  </a:lnTo>
                  <a:lnTo>
                    <a:pt x="15049987" y="3012194"/>
                  </a:lnTo>
                  <a:lnTo>
                    <a:pt x="15020251" y="3048462"/>
                  </a:lnTo>
                  <a:lnTo>
                    <a:pt x="14983982" y="3078199"/>
                  </a:lnTo>
                  <a:lnTo>
                    <a:pt x="14942996" y="3100081"/>
                  </a:lnTo>
                  <a:lnTo>
                    <a:pt x="14898542" y="3113589"/>
                  </a:lnTo>
                  <a:lnTo>
                    <a:pt x="14851869" y="3118207"/>
                  </a:lnTo>
                  <a:close/>
                </a:path>
              </a:pathLst>
            </a:custGeom>
            <a:solidFill>
              <a:srgbClr val="CCA2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812677" y="2025292"/>
              <a:ext cx="15087600" cy="3114675"/>
            </a:xfrm>
            <a:custGeom>
              <a:avLst/>
              <a:gdLst/>
              <a:ahLst/>
              <a:cxnLst/>
              <a:rect l="l" t="t" r="r" b="b"/>
              <a:pathLst>
                <a:path w="15087600" h="3114675">
                  <a:moveTo>
                    <a:pt x="15087341" y="2901454"/>
                  </a:moveTo>
                  <a:lnTo>
                    <a:pt x="15071340" y="2971104"/>
                  </a:lnTo>
                  <a:lnTo>
                    <a:pt x="15049459" y="3012088"/>
                  </a:lnTo>
                  <a:lnTo>
                    <a:pt x="15019723" y="3048355"/>
                  </a:lnTo>
                  <a:lnTo>
                    <a:pt x="14983456" y="3078091"/>
                  </a:lnTo>
                  <a:lnTo>
                    <a:pt x="14942472" y="3099972"/>
                  </a:lnTo>
                  <a:lnTo>
                    <a:pt x="14898020" y="3113480"/>
                  </a:lnTo>
                  <a:lnTo>
                    <a:pt x="14885946" y="3114674"/>
                  </a:lnTo>
                </a:path>
                <a:path w="15087600" h="3114675">
                  <a:moveTo>
                    <a:pt x="203519" y="3114674"/>
                  </a:moveTo>
                  <a:lnTo>
                    <a:pt x="146993" y="3099972"/>
                  </a:lnTo>
                  <a:lnTo>
                    <a:pt x="106009" y="3078091"/>
                  </a:lnTo>
                  <a:lnTo>
                    <a:pt x="69742" y="3048355"/>
                  </a:lnTo>
                  <a:lnTo>
                    <a:pt x="40006" y="3012088"/>
                  </a:lnTo>
                  <a:lnTo>
                    <a:pt x="18125" y="2971104"/>
                  </a:lnTo>
                  <a:lnTo>
                    <a:pt x="4617" y="2926652"/>
                  </a:lnTo>
                  <a:lnTo>
                    <a:pt x="0" y="2879981"/>
                  </a:lnTo>
                  <a:lnTo>
                    <a:pt x="0" y="238116"/>
                  </a:lnTo>
                  <a:lnTo>
                    <a:pt x="4617" y="191445"/>
                  </a:lnTo>
                  <a:lnTo>
                    <a:pt x="18125" y="146993"/>
                  </a:lnTo>
                  <a:lnTo>
                    <a:pt x="40006" y="106009"/>
                  </a:lnTo>
                  <a:lnTo>
                    <a:pt x="69742" y="69742"/>
                  </a:lnTo>
                  <a:lnTo>
                    <a:pt x="106009" y="40006"/>
                  </a:lnTo>
                  <a:lnTo>
                    <a:pt x="146993" y="18125"/>
                  </a:lnTo>
                  <a:lnTo>
                    <a:pt x="191445" y="4617"/>
                  </a:lnTo>
                  <a:lnTo>
                    <a:pt x="238116" y="0"/>
                  </a:lnTo>
                  <a:lnTo>
                    <a:pt x="14851349" y="0"/>
                  </a:lnTo>
                  <a:lnTo>
                    <a:pt x="14898020" y="4617"/>
                  </a:lnTo>
                  <a:lnTo>
                    <a:pt x="14942472" y="18125"/>
                  </a:lnTo>
                  <a:lnTo>
                    <a:pt x="14983456" y="40006"/>
                  </a:lnTo>
                  <a:lnTo>
                    <a:pt x="15019722" y="69742"/>
                  </a:lnTo>
                  <a:lnTo>
                    <a:pt x="15049459" y="106009"/>
                  </a:lnTo>
                  <a:lnTo>
                    <a:pt x="15071340" y="146993"/>
                  </a:lnTo>
                  <a:lnTo>
                    <a:pt x="15084848" y="191445"/>
                  </a:lnTo>
                  <a:lnTo>
                    <a:pt x="15087341" y="216643"/>
                  </a:lnTo>
                </a:path>
              </a:pathLst>
            </a:custGeom>
            <a:ln w="190499">
              <a:solidFill>
                <a:srgbClr val="6637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235044" y="3065953"/>
              <a:ext cx="1029969" cy="1125220"/>
            </a:xfrm>
            <a:custGeom>
              <a:avLst/>
              <a:gdLst/>
              <a:ahLst/>
              <a:cxnLst/>
              <a:rect l="l" t="t" r="r" b="b"/>
              <a:pathLst>
                <a:path w="1029970" h="1125220">
                  <a:moveTo>
                    <a:pt x="0" y="0"/>
                  </a:moveTo>
                  <a:lnTo>
                    <a:pt x="1029938" y="562580"/>
                  </a:lnTo>
                  <a:lnTo>
                    <a:pt x="0" y="1125161"/>
                  </a:lnTo>
                  <a:lnTo>
                    <a:pt x="214226" y="562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235049" y="3067159"/>
              <a:ext cx="1029969" cy="1123950"/>
            </a:xfrm>
            <a:custGeom>
              <a:avLst/>
              <a:gdLst/>
              <a:ahLst/>
              <a:cxnLst/>
              <a:rect l="l" t="t" r="r" b="b"/>
              <a:pathLst>
                <a:path w="1029970" h="1123950">
                  <a:moveTo>
                    <a:pt x="214240" y="561403"/>
                  </a:moveTo>
                  <a:lnTo>
                    <a:pt x="472" y="0"/>
                  </a:lnTo>
                </a:path>
                <a:path w="1029970" h="1123950">
                  <a:moveTo>
                    <a:pt x="2208" y="14"/>
                  </a:moveTo>
                  <a:lnTo>
                    <a:pt x="1029928" y="561377"/>
                  </a:lnTo>
                  <a:lnTo>
                    <a:pt x="0" y="1123942"/>
                  </a:lnTo>
                  <a:lnTo>
                    <a:pt x="214251" y="56138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34335">
              <a:lnSpc>
                <a:spcPct val="100000"/>
              </a:lnSpc>
              <a:spcBef>
                <a:spcPts val="100"/>
              </a:spcBef>
            </a:pPr>
            <a:r>
              <a:rPr dirty="0" spc="-530"/>
              <a:t>CONCLUSIONS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1717427" y="5542686"/>
            <a:ext cx="15278100" cy="3305175"/>
            <a:chOff x="1717427" y="5542686"/>
            <a:chExt cx="15278100" cy="3305175"/>
          </a:xfrm>
        </p:grpSpPr>
        <p:sp>
          <p:nvSpPr>
            <p:cNvPr id="11" name="object 11" descr=""/>
            <p:cNvSpPr/>
            <p:nvPr/>
          </p:nvSpPr>
          <p:spPr>
            <a:xfrm>
              <a:off x="1812420" y="5637936"/>
              <a:ext cx="15090140" cy="3118485"/>
            </a:xfrm>
            <a:custGeom>
              <a:avLst/>
              <a:gdLst/>
              <a:ahLst/>
              <a:cxnLst/>
              <a:rect l="l" t="t" r="r" b="b"/>
              <a:pathLst>
                <a:path w="15090140" h="3118484">
                  <a:moveTo>
                    <a:pt x="14851869" y="3118207"/>
                  </a:moveTo>
                  <a:lnTo>
                    <a:pt x="238124" y="3118207"/>
                  </a:lnTo>
                  <a:lnTo>
                    <a:pt x="191452" y="3113589"/>
                  </a:lnTo>
                  <a:lnTo>
                    <a:pt x="146998" y="3100081"/>
                  </a:lnTo>
                  <a:lnTo>
                    <a:pt x="106013" y="3078199"/>
                  </a:lnTo>
                  <a:lnTo>
                    <a:pt x="69745" y="3048462"/>
                  </a:lnTo>
                  <a:lnTo>
                    <a:pt x="40007" y="3012194"/>
                  </a:lnTo>
                  <a:lnTo>
                    <a:pt x="18126" y="2971208"/>
                  </a:lnTo>
                  <a:lnTo>
                    <a:pt x="4617" y="2926755"/>
                  </a:lnTo>
                  <a:lnTo>
                    <a:pt x="0" y="2880082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14851869" y="0"/>
                  </a:lnTo>
                  <a:lnTo>
                    <a:pt x="14898542" y="4617"/>
                  </a:lnTo>
                  <a:lnTo>
                    <a:pt x="14942996" y="18126"/>
                  </a:lnTo>
                  <a:lnTo>
                    <a:pt x="14983982" y="40007"/>
                  </a:lnTo>
                  <a:lnTo>
                    <a:pt x="15020251" y="69745"/>
                  </a:lnTo>
                  <a:lnTo>
                    <a:pt x="15049987" y="106013"/>
                  </a:lnTo>
                  <a:lnTo>
                    <a:pt x="15071869" y="146998"/>
                  </a:lnTo>
                  <a:lnTo>
                    <a:pt x="15085377" y="191452"/>
                  </a:lnTo>
                  <a:lnTo>
                    <a:pt x="15089994" y="238124"/>
                  </a:lnTo>
                  <a:lnTo>
                    <a:pt x="15089994" y="2880082"/>
                  </a:lnTo>
                  <a:lnTo>
                    <a:pt x="15085377" y="2926755"/>
                  </a:lnTo>
                  <a:lnTo>
                    <a:pt x="15071869" y="2971208"/>
                  </a:lnTo>
                  <a:lnTo>
                    <a:pt x="15049987" y="3012194"/>
                  </a:lnTo>
                  <a:lnTo>
                    <a:pt x="15020251" y="3048462"/>
                  </a:lnTo>
                  <a:lnTo>
                    <a:pt x="14983982" y="3078199"/>
                  </a:lnTo>
                  <a:lnTo>
                    <a:pt x="14942996" y="3100081"/>
                  </a:lnTo>
                  <a:lnTo>
                    <a:pt x="14898542" y="3113589"/>
                  </a:lnTo>
                  <a:lnTo>
                    <a:pt x="14851869" y="3118207"/>
                  </a:lnTo>
                  <a:close/>
                </a:path>
              </a:pathLst>
            </a:custGeom>
            <a:solidFill>
              <a:srgbClr val="CCA2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812677" y="5637936"/>
              <a:ext cx="15087600" cy="3114675"/>
            </a:xfrm>
            <a:custGeom>
              <a:avLst/>
              <a:gdLst/>
              <a:ahLst/>
              <a:cxnLst/>
              <a:rect l="l" t="t" r="r" b="b"/>
              <a:pathLst>
                <a:path w="15087600" h="3114675">
                  <a:moveTo>
                    <a:pt x="15087341" y="2901454"/>
                  </a:moveTo>
                  <a:lnTo>
                    <a:pt x="15071340" y="2971104"/>
                  </a:lnTo>
                  <a:lnTo>
                    <a:pt x="15049459" y="3012088"/>
                  </a:lnTo>
                  <a:lnTo>
                    <a:pt x="15019723" y="3048354"/>
                  </a:lnTo>
                  <a:lnTo>
                    <a:pt x="14983456" y="3078091"/>
                  </a:lnTo>
                  <a:lnTo>
                    <a:pt x="14942472" y="3099972"/>
                  </a:lnTo>
                  <a:lnTo>
                    <a:pt x="14898020" y="3113479"/>
                  </a:lnTo>
                  <a:lnTo>
                    <a:pt x="14885946" y="3114674"/>
                  </a:lnTo>
                </a:path>
                <a:path w="15087600" h="3114675">
                  <a:moveTo>
                    <a:pt x="203518" y="3114674"/>
                  </a:moveTo>
                  <a:lnTo>
                    <a:pt x="146993" y="3099972"/>
                  </a:lnTo>
                  <a:lnTo>
                    <a:pt x="106009" y="3078091"/>
                  </a:lnTo>
                  <a:lnTo>
                    <a:pt x="69742" y="3048355"/>
                  </a:lnTo>
                  <a:lnTo>
                    <a:pt x="40006" y="3012088"/>
                  </a:lnTo>
                  <a:lnTo>
                    <a:pt x="18125" y="2971104"/>
                  </a:lnTo>
                  <a:lnTo>
                    <a:pt x="4617" y="2926652"/>
                  </a:lnTo>
                  <a:lnTo>
                    <a:pt x="0" y="2879980"/>
                  </a:lnTo>
                  <a:lnTo>
                    <a:pt x="0" y="238116"/>
                  </a:lnTo>
                  <a:lnTo>
                    <a:pt x="4617" y="191445"/>
                  </a:lnTo>
                  <a:lnTo>
                    <a:pt x="18125" y="146993"/>
                  </a:lnTo>
                  <a:lnTo>
                    <a:pt x="40006" y="106009"/>
                  </a:lnTo>
                  <a:lnTo>
                    <a:pt x="69742" y="69742"/>
                  </a:lnTo>
                  <a:lnTo>
                    <a:pt x="106009" y="40006"/>
                  </a:lnTo>
                  <a:lnTo>
                    <a:pt x="146993" y="18125"/>
                  </a:lnTo>
                  <a:lnTo>
                    <a:pt x="191445" y="4617"/>
                  </a:lnTo>
                  <a:lnTo>
                    <a:pt x="238116" y="0"/>
                  </a:lnTo>
                  <a:lnTo>
                    <a:pt x="14851349" y="0"/>
                  </a:lnTo>
                  <a:lnTo>
                    <a:pt x="14898020" y="4617"/>
                  </a:lnTo>
                  <a:lnTo>
                    <a:pt x="14942472" y="18125"/>
                  </a:lnTo>
                  <a:lnTo>
                    <a:pt x="14983456" y="40006"/>
                  </a:lnTo>
                  <a:lnTo>
                    <a:pt x="15019722" y="69742"/>
                  </a:lnTo>
                  <a:lnTo>
                    <a:pt x="15049459" y="106009"/>
                  </a:lnTo>
                  <a:lnTo>
                    <a:pt x="15071340" y="146993"/>
                  </a:lnTo>
                  <a:lnTo>
                    <a:pt x="15084848" y="191445"/>
                  </a:lnTo>
                  <a:lnTo>
                    <a:pt x="15087341" y="216643"/>
                  </a:lnTo>
                </a:path>
              </a:pathLst>
            </a:custGeom>
            <a:ln w="190499">
              <a:solidFill>
                <a:srgbClr val="66371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35044" y="6634438"/>
              <a:ext cx="1029969" cy="1125220"/>
            </a:xfrm>
            <a:custGeom>
              <a:avLst/>
              <a:gdLst/>
              <a:ahLst/>
              <a:cxnLst/>
              <a:rect l="l" t="t" r="r" b="b"/>
              <a:pathLst>
                <a:path w="1029970" h="1125220">
                  <a:moveTo>
                    <a:pt x="0" y="0"/>
                  </a:moveTo>
                  <a:lnTo>
                    <a:pt x="1029938" y="562580"/>
                  </a:lnTo>
                  <a:lnTo>
                    <a:pt x="0" y="1125161"/>
                  </a:lnTo>
                  <a:lnTo>
                    <a:pt x="214226" y="562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235049" y="6635643"/>
              <a:ext cx="1029969" cy="1123950"/>
            </a:xfrm>
            <a:custGeom>
              <a:avLst/>
              <a:gdLst/>
              <a:ahLst/>
              <a:cxnLst/>
              <a:rect l="l" t="t" r="r" b="b"/>
              <a:pathLst>
                <a:path w="1029970" h="1123950">
                  <a:moveTo>
                    <a:pt x="214240" y="561403"/>
                  </a:moveTo>
                  <a:lnTo>
                    <a:pt x="472" y="0"/>
                  </a:lnTo>
                </a:path>
                <a:path w="1029970" h="1123950">
                  <a:moveTo>
                    <a:pt x="2208" y="14"/>
                  </a:moveTo>
                  <a:lnTo>
                    <a:pt x="1029928" y="561377"/>
                  </a:lnTo>
                  <a:lnTo>
                    <a:pt x="0" y="1123942"/>
                  </a:lnTo>
                  <a:lnTo>
                    <a:pt x="214251" y="561383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345451" y="2385414"/>
            <a:ext cx="12809220" cy="2273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7100"/>
              </a:lnSpc>
              <a:spcBef>
                <a:spcPts val="95"/>
              </a:spcBef>
            </a:pPr>
            <a:r>
              <a:rPr dirty="0" sz="3150">
                <a:latin typeface="Microsoft Sans Serif"/>
                <a:cs typeface="Microsoft Sans Serif"/>
              </a:rPr>
              <a:t>THIS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20">
                <a:latin typeface="Microsoft Sans Serif"/>
                <a:cs typeface="Microsoft Sans Serif"/>
              </a:rPr>
              <a:t>PROJECT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40">
                <a:latin typeface="Microsoft Sans Serif"/>
                <a:cs typeface="Microsoft Sans Serif"/>
              </a:rPr>
              <a:t>DEMONSTRATES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>
                <a:latin typeface="Microsoft Sans Serif"/>
                <a:cs typeface="Microsoft Sans Serif"/>
              </a:rPr>
              <a:t>HOW</a:t>
            </a:r>
            <a:r>
              <a:rPr dirty="0" sz="3150" spc="-114">
                <a:latin typeface="Microsoft Sans Serif"/>
                <a:cs typeface="Microsoft Sans Serif"/>
              </a:rPr>
              <a:t> </a:t>
            </a:r>
            <a:r>
              <a:rPr dirty="0" sz="3150" spc="-35">
                <a:latin typeface="Microsoft Sans Serif"/>
                <a:cs typeface="Microsoft Sans Serif"/>
              </a:rPr>
              <a:t>SQL-</a:t>
            </a:r>
            <a:r>
              <a:rPr dirty="0" sz="3150" spc="-10">
                <a:latin typeface="Microsoft Sans Serif"/>
                <a:cs typeface="Microsoft Sans Serif"/>
              </a:rPr>
              <a:t>DRIVEN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90">
                <a:latin typeface="Microsoft Sans Serif"/>
                <a:cs typeface="Microsoft Sans Serif"/>
              </a:rPr>
              <a:t>ANALYSIS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25">
                <a:latin typeface="Microsoft Sans Serif"/>
                <a:cs typeface="Microsoft Sans Serif"/>
              </a:rPr>
              <a:t>AND </a:t>
            </a:r>
            <a:r>
              <a:rPr dirty="0" sz="3150" spc="-10">
                <a:latin typeface="Microsoft Sans Serif"/>
                <a:cs typeface="Microsoft Sans Serif"/>
              </a:rPr>
              <a:t>POWER</a:t>
            </a:r>
            <a:r>
              <a:rPr dirty="0" sz="3150" spc="-200">
                <a:latin typeface="Microsoft Sans Serif"/>
                <a:cs typeface="Microsoft Sans Serif"/>
              </a:rPr>
              <a:t> </a:t>
            </a:r>
            <a:r>
              <a:rPr dirty="0" sz="3150">
                <a:latin typeface="Microsoft Sans Serif"/>
                <a:cs typeface="Microsoft Sans Serif"/>
              </a:rPr>
              <a:t>BI</a:t>
            </a:r>
            <a:r>
              <a:rPr dirty="0" sz="3150" spc="-145">
                <a:latin typeface="Microsoft Sans Serif"/>
                <a:cs typeface="Microsoft Sans Serif"/>
              </a:rPr>
              <a:t> </a:t>
            </a:r>
            <a:r>
              <a:rPr dirty="0" sz="3150" spc="-40">
                <a:latin typeface="Microsoft Sans Serif"/>
                <a:cs typeface="Microsoft Sans Serif"/>
              </a:rPr>
              <a:t>DASHBOARDS</a:t>
            </a:r>
            <a:r>
              <a:rPr dirty="0" sz="3150" spc="-225">
                <a:latin typeface="Microsoft Sans Serif"/>
                <a:cs typeface="Microsoft Sans Serif"/>
              </a:rPr>
              <a:t> </a:t>
            </a:r>
            <a:r>
              <a:rPr dirty="0" sz="3150">
                <a:latin typeface="Microsoft Sans Serif"/>
                <a:cs typeface="Microsoft Sans Serif"/>
              </a:rPr>
              <a:t>TRANSFORM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20">
                <a:latin typeface="Microsoft Sans Serif"/>
                <a:cs typeface="Microsoft Sans Serif"/>
              </a:rPr>
              <a:t>RAW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55">
                <a:latin typeface="Microsoft Sans Serif"/>
                <a:cs typeface="Microsoft Sans Serif"/>
              </a:rPr>
              <a:t>PARKING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195">
                <a:latin typeface="Microsoft Sans Serif"/>
                <a:cs typeface="Microsoft Sans Serif"/>
              </a:rPr>
              <a:t>DATA</a:t>
            </a:r>
            <a:r>
              <a:rPr dirty="0" sz="3150" spc="-65">
                <a:latin typeface="Microsoft Sans Serif"/>
                <a:cs typeface="Microsoft Sans Serif"/>
              </a:rPr>
              <a:t> </a:t>
            </a:r>
            <a:r>
              <a:rPr dirty="0" sz="3150" spc="-20">
                <a:latin typeface="Microsoft Sans Serif"/>
                <a:cs typeface="Microsoft Sans Serif"/>
              </a:rPr>
              <a:t>INTO ACTIONABLE</a:t>
            </a:r>
            <a:r>
              <a:rPr dirty="0" sz="3150" spc="-120">
                <a:latin typeface="Microsoft Sans Serif"/>
                <a:cs typeface="Microsoft Sans Serif"/>
              </a:rPr>
              <a:t> </a:t>
            </a:r>
            <a:r>
              <a:rPr dirty="0" sz="3150" spc="-20">
                <a:latin typeface="Microsoft Sans Serif"/>
                <a:cs typeface="Microsoft Sans Serif"/>
              </a:rPr>
              <a:t>INSIGHTS</a:t>
            </a:r>
            <a:r>
              <a:rPr dirty="0" sz="3150" spc="-95">
                <a:latin typeface="Microsoft Sans Serif"/>
                <a:cs typeface="Microsoft Sans Serif"/>
              </a:rPr>
              <a:t> </a:t>
            </a:r>
            <a:r>
              <a:rPr dirty="0" sz="3150" spc="1310">
                <a:latin typeface="Microsoft Sans Serif"/>
                <a:cs typeface="Microsoft Sans Serif"/>
              </a:rPr>
              <a:t>—</a:t>
            </a:r>
            <a:r>
              <a:rPr dirty="0" sz="3150" spc="-90">
                <a:latin typeface="Microsoft Sans Serif"/>
                <a:cs typeface="Microsoft Sans Serif"/>
              </a:rPr>
              <a:t> </a:t>
            </a:r>
            <a:r>
              <a:rPr dirty="0" sz="3150" spc="-30">
                <a:latin typeface="Microsoft Sans Serif"/>
                <a:cs typeface="Microsoft Sans Serif"/>
              </a:rPr>
              <a:t>IMPROVING</a:t>
            </a:r>
            <a:r>
              <a:rPr dirty="0" sz="3150" spc="-95">
                <a:latin typeface="Microsoft Sans Serif"/>
                <a:cs typeface="Microsoft Sans Serif"/>
              </a:rPr>
              <a:t> </a:t>
            </a:r>
            <a:r>
              <a:rPr dirty="0" sz="3150" spc="-55">
                <a:latin typeface="Microsoft Sans Serif"/>
                <a:cs typeface="Microsoft Sans Serif"/>
              </a:rPr>
              <a:t>UTILIZATION</a:t>
            </a:r>
            <a:r>
              <a:rPr dirty="0" sz="3150" spc="-225">
                <a:latin typeface="Microsoft Sans Serif"/>
                <a:cs typeface="Microsoft Sans Serif"/>
              </a:rPr>
              <a:t> </a:t>
            </a:r>
            <a:r>
              <a:rPr dirty="0" sz="3150" spc="-10">
                <a:latin typeface="Microsoft Sans Serif"/>
                <a:cs typeface="Microsoft Sans Serif"/>
              </a:rPr>
              <a:t>VISIBILITY, </a:t>
            </a:r>
            <a:r>
              <a:rPr dirty="0" sz="3150" spc="-20">
                <a:latin typeface="Microsoft Sans Serif"/>
                <a:cs typeface="Microsoft Sans Serif"/>
              </a:rPr>
              <a:t>COMPLIANCE</a:t>
            </a:r>
            <a:r>
              <a:rPr dirty="0" sz="3150" spc="-225">
                <a:latin typeface="Microsoft Sans Serif"/>
                <a:cs typeface="Microsoft Sans Serif"/>
              </a:rPr>
              <a:t> </a:t>
            </a:r>
            <a:r>
              <a:rPr dirty="0" sz="3150" spc="-10">
                <a:latin typeface="Microsoft Sans Serif"/>
                <a:cs typeface="Microsoft Sans Serif"/>
              </a:rPr>
              <a:t>TRACKING,</a:t>
            </a:r>
            <a:r>
              <a:rPr dirty="0" sz="3150" spc="-145">
                <a:latin typeface="Microsoft Sans Serif"/>
                <a:cs typeface="Microsoft Sans Serif"/>
              </a:rPr>
              <a:t> </a:t>
            </a:r>
            <a:r>
              <a:rPr dirty="0" sz="3150">
                <a:latin typeface="Microsoft Sans Serif"/>
                <a:cs typeface="Microsoft Sans Serif"/>
              </a:rPr>
              <a:t>AND</a:t>
            </a:r>
            <a:r>
              <a:rPr dirty="0" sz="3150" spc="-110">
                <a:latin typeface="Microsoft Sans Serif"/>
                <a:cs typeface="Microsoft Sans Serif"/>
              </a:rPr>
              <a:t> </a:t>
            </a:r>
            <a:r>
              <a:rPr dirty="0" sz="3150" spc="-10">
                <a:latin typeface="Microsoft Sans Serif"/>
                <a:cs typeface="Microsoft Sans Serif"/>
              </a:rPr>
              <a:t>REVENUE</a:t>
            </a:r>
            <a:r>
              <a:rPr dirty="0" sz="3150" spc="-110">
                <a:latin typeface="Microsoft Sans Serif"/>
                <a:cs typeface="Microsoft Sans Serif"/>
              </a:rPr>
              <a:t> </a:t>
            </a:r>
            <a:r>
              <a:rPr dirty="0" sz="3150" spc="-10">
                <a:latin typeface="Microsoft Sans Serif"/>
                <a:cs typeface="Microsoft Sans Serif"/>
              </a:rPr>
              <a:t>FORECASTING.</a:t>
            </a:r>
            <a:endParaRPr sz="315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85538" y="6141581"/>
            <a:ext cx="12793980" cy="2054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6799"/>
              </a:lnSpc>
              <a:spcBef>
                <a:spcPts val="95"/>
              </a:spcBef>
            </a:pPr>
            <a:r>
              <a:rPr dirty="0" sz="2850" spc="-65">
                <a:latin typeface="Microsoft Sans Serif"/>
                <a:cs typeface="Microsoft Sans Serif"/>
              </a:rPr>
              <a:t>BY</a:t>
            </a:r>
            <a:r>
              <a:rPr dirty="0" sz="2850" spc="-130">
                <a:latin typeface="Microsoft Sans Serif"/>
                <a:cs typeface="Microsoft Sans Serif"/>
              </a:rPr>
              <a:t> </a:t>
            </a:r>
            <a:r>
              <a:rPr dirty="0" sz="2850" spc="-30">
                <a:latin typeface="Microsoft Sans Serif"/>
                <a:cs typeface="Microsoft Sans Serif"/>
              </a:rPr>
              <a:t>IDENTIFYING</a:t>
            </a:r>
            <a:r>
              <a:rPr dirty="0" sz="2850" spc="-125">
                <a:latin typeface="Microsoft Sans Serif"/>
                <a:cs typeface="Microsoft Sans Serif"/>
              </a:rPr>
              <a:t> </a:t>
            </a:r>
            <a:r>
              <a:rPr dirty="0" sz="2850" spc="-20">
                <a:latin typeface="Microsoft Sans Serif"/>
                <a:cs typeface="Microsoft Sans Serif"/>
              </a:rPr>
              <a:t>HIGH-</a:t>
            </a:r>
            <a:r>
              <a:rPr dirty="0" sz="2850">
                <a:latin typeface="Microsoft Sans Serif"/>
                <a:cs typeface="Microsoft Sans Serif"/>
              </a:rPr>
              <a:t>RISK</a:t>
            </a:r>
            <a:r>
              <a:rPr dirty="0" sz="2850" spc="-130">
                <a:latin typeface="Microsoft Sans Serif"/>
                <a:cs typeface="Microsoft Sans Serif"/>
              </a:rPr>
              <a:t> </a:t>
            </a:r>
            <a:r>
              <a:rPr dirty="0" sz="2850" spc="-45">
                <a:latin typeface="Microsoft Sans Serif"/>
                <a:cs typeface="Microsoft Sans Serif"/>
              </a:rPr>
              <a:t>LOTS,</a:t>
            </a:r>
            <a:r>
              <a:rPr dirty="0" sz="2850" spc="-125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PEAK</a:t>
            </a:r>
            <a:r>
              <a:rPr dirty="0" sz="2850" spc="-130">
                <a:latin typeface="Microsoft Sans Serif"/>
                <a:cs typeface="Microsoft Sans Serif"/>
              </a:rPr>
              <a:t> </a:t>
            </a:r>
            <a:r>
              <a:rPr dirty="0" sz="2850" spc="-20">
                <a:latin typeface="Microsoft Sans Serif"/>
                <a:cs typeface="Microsoft Sans Serif"/>
              </a:rPr>
              <a:t>CONGESTION</a:t>
            </a:r>
            <a:r>
              <a:rPr dirty="0" sz="2850" spc="-125">
                <a:latin typeface="Microsoft Sans Serif"/>
                <a:cs typeface="Microsoft Sans Serif"/>
              </a:rPr>
              <a:t> </a:t>
            </a:r>
            <a:r>
              <a:rPr dirty="0" sz="2850" spc="-35">
                <a:latin typeface="Microsoft Sans Serif"/>
                <a:cs typeface="Microsoft Sans Serif"/>
              </a:rPr>
              <a:t>PERIODS,</a:t>
            </a:r>
            <a:r>
              <a:rPr dirty="0" sz="2850" spc="-130">
                <a:latin typeface="Microsoft Sans Serif"/>
                <a:cs typeface="Microsoft Sans Serif"/>
              </a:rPr>
              <a:t> </a:t>
            </a:r>
            <a:r>
              <a:rPr dirty="0" sz="2850" spc="-25">
                <a:latin typeface="Microsoft Sans Serif"/>
                <a:cs typeface="Microsoft Sans Serif"/>
              </a:rPr>
              <a:t>AND </a:t>
            </a:r>
            <a:r>
              <a:rPr dirty="0" sz="2850" spc="-110">
                <a:latin typeface="Microsoft Sans Serif"/>
                <a:cs typeface="Microsoft Sans Serif"/>
              </a:rPr>
              <a:t>OVERSTAYED-</a:t>
            </a:r>
            <a:r>
              <a:rPr dirty="0" sz="2850" spc="-20">
                <a:latin typeface="Microsoft Sans Serif"/>
                <a:cs typeface="Microsoft Sans Serif"/>
              </a:rPr>
              <a:t>DRIVEN</a:t>
            </a:r>
            <a:r>
              <a:rPr dirty="0" sz="2850" spc="-110">
                <a:latin typeface="Microsoft Sans Serif"/>
                <a:cs typeface="Microsoft Sans Serif"/>
              </a:rPr>
              <a:t> </a:t>
            </a:r>
            <a:r>
              <a:rPr dirty="0" sz="2850" spc="-45">
                <a:latin typeface="Microsoft Sans Serif"/>
                <a:cs typeface="Microsoft Sans Serif"/>
              </a:rPr>
              <a:t>REVENUE,</a:t>
            </a:r>
            <a:r>
              <a:rPr dirty="0" sz="2850" spc="-204">
                <a:latin typeface="Microsoft Sans Serif"/>
                <a:cs typeface="Microsoft Sans Serif"/>
              </a:rPr>
              <a:t> </a:t>
            </a:r>
            <a:r>
              <a:rPr dirty="0" sz="2850">
                <a:latin typeface="Microsoft Sans Serif"/>
                <a:cs typeface="Microsoft Sans Serif"/>
              </a:rPr>
              <a:t>THE</a:t>
            </a:r>
            <a:r>
              <a:rPr dirty="0" sz="2850" spc="-90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SOLUTION</a:t>
            </a:r>
            <a:r>
              <a:rPr dirty="0" sz="2850" spc="-90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ENABLES</a:t>
            </a:r>
            <a:r>
              <a:rPr dirty="0" sz="2850" spc="-85">
                <a:latin typeface="Microsoft Sans Serif"/>
                <a:cs typeface="Microsoft Sans Serif"/>
              </a:rPr>
              <a:t> </a:t>
            </a:r>
            <a:r>
              <a:rPr dirty="0" sz="2850" spc="-155">
                <a:latin typeface="Microsoft Sans Serif"/>
                <a:cs typeface="Microsoft Sans Serif"/>
              </a:rPr>
              <a:t>DATA-</a:t>
            </a:r>
            <a:r>
              <a:rPr dirty="0" sz="2850" spc="-10">
                <a:latin typeface="Microsoft Sans Serif"/>
                <a:cs typeface="Microsoft Sans Serif"/>
              </a:rPr>
              <a:t>BACKED </a:t>
            </a:r>
            <a:r>
              <a:rPr dirty="0" sz="2850" spc="-20">
                <a:latin typeface="Microsoft Sans Serif"/>
                <a:cs typeface="Microsoft Sans Serif"/>
              </a:rPr>
              <a:t>PRICING</a:t>
            </a:r>
            <a:r>
              <a:rPr dirty="0" sz="2850" spc="-100">
                <a:latin typeface="Microsoft Sans Serif"/>
                <a:cs typeface="Microsoft Sans Serif"/>
              </a:rPr>
              <a:t> </a:t>
            </a:r>
            <a:r>
              <a:rPr dirty="0" sz="2850" spc="-70">
                <a:latin typeface="Microsoft Sans Serif"/>
                <a:cs typeface="Microsoft Sans Serif"/>
              </a:rPr>
              <a:t>STRATEGIES,</a:t>
            </a:r>
            <a:r>
              <a:rPr dirty="0" sz="2850" spc="-100">
                <a:latin typeface="Microsoft Sans Serif"/>
                <a:cs typeface="Microsoft Sans Serif"/>
              </a:rPr>
              <a:t> </a:t>
            </a:r>
            <a:r>
              <a:rPr dirty="0" sz="2850" spc="-45">
                <a:latin typeface="Microsoft Sans Serif"/>
                <a:cs typeface="Microsoft Sans Serif"/>
              </a:rPr>
              <a:t>OPERATIONAL</a:t>
            </a:r>
            <a:r>
              <a:rPr dirty="0" sz="2850" spc="-100">
                <a:latin typeface="Microsoft Sans Serif"/>
                <a:cs typeface="Microsoft Sans Serif"/>
              </a:rPr>
              <a:t> </a:t>
            </a:r>
            <a:r>
              <a:rPr dirty="0" sz="2850" spc="-35">
                <a:latin typeface="Microsoft Sans Serif"/>
                <a:cs typeface="Microsoft Sans Serif"/>
              </a:rPr>
              <a:t>OPTIMIZATION,</a:t>
            </a:r>
            <a:r>
              <a:rPr dirty="0" sz="2850" spc="-100">
                <a:latin typeface="Microsoft Sans Serif"/>
                <a:cs typeface="Microsoft Sans Serif"/>
              </a:rPr>
              <a:t> </a:t>
            </a:r>
            <a:r>
              <a:rPr dirty="0" sz="2850">
                <a:latin typeface="Microsoft Sans Serif"/>
                <a:cs typeface="Microsoft Sans Serif"/>
              </a:rPr>
              <a:t>AND</a:t>
            </a:r>
            <a:r>
              <a:rPr dirty="0" sz="2850" spc="-100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CONTROLLED </a:t>
            </a:r>
            <a:r>
              <a:rPr dirty="0" sz="2850" spc="-30">
                <a:latin typeface="Microsoft Sans Serif"/>
                <a:cs typeface="Microsoft Sans Serif"/>
              </a:rPr>
              <a:t>REVENUE</a:t>
            </a:r>
            <a:r>
              <a:rPr dirty="0" sz="2850" spc="-160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GROWTH</a:t>
            </a:r>
            <a:r>
              <a:rPr dirty="0" sz="2850" spc="-150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UNDER</a:t>
            </a:r>
            <a:r>
              <a:rPr dirty="0" sz="2850" spc="-145">
                <a:latin typeface="Microsoft Sans Serif"/>
                <a:cs typeface="Microsoft Sans Serif"/>
              </a:rPr>
              <a:t> </a:t>
            </a:r>
            <a:r>
              <a:rPr dirty="0" sz="2850" spc="-55">
                <a:latin typeface="Microsoft Sans Serif"/>
                <a:cs typeface="Microsoft Sans Serif"/>
              </a:rPr>
              <a:t>ACCEPTABLE</a:t>
            </a:r>
            <a:r>
              <a:rPr dirty="0" sz="2850" spc="-135">
                <a:latin typeface="Microsoft Sans Serif"/>
                <a:cs typeface="Microsoft Sans Serif"/>
              </a:rPr>
              <a:t> </a:t>
            </a:r>
            <a:r>
              <a:rPr dirty="0" sz="2850">
                <a:latin typeface="Microsoft Sans Serif"/>
                <a:cs typeface="Microsoft Sans Serif"/>
              </a:rPr>
              <a:t>RISK</a:t>
            </a:r>
            <a:r>
              <a:rPr dirty="0" sz="2850" spc="-150">
                <a:latin typeface="Microsoft Sans Serif"/>
                <a:cs typeface="Microsoft Sans Serif"/>
              </a:rPr>
              <a:t> </a:t>
            </a:r>
            <a:r>
              <a:rPr dirty="0" sz="2850" spc="-10">
                <a:latin typeface="Microsoft Sans Serif"/>
                <a:cs typeface="Microsoft Sans Serif"/>
              </a:rPr>
              <a:t>LEVELS.</a:t>
            </a:r>
            <a:endParaRPr sz="2850">
              <a:latin typeface="Microsoft Sans Serif"/>
              <a:cs typeface="Microsoft Sans Serif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338127" y="9646041"/>
            <a:ext cx="2692400" cy="568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50" spc="-35" b="1" i="1">
                <a:solidFill>
                  <a:srgbClr val="66371B"/>
                </a:solidFill>
                <a:latin typeface="Arial"/>
                <a:cs typeface="Arial"/>
              </a:rPr>
              <a:t>THANKYOU!</a:t>
            </a:r>
            <a:endParaRPr sz="3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Naviya Garg</dc:creator>
  <cp:keywords>DAHBabg0lhE,BAE52Sm8hiw,0</cp:keywords>
  <dc:title>Navy White and Brown Corporate Business Presentation</dc:title>
  <dcterms:created xsi:type="dcterms:W3CDTF">2026-02-16T05:03:46Z</dcterms:created>
  <dcterms:modified xsi:type="dcterms:W3CDTF">2026-02-16T05:03:46Z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